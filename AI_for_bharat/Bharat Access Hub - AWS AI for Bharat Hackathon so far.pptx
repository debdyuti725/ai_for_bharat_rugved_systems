
<file path=[Content_Types].xml><?xml version="1.0" encoding="utf-8"?>
<Types xmlns="http://schemas.openxmlformats.org/package/2006/content-types">
  <Default Extension="bin" ContentType="image/unknown"/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embeddedFontLst>
    <p:embeddedFont>
      <p:font typeface="Hedvig Letters Sans" panose="020B0604020202020204" charset="0"/>
      <p:regular r:id="rId17"/>
    </p:embeddedFont>
    <p:embeddedFont>
      <p:font typeface="Liter" panose="020B0604020202020204" charset="0"/>
      <p:regular r:id="rId18"/>
    </p:embeddedFont>
    <p:embeddedFont>
      <p:font typeface="Manrope SemiBold" panose="020B0604020202020204" charset="0"/>
      <p:regular r:id="rId19"/>
      <p:bold r:id="rId20"/>
    </p:embeddedFont>
    <p:embeddedFont>
      <p:font typeface="Quattrocento Sans" panose="020B0502050000020003" pitchFamily="34" charset="0"/>
      <p:regular r:id="rId21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2415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15a487e90b8e9032f47a907daf355572376ed5ee.jpg"/>
          <p:cNvPicPr>
            <a:picLocks noChangeAspect="1"/>
          </p:cNvPicPr>
          <p:nvPr/>
        </p:nvPicPr>
        <p:blipFill>
          <a:blip r:embed="rId3">
            <a:alphaModFix amt="40000"/>
          </a:blip>
          <a:srcRect l="74" r="74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F1419">
                  <a:alpha val="95000"/>
                </a:srgbClr>
              </a:gs>
              <a:gs pos="50000">
                <a:srgbClr val="232F3E">
                  <a:alpha val="90000"/>
                </a:srgbClr>
              </a:gs>
              <a:gs pos="100000">
                <a:srgbClr val="0F1419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433888" y="2110740"/>
            <a:ext cx="3322320" cy="388620"/>
          </a:xfrm>
          <a:custGeom>
            <a:avLst/>
            <a:gdLst/>
            <a:ahLst/>
            <a:cxnLst/>
            <a:rect l="l" t="t" r="r" b="b"/>
            <a:pathLst>
              <a:path w="3322320" h="388620">
                <a:moveTo>
                  <a:pt x="194310" y="0"/>
                </a:moveTo>
                <a:lnTo>
                  <a:pt x="3128010" y="0"/>
                </a:lnTo>
                <a:cubicBezTo>
                  <a:pt x="3235324" y="0"/>
                  <a:pt x="3322320" y="86996"/>
                  <a:pt x="3322320" y="194310"/>
                </a:cubicBezTo>
                <a:lnTo>
                  <a:pt x="3322320" y="194310"/>
                </a:lnTo>
                <a:cubicBezTo>
                  <a:pt x="3322320" y="301624"/>
                  <a:pt x="3235324" y="388620"/>
                  <a:pt x="3128010" y="388620"/>
                </a:cubicBezTo>
                <a:lnTo>
                  <a:pt x="194310" y="388620"/>
                </a:lnTo>
                <a:cubicBezTo>
                  <a:pt x="86996" y="388620"/>
                  <a:pt x="0" y="301624"/>
                  <a:pt x="0" y="194310"/>
                </a:cubicBezTo>
                <a:lnTo>
                  <a:pt x="0" y="194310"/>
                </a:lnTo>
                <a:cubicBezTo>
                  <a:pt x="0" y="86996"/>
                  <a:pt x="86996" y="0"/>
                  <a:pt x="194310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 w="10160">
            <a:solidFill>
              <a:srgbClr val="FF9900">
                <a:alpha val="50196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628197" y="22098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67121" y="75530"/>
                </a:moveTo>
                <a:cubicBezTo>
                  <a:pt x="66861" y="83939"/>
                  <a:pt x="71065" y="87697"/>
                  <a:pt x="71177" y="90041"/>
                </a:cubicBezTo>
                <a:cubicBezTo>
                  <a:pt x="71140" y="90525"/>
                  <a:pt x="70954" y="90971"/>
                  <a:pt x="70693" y="91380"/>
                </a:cubicBezTo>
                <a:cubicBezTo>
                  <a:pt x="70433" y="91790"/>
                  <a:pt x="70061" y="92125"/>
                  <a:pt x="69652" y="92348"/>
                </a:cubicBezTo>
                <a:lnTo>
                  <a:pt x="64889" y="95696"/>
                </a:lnTo>
                <a:cubicBezTo>
                  <a:pt x="64257" y="96143"/>
                  <a:pt x="63550" y="96366"/>
                  <a:pt x="62805" y="96403"/>
                </a:cubicBezTo>
                <a:cubicBezTo>
                  <a:pt x="62657" y="96403"/>
                  <a:pt x="59754" y="97073"/>
                  <a:pt x="55178" y="86878"/>
                </a:cubicBezTo>
                <a:cubicBezTo>
                  <a:pt x="52387" y="90376"/>
                  <a:pt x="48853" y="93166"/>
                  <a:pt x="44797" y="95064"/>
                </a:cubicBezTo>
                <a:cubicBezTo>
                  <a:pt x="40742" y="96962"/>
                  <a:pt x="36351" y="97929"/>
                  <a:pt x="31886" y="97854"/>
                </a:cubicBezTo>
                <a:cubicBezTo>
                  <a:pt x="25822" y="98189"/>
                  <a:pt x="9413" y="94431"/>
                  <a:pt x="10269" y="76944"/>
                </a:cubicBezTo>
                <a:cubicBezTo>
                  <a:pt x="9674" y="62694"/>
                  <a:pt x="22957" y="53839"/>
                  <a:pt x="36649" y="54620"/>
                </a:cubicBezTo>
                <a:cubicBezTo>
                  <a:pt x="39291" y="54620"/>
                  <a:pt x="44686" y="54769"/>
                  <a:pt x="54136" y="56964"/>
                </a:cubicBezTo>
                <a:lnTo>
                  <a:pt x="54136" y="51160"/>
                </a:lnTo>
                <a:cubicBezTo>
                  <a:pt x="55141" y="41300"/>
                  <a:pt x="48667" y="33672"/>
                  <a:pt x="37467" y="34826"/>
                </a:cubicBezTo>
                <a:cubicBezTo>
                  <a:pt x="36575" y="34826"/>
                  <a:pt x="30249" y="34640"/>
                  <a:pt x="20427" y="38584"/>
                </a:cubicBezTo>
                <a:cubicBezTo>
                  <a:pt x="17673" y="39849"/>
                  <a:pt x="17338" y="39625"/>
                  <a:pt x="16408" y="39625"/>
                </a:cubicBezTo>
                <a:cubicBezTo>
                  <a:pt x="13655" y="39625"/>
                  <a:pt x="14771" y="31626"/>
                  <a:pt x="15329" y="30621"/>
                </a:cubicBezTo>
                <a:cubicBezTo>
                  <a:pt x="17264" y="28240"/>
                  <a:pt x="28687" y="23775"/>
                  <a:pt x="39849" y="23850"/>
                </a:cubicBezTo>
                <a:cubicBezTo>
                  <a:pt x="47327" y="23180"/>
                  <a:pt x="54769" y="25487"/>
                  <a:pt x="60573" y="30287"/>
                </a:cubicBezTo>
                <a:cubicBezTo>
                  <a:pt x="62917" y="32928"/>
                  <a:pt x="64740" y="36016"/>
                  <a:pt x="65856" y="39365"/>
                </a:cubicBezTo>
                <a:cubicBezTo>
                  <a:pt x="66973" y="42714"/>
                  <a:pt x="67419" y="46248"/>
                  <a:pt x="67159" y="49783"/>
                </a:cubicBezTo>
                <a:lnTo>
                  <a:pt x="67159" y="75567"/>
                </a:lnTo>
                <a:close/>
                <a:moveTo>
                  <a:pt x="34975" y="87585"/>
                </a:moveTo>
                <a:cubicBezTo>
                  <a:pt x="47030" y="87399"/>
                  <a:pt x="52164" y="80144"/>
                  <a:pt x="53318" y="76237"/>
                </a:cubicBezTo>
                <a:cubicBezTo>
                  <a:pt x="54248" y="72479"/>
                  <a:pt x="54099" y="70135"/>
                  <a:pt x="54099" y="66042"/>
                </a:cubicBezTo>
                <a:cubicBezTo>
                  <a:pt x="50490" y="65187"/>
                  <a:pt x="45318" y="64219"/>
                  <a:pt x="39365" y="64219"/>
                </a:cubicBezTo>
                <a:cubicBezTo>
                  <a:pt x="33710" y="63810"/>
                  <a:pt x="23440" y="66303"/>
                  <a:pt x="23850" y="76237"/>
                </a:cubicBezTo>
                <a:cubicBezTo>
                  <a:pt x="23403" y="82488"/>
                  <a:pt x="27980" y="87920"/>
                  <a:pt x="35012" y="87585"/>
                </a:cubicBezTo>
                <a:close/>
                <a:moveTo>
                  <a:pt x="98561" y="96180"/>
                </a:moveTo>
                <a:cubicBezTo>
                  <a:pt x="95622" y="96441"/>
                  <a:pt x="94283" y="94357"/>
                  <a:pt x="93836" y="92311"/>
                </a:cubicBezTo>
                <a:lnTo>
                  <a:pt x="75307" y="31031"/>
                </a:lnTo>
                <a:cubicBezTo>
                  <a:pt x="74935" y="29989"/>
                  <a:pt x="74712" y="28947"/>
                  <a:pt x="74600" y="27831"/>
                </a:cubicBezTo>
                <a:cubicBezTo>
                  <a:pt x="74526" y="27384"/>
                  <a:pt x="74637" y="26938"/>
                  <a:pt x="74898" y="26566"/>
                </a:cubicBezTo>
                <a:cubicBezTo>
                  <a:pt x="75158" y="26194"/>
                  <a:pt x="75567" y="25971"/>
                  <a:pt x="76014" y="25896"/>
                </a:cubicBezTo>
                <a:cubicBezTo>
                  <a:pt x="76088" y="25896"/>
                  <a:pt x="75233" y="25896"/>
                  <a:pt x="84274" y="25896"/>
                </a:cubicBezTo>
                <a:cubicBezTo>
                  <a:pt x="87548" y="25561"/>
                  <a:pt x="88590" y="28129"/>
                  <a:pt x="88962" y="29766"/>
                </a:cubicBezTo>
                <a:lnTo>
                  <a:pt x="102282" y="82153"/>
                </a:lnTo>
                <a:lnTo>
                  <a:pt x="114635" y="29766"/>
                </a:lnTo>
                <a:cubicBezTo>
                  <a:pt x="114821" y="28575"/>
                  <a:pt x="115714" y="25636"/>
                  <a:pt x="119397" y="25971"/>
                </a:cubicBezTo>
                <a:lnTo>
                  <a:pt x="125797" y="25971"/>
                </a:lnTo>
                <a:cubicBezTo>
                  <a:pt x="126616" y="25896"/>
                  <a:pt x="129927" y="25784"/>
                  <a:pt x="130522" y="29840"/>
                </a:cubicBezTo>
                <a:lnTo>
                  <a:pt x="142912" y="82860"/>
                </a:lnTo>
                <a:lnTo>
                  <a:pt x="156642" y="29803"/>
                </a:lnTo>
                <a:cubicBezTo>
                  <a:pt x="156828" y="28984"/>
                  <a:pt x="157646" y="25561"/>
                  <a:pt x="161367" y="25933"/>
                </a:cubicBezTo>
                <a:lnTo>
                  <a:pt x="168697" y="25933"/>
                </a:lnTo>
                <a:cubicBezTo>
                  <a:pt x="169032" y="25896"/>
                  <a:pt x="171004" y="25636"/>
                  <a:pt x="170669" y="29133"/>
                </a:cubicBezTo>
                <a:cubicBezTo>
                  <a:pt x="170520" y="29803"/>
                  <a:pt x="171934" y="25152"/>
                  <a:pt x="151023" y="92348"/>
                </a:cubicBezTo>
                <a:cubicBezTo>
                  <a:pt x="150614" y="94394"/>
                  <a:pt x="149237" y="96478"/>
                  <a:pt x="146298" y="96217"/>
                </a:cubicBezTo>
                <a:lnTo>
                  <a:pt x="139340" y="96217"/>
                </a:lnTo>
                <a:cubicBezTo>
                  <a:pt x="135285" y="96664"/>
                  <a:pt x="134689" y="92608"/>
                  <a:pt x="134615" y="92236"/>
                </a:cubicBezTo>
                <a:lnTo>
                  <a:pt x="122262" y="41225"/>
                </a:lnTo>
                <a:lnTo>
                  <a:pt x="110058" y="92199"/>
                </a:lnTo>
                <a:cubicBezTo>
                  <a:pt x="109984" y="92608"/>
                  <a:pt x="109426" y="96627"/>
                  <a:pt x="105333" y="96180"/>
                </a:cubicBezTo>
                <a:lnTo>
                  <a:pt x="98524" y="96180"/>
                </a:lnTo>
                <a:lnTo>
                  <a:pt x="98524" y="96180"/>
                </a:lnTo>
                <a:close/>
                <a:moveTo>
                  <a:pt x="200323" y="98264"/>
                </a:moveTo>
                <a:cubicBezTo>
                  <a:pt x="198127" y="98264"/>
                  <a:pt x="187709" y="98152"/>
                  <a:pt x="178966" y="93687"/>
                </a:cubicBezTo>
                <a:cubicBezTo>
                  <a:pt x="178110" y="93315"/>
                  <a:pt x="177366" y="92720"/>
                  <a:pt x="176845" y="91901"/>
                </a:cubicBezTo>
                <a:cubicBezTo>
                  <a:pt x="176324" y="91083"/>
                  <a:pt x="176064" y="90190"/>
                  <a:pt x="176064" y="89260"/>
                </a:cubicBezTo>
                <a:lnTo>
                  <a:pt x="176064" y="85279"/>
                </a:lnTo>
                <a:cubicBezTo>
                  <a:pt x="176064" y="82116"/>
                  <a:pt x="178371" y="82711"/>
                  <a:pt x="179338" y="83083"/>
                </a:cubicBezTo>
                <a:cubicBezTo>
                  <a:pt x="183059" y="84609"/>
                  <a:pt x="185477" y="85725"/>
                  <a:pt x="190054" y="86655"/>
                </a:cubicBezTo>
                <a:cubicBezTo>
                  <a:pt x="203708" y="89446"/>
                  <a:pt x="209699" y="85799"/>
                  <a:pt x="211150" y="84981"/>
                </a:cubicBezTo>
                <a:cubicBezTo>
                  <a:pt x="216061" y="82079"/>
                  <a:pt x="216433" y="75419"/>
                  <a:pt x="213122" y="71996"/>
                </a:cubicBezTo>
                <a:cubicBezTo>
                  <a:pt x="209215" y="68721"/>
                  <a:pt x="207355" y="68610"/>
                  <a:pt x="193365" y="64182"/>
                </a:cubicBezTo>
                <a:cubicBezTo>
                  <a:pt x="191653" y="63698"/>
                  <a:pt x="177105" y="59122"/>
                  <a:pt x="177068" y="44686"/>
                </a:cubicBezTo>
                <a:cubicBezTo>
                  <a:pt x="176845" y="34193"/>
                  <a:pt x="186370" y="23775"/>
                  <a:pt x="202927" y="23850"/>
                </a:cubicBezTo>
                <a:cubicBezTo>
                  <a:pt x="207652" y="23850"/>
                  <a:pt x="220191" y="25375"/>
                  <a:pt x="223614" y="29654"/>
                </a:cubicBezTo>
                <a:cubicBezTo>
                  <a:pt x="224135" y="30435"/>
                  <a:pt x="224358" y="31366"/>
                  <a:pt x="224321" y="32258"/>
                </a:cubicBezTo>
                <a:lnTo>
                  <a:pt x="224321" y="36016"/>
                </a:lnTo>
                <a:cubicBezTo>
                  <a:pt x="224321" y="37654"/>
                  <a:pt x="223726" y="38509"/>
                  <a:pt x="222498" y="38509"/>
                </a:cubicBezTo>
                <a:cubicBezTo>
                  <a:pt x="219633" y="38174"/>
                  <a:pt x="214536" y="34342"/>
                  <a:pt x="204192" y="34491"/>
                </a:cubicBezTo>
                <a:cubicBezTo>
                  <a:pt x="201625" y="34342"/>
                  <a:pt x="189347" y="34826"/>
                  <a:pt x="189905" y="43793"/>
                </a:cubicBezTo>
                <a:cubicBezTo>
                  <a:pt x="189756" y="50862"/>
                  <a:pt x="199802" y="53504"/>
                  <a:pt x="200955" y="53801"/>
                </a:cubicBezTo>
                <a:cubicBezTo>
                  <a:pt x="214536" y="57894"/>
                  <a:pt x="219038" y="58564"/>
                  <a:pt x="224433" y="64815"/>
                </a:cubicBezTo>
                <a:cubicBezTo>
                  <a:pt x="230795" y="73075"/>
                  <a:pt x="227372" y="82786"/>
                  <a:pt x="226033" y="85427"/>
                </a:cubicBezTo>
                <a:cubicBezTo>
                  <a:pt x="218926" y="99380"/>
                  <a:pt x="200583" y="98227"/>
                  <a:pt x="200248" y="98227"/>
                </a:cubicBezTo>
                <a:close/>
                <a:moveTo>
                  <a:pt x="215280" y="137294"/>
                </a:moveTo>
                <a:cubicBezTo>
                  <a:pt x="189235" y="156530"/>
                  <a:pt x="151395" y="166762"/>
                  <a:pt x="119100" y="166762"/>
                </a:cubicBezTo>
                <a:cubicBezTo>
                  <a:pt x="75530" y="167060"/>
                  <a:pt x="33412" y="151023"/>
                  <a:pt x="1042" y="121853"/>
                </a:cubicBezTo>
                <a:cubicBezTo>
                  <a:pt x="-1377" y="119658"/>
                  <a:pt x="744" y="116644"/>
                  <a:pt x="3721" y="118318"/>
                </a:cubicBezTo>
                <a:cubicBezTo>
                  <a:pt x="39625" y="138857"/>
                  <a:pt x="80256" y="149647"/>
                  <a:pt x="121630" y="149609"/>
                </a:cubicBezTo>
                <a:cubicBezTo>
                  <a:pt x="152512" y="149461"/>
                  <a:pt x="183059" y="143173"/>
                  <a:pt x="211522" y="131192"/>
                </a:cubicBezTo>
                <a:cubicBezTo>
                  <a:pt x="215912" y="129332"/>
                  <a:pt x="219633" y="134094"/>
                  <a:pt x="215280" y="137294"/>
                </a:cubicBezTo>
                <a:close/>
                <a:moveTo>
                  <a:pt x="226144" y="124904"/>
                </a:moveTo>
                <a:cubicBezTo>
                  <a:pt x="222796" y="120625"/>
                  <a:pt x="204081" y="122895"/>
                  <a:pt x="195709" y="123899"/>
                </a:cubicBezTo>
                <a:cubicBezTo>
                  <a:pt x="193179" y="124197"/>
                  <a:pt x="192770" y="122002"/>
                  <a:pt x="195039" y="120365"/>
                </a:cubicBezTo>
                <a:cubicBezTo>
                  <a:pt x="209959" y="109872"/>
                  <a:pt x="234442" y="112886"/>
                  <a:pt x="237232" y="116421"/>
                </a:cubicBezTo>
                <a:cubicBezTo>
                  <a:pt x="240023" y="119955"/>
                  <a:pt x="236451" y="144475"/>
                  <a:pt x="222498" y="156195"/>
                </a:cubicBezTo>
                <a:cubicBezTo>
                  <a:pt x="220340" y="158018"/>
                  <a:pt x="218294" y="157051"/>
                  <a:pt x="219261" y="154670"/>
                </a:cubicBezTo>
                <a:cubicBezTo>
                  <a:pt x="222386" y="146745"/>
                  <a:pt x="229456" y="129183"/>
                  <a:pt x="226107" y="124904"/>
                </a:cubicBez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6" name="Text 3"/>
          <p:cNvSpPr/>
          <p:nvPr/>
        </p:nvSpPr>
        <p:spPr>
          <a:xfrm>
            <a:off x="4942523" y="2190750"/>
            <a:ext cx="2657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kern="0" spc="60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AWS AI FOR BHARAT HACKATHON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198495" y="2731770"/>
            <a:ext cx="579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kern="0" spc="-13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Bharat Access Hub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0" y="356997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19050" y="0"/>
                </a:moveTo>
                <a:lnTo>
                  <a:pt x="1200150" y="0"/>
                </a:lnTo>
                <a:cubicBezTo>
                  <a:pt x="1210664" y="0"/>
                  <a:pt x="1219200" y="8536"/>
                  <a:pt x="1219200" y="19050"/>
                </a:cubicBezTo>
                <a:lnTo>
                  <a:pt x="1219200" y="19050"/>
                </a:lnTo>
                <a:cubicBezTo>
                  <a:pt x="1219200" y="29564"/>
                  <a:pt x="1210664" y="38100"/>
                  <a:pt x="12001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9900"/>
              </a:gs>
              <a:gs pos="100000">
                <a:srgbClr val="00A8E1"/>
              </a:gs>
            </a:gsLst>
            <a:lin ang="0" scaled="1"/>
          </a:gradFill>
          <a:ln/>
        </p:spPr>
      </p:sp>
      <p:sp>
        <p:nvSpPr>
          <p:cNvPr id="9" name="Text 6"/>
          <p:cNvSpPr/>
          <p:nvPr/>
        </p:nvSpPr>
        <p:spPr>
          <a:xfrm>
            <a:off x="2595563" y="3836670"/>
            <a:ext cx="7000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F0F2F5">
                    <a:alpha val="90000"/>
                  </a:srgbClr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AI-Powered Government Scheme Discovery Platform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295412" y="453199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17872" y="0"/>
                </a:moveTo>
                <a:cubicBezTo>
                  <a:pt x="117872" y="-5927"/>
                  <a:pt x="113083" y="-10716"/>
                  <a:pt x="107156" y="-10716"/>
                </a:cubicBezTo>
                <a:cubicBezTo>
                  <a:pt x="101229" y="-10716"/>
                  <a:pt x="96441" y="-5927"/>
                  <a:pt x="96441" y="0"/>
                </a:cubicBezTo>
                <a:lnTo>
                  <a:pt x="96441" y="21431"/>
                </a:lnTo>
                <a:lnTo>
                  <a:pt x="64294" y="21431"/>
                </a:lnTo>
                <a:cubicBezTo>
                  <a:pt x="46546" y="21431"/>
                  <a:pt x="32147" y="35830"/>
                  <a:pt x="32147" y="53578"/>
                </a:cubicBezTo>
                <a:lnTo>
                  <a:pt x="32147" y="128588"/>
                </a:lnTo>
                <a:cubicBezTo>
                  <a:pt x="32147" y="146335"/>
                  <a:pt x="46546" y="160734"/>
                  <a:pt x="64294" y="160734"/>
                </a:cubicBezTo>
                <a:lnTo>
                  <a:pt x="150019" y="160734"/>
                </a:lnTo>
                <a:cubicBezTo>
                  <a:pt x="167767" y="160734"/>
                  <a:pt x="182166" y="146335"/>
                  <a:pt x="182166" y="128588"/>
                </a:cubicBezTo>
                <a:lnTo>
                  <a:pt x="182166" y="53578"/>
                </a:lnTo>
                <a:cubicBezTo>
                  <a:pt x="182166" y="35830"/>
                  <a:pt x="167767" y="21431"/>
                  <a:pt x="150019" y="21431"/>
                </a:cubicBezTo>
                <a:lnTo>
                  <a:pt x="117872" y="21431"/>
                </a:lnTo>
                <a:lnTo>
                  <a:pt x="117872" y="0"/>
                </a:lnTo>
                <a:close/>
                <a:moveTo>
                  <a:pt x="53578" y="123230"/>
                </a:moveTo>
                <a:cubicBezTo>
                  <a:pt x="53578" y="118776"/>
                  <a:pt x="57161" y="115193"/>
                  <a:pt x="61615" y="115193"/>
                </a:cubicBezTo>
                <a:lnTo>
                  <a:pt x="72330" y="115193"/>
                </a:lnTo>
                <a:cubicBezTo>
                  <a:pt x="76784" y="115193"/>
                  <a:pt x="80367" y="118776"/>
                  <a:pt x="80367" y="123230"/>
                </a:cubicBezTo>
                <a:cubicBezTo>
                  <a:pt x="80367" y="127683"/>
                  <a:pt x="76784" y="131266"/>
                  <a:pt x="72330" y="131266"/>
                </a:cubicBezTo>
                <a:lnTo>
                  <a:pt x="61615" y="131266"/>
                </a:lnTo>
                <a:cubicBezTo>
                  <a:pt x="57161" y="131266"/>
                  <a:pt x="53578" y="127683"/>
                  <a:pt x="53578" y="123230"/>
                </a:cubicBezTo>
                <a:close/>
                <a:moveTo>
                  <a:pt x="93762" y="123230"/>
                </a:moveTo>
                <a:cubicBezTo>
                  <a:pt x="93762" y="118776"/>
                  <a:pt x="97345" y="115193"/>
                  <a:pt x="101798" y="115193"/>
                </a:cubicBezTo>
                <a:lnTo>
                  <a:pt x="112514" y="115193"/>
                </a:lnTo>
                <a:cubicBezTo>
                  <a:pt x="116968" y="115193"/>
                  <a:pt x="120551" y="118776"/>
                  <a:pt x="120551" y="123230"/>
                </a:cubicBezTo>
                <a:cubicBezTo>
                  <a:pt x="120551" y="127683"/>
                  <a:pt x="116968" y="131266"/>
                  <a:pt x="112514" y="131266"/>
                </a:cubicBezTo>
                <a:lnTo>
                  <a:pt x="101798" y="131266"/>
                </a:lnTo>
                <a:cubicBezTo>
                  <a:pt x="97345" y="131266"/>
                  <a:pt x="93762" y="127683"/>
                  <a:pt x="93762" y="123230"/>
                </a:cubicBezTo>
                <a:close/>
                <a:moveTo>
                  <a:pt x="133945" y="123230"/>
                </a:moveTo>
                <a:cubicBezTo>
                  <a:pt x="133945" y="118776"/>
                  <a:pt x="137528" y="115193"/>
                  <a:pt x="141982" y="115193"/>
                </a:cubicBezTo>
                <a:lnTo>
                  <a:pt x="152698" y="115193"/>
                </a:lnTo>
                <a:cubicBezTo>
                  <a:pt x="157151" y="115193"/>
                  <a:pt x="160734" y="118776"/>
                  <a:pt x="160734" y="123230"/>
                </a:cubicBezTo>
                <a:cubicBezTo>
                  <a:pt x="160734" y="127683"/>
                  <a:pt x="157151" y="131266"/>
                  <a:pt x="152698" y="131266"/>
                </a:cubicBezTo>
                <a:lnTo>
                  <a:pt x="141982" y="131266"/>
                </a:lnTo>
                <a:cubicBezTo>
                  <a:pt x="137528" y="131266"/>
                  <a:pt x="133945" y="127683"/>
                  <a:pt x="133945" y="123230"/>
                </a:cubicBezTo>
                <a:close/>
                <a:moveTo>
                  <a:pt x="75009" y="58936"/>
                </a:moveTo>
                <a:cubicBezTo>
                  <a:pt x="83881" y="58936"/>
                  <a:pt x="91083" y="66138"/>
                  <a:pt x="91083" y="75009"/>
                </a:cubicBezTo>
                <a:cubicBezTo>
                  <a:pt x="91083" y="83881"/>
                  <a:pt x="83881" y="91083"/>
                  <a:pt x="75009" y="91083"/>
                </a:cubicBezTo>
                <a:cubicBezTo>
                  <a:pt x="66138" y="91083"/>
                  <a:pt x="58936" y="83881"/>
                  <a:pt x="58936" y="75009"/>
                </a:cubicBezTo>
                <a:cubicBezTo>
                  <a:pt x="58936" y="66138"/>
                  <a:pt x="66138" y="58936"/>
                  <a:pt x="75009" y="58936"/>
                </a:cubicBezTo>
                <a:close/>
                <a:moveTo>
                  <a:pt x="123230" y="75009"/>
                </a:moveTo>
                <a:cubicBezTo>
                  <a:pt x="123230" y="66138"/>
                  <a:pt x="130432" y="58936"/>
                  <a:pt x="139303" y="58936"/>
                </a:cubicBezTo>
                <a:cubicBezTo>
                  <a:pt x="148174" y="58936"/>
                  <a:pt x="155377" y="66138"/>
                  <a:pt x="155377" y="75009"/>
                </a:cubicBezTo>
                <a:cubicBezTo>
                  <a:pt x="155377" y="83881"/>
                  <a:pt x="148174" y="91083"/>
                  <a:pt x="139303" y="91083"/>
                </a:cubicBezTo>
                <a:cubicBezTo>
                  <a:pt x="130432" y="91083"/>
                  <a:pt x="123230" y="83881"/>
                  <a:pt x="123230" y="75009"/>
                </a:cubicBezTo>
                <a:close/>
                <a:moveTo>
                  <a:pt x="21431" y="75009"/>
                </a:moveTo>
                <a:cubicBezTo>
                  <a:pt x="21431" y="69082"/>
                  <a:pt x="16643" y="64294"/>
                  <a:pt x="10716" y="64294"/>
                </a:cubicBezTo>
                <a:cubicBezTo>
                  <a:pt x="4789" y="64294"/>
                  <a:pt x="0" y="69082"/>
                  <a:pt x="0" y="75009"/>
                </a:cubicBezTo>
                <a:lnTo>
                  <a:pt x="0" y="107156"/>
                </a:lnTo>
                <a:cubicBezTo>
                  <a:pt x="0" y="113083"/>
                  <a:pt x="4789" y="117872"/>
                  <a:pt x="10716" y="117872"/>
                </a:cubicBezTo>
                <a:cubicBezTo>
                  <a:pt x="16643" y="117872"/>
                  <a:pt x="21431" y="113083"/>
                  <a:pt x="21431" y="107156"/>
                </a:cubicBezTo>
                <a:lnTo>
                  <a:pt x="21431" y="75009"/>
                </a:lnTo>
                <a:close/>
                <a:moveTo>
                  <a:pt x="203597" y="64294"/>
                </a:moveTo>
                <a:cubicBezTo>
                  <a:pt x="197670" y="64294"/>
                  <a:pt x="192881" y="69082"/>
                  <a:pt x="192881" y="75009"/>
                </a:cubicBezTo>
                <a:lnTo>
                  <a:pt x="192881" y="107156"/>
                </a:lnTo>
                <a:cubicBezTo>
                  <a:pt x="192881" y="113083"/>
                  <a:pt x="197670" y="117872"/>
                  <a:pt x="203597" y="117872"/>
                </a:cubicBezTo>
                <a:cubicBezTo>
                  <a:pt x="209524" y="117872"/>
                  <a:pt x="214313" y="113083"/>
                  <a:pt x="214313" y="107156"/>
                </a:cubicBezTo>
                <a:lnTo>
                  <a:pt x="214313" y="75009"/>
                </a:lnTo>
                <a:cubicBezTo>
                  <a:pt x="214313" y="69082"/>
                  <a:pt x="209524" y="64294"/>
                  <a:pt x="203597" y="64294"/>
                </a:cubicBezTo>
                <a:close/>
              </a:path>
            </a:pathLst>
          </a:custGeom>
          <a:solidFill>
            <a:srgbClr val="00A8E1"/>
          </a:solidFill>
          <a:ln/>
        </p:spPr>
      </p:sp>
      <p:sp>
        <p:nvSpPr>
          <p:cNvPr id="11" name="Text 8"/>
          <p:cNvSpPr/>
          <p:nvPr/>
        </p:nvSpPr>
        <p:spPr>
          <a:xfrm>
            <a:off x="3540681" y="4484370"/>
            <a:ext cx="139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Conversational AI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119211" y="459867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19050" y="0"/>
                </a:moveTo>
                <a:lnTo>
                  <a:pt x="19050" y="0"/>
                </a:lnTo>
                <a:cubicBezTo>
                  <a:pt x="29564" y="0"/>
                  <a:pt x="38100" y="8536"/>
                  <a:pt x="38100" y="19050"/>
                </a:cubicBezTo>
                <a:lnTo>
                  <a:pt x="38100" y="19050"/>
                </a:lnTo>
                <a:cubicBezTo>
                  <a:pt x="38100" y="29564"/>
                  <a:pt x="29564" y="38100"/>
                  <a:pt x="190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13" name="Shape 10"/>
          <p:cNvSpPr/>
          <p:nvPr/>
        </p:nvSpPr>
        <p:spPr>
          <a:xfrm>
            <a:off x="5409724" y="453199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0184" y="18752"/>
                </a:moveTo>
                <a:cubicBezTo>
                  <a:pt x="40184" y="8405"/>
                  <a:pt x="48589" y="0"/>
                  <a:pt x="58936" y="0"/>
                </a:cubicBezTo>
                <a:lnTo>
                  <a:pt x="66973" y="0"/>
                </a:lnTo>
                <a:cubicBezTo>
                  <a:pt x="72900" y="0"/>
                  <a:pt x="77688" y="4789"/>
                  <a:pt x="77688" y="10716"/>
                </a:cubicBezTo>
                <a:lnTo>
                  <a:pt x="77688" y="160734"/>
                </a:lnTo>
                <a:cubicBezTo>
                  <a:pt x="77688" y="166661"/>
                  <a:pt x="72900" y="171450"/>
                  <a:pt x="66973" y="171450"/>
                </a:cubicBezTo>
                <a:lnTo>
                  <a:pt x="56257" y="171450"/>
                </a:lnTo>
                <a:cubicBezTo>
                  <a:pt x="46278" y="171450"/>
                  <a:pt x="37873" y="164619"/>
                  <a:pt x="35496" y="155377"/>
                </a:cubicBezTo>
                <a:cubicBezTo>
                  <a:pt x="35261" y="155377"/>
                  <a:pt x="35060" y="155377"/>
                  <a:pt x="34826" y="155377"/>
                </a:cubicBezTo>
                <a:cubicBezTo>
                  <a:pt x="20025" y="155377"/>
                  <a:pt x="8037" y="143388"/>
                  <a:pt x="8037" y="128588"/>
                </a:cubicBezTo>
                <a:cubicBezTo>
                  <a:pt x="8037" y="122560"/>
                  <a:pt x="10046" y="117001"/>
                  <a:pt x="13395" y="112514"/>
                </a:cubicBezTo>
                <a:cubicBezTo>
                  <a:pt x="6898" y="107625"/>
                  <a:pt x="2679" y="99856"/>
                  <a:pt x="2679" y="91083"/>
                </a:cubicBezTo>
                <a:cubicBezTo>
                  <a:pt x="2679" y="80736"/>
                  <a:pt x="8573" y="71728"/>
                  <a:pt x="17145" y="67274"/>
                </a:cubicBezTo>
                <a:cubicBezTo>
                  <a:pt x="14767" y="63256"/>
                  <a:pt x="13395" y="58568"/>
                  <a:pt x="13395" y="53578"/>
                </a:cubicBezTo>
                <a:cubicBezTo>
                  <a:pt x="13395" y="38777"/>
                  <a:pt x="25383" y="26789"/>
                  <a:pt x="40184" y="26789"/>
                </a:cubicBezTo>
                <a:lnTo>
                  <a:pt x="40184" y="18752"/>
                </a:lnTo>
                <a:close/>
                <a:moveTo>
                  <a:pt x="131266" y="18752"/>
                </a:moveTo>
                <a:lnTo>
                  <a:pt x="131266" y="26789"/>
                </a:lnTo>
                <a:cubicBezTo>
                  <a:pt x="146067" y="26789"/>
                  <a:pt x="158055" y="38777"/>
                  <a:pt x="158055" y="53578"/>
                </a:cubicBezTo>
                <a:cubicBezTo>
                  <a:pt x="158055" y="58601"/>
                  <a:pt x="156683" y="63289"/>
                  <a:pt x="154305" y="67274"/>
                </a:cubicBezTo>
                <a:cubicBezTo>
                  <a:pt x="162911" y="71728"/>
                  <a:pt x="168771" y="80702"/>
                  <a:pt x="168771" y="91083"/>
                </a:cubicBezTo>
                <a:cubicBezTo>
                  <a:pt x="168771" y="99856"/>
                  <a:pt x="164552" y="107625"/>
                  <a:pt x="158055" y="112514"/>
                </a:cubicBezTo>
                <a:cubicBezTo>
                  <a:pt x="161404" y="117001"/>
                  <a:pt x="163413" y="122560"/>
                  <a:pt x="163413" y="128588"/>
                </a:cubicBezTo>
                <a:cubicBezTo>
                  <a:pt x="163413" y="143388"/>
                  <a:pt x="151425" y="155377"/>
                  <a:pt x="136624" y="155377"/>
                </a:cubicBezTo>
                <a:cubicBezTo>
                  <a:pt x="136390" y="155377"/>
                  <a:pt x="136189" y="155377"/>
                  <a:pt x="135954" y="155377"/>
                </a:cubicBezTo>
                <a:cubicBezTo>
                  <a:pt x="133577" y="164619"/>
                  <a:pt x="125172" y="171450"/>
                  <a:pt x="115193" y="171450"/>
                </a:cubicBezTo>
                <a:lnTo>
                  <a:pt x="104477" y="171450"/>
                </a:lnTo>
                <a:cubicBezTo>
                  <a:pt x="98550" y="171450"/>
                  <a:pt x="93762" y="166661"/>
                  <a:pt x="93762" y="160734"/>
                </a:cubicBezTo>
                <a:lnTo>
                  <a:pt x="93762" y="10716"/>
                </a:lnTo>
                <a:cubicBezTo>
                  <a:pt x="93762" y="4789"/>
                  <a:pt x="98550" y="0"/>
                  <a:pt x="104477" y="0"/>
                </a:cubicBezTo>
                <a:lnTo>
                  <a:pt x="112514" y="0"/>
                </a:lnTo>
                <a:cubicBezTo>
                  <a:pt x="122861" y="0"/>
                  <a:pt x="131266" y="8405"/>
                  <a:pt x="131266" y="18752"/>
                </a:cubicBezTo>
                <a:close/>
              </a:path>
            </a:pathLst>
          </a:custGeom>
          <a:solidFill>
            <a:srgbClr val="00A8E1"/>
          </a:solidFill>
          <a:ln/>
        </p:spPr>
      </p:sp>
      <p:sp>
        <p:nvSpPr>
          <p:cNvPr id="14" name="Text 11"/>
          <p:cNvSpPr/>
          <p:nvPr/>
        </p:nvSpPr>
        <p:spPr>
          <a:xfrm>
            <a:off x="5633561" y="4484370"/>
            <a:ext cx="1533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Intelligent Matching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354848" y="459867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19050" y="0"/>
                </a:moveTo>
                <a:lnTo>
                  <a:pt x="19050" y="0"/>
                </a:lnTo>
                <a:cubicBezTo>
                  <a:pt x="29564" y="0"/>
                  <a:pt x="38100" y="8536"/>
                  <a:pt x="38100" y="19050"/>
                </a:cubicBezTo>
                <a:lnTo>
                  <a:pt x="38100" y="19050"/>
                </a:lnTo>
                <a:cubicBezTo>
                  <a:pt x="38100" y="29564"/>
                  <a:pt x="29564" y="38100"/>
                  <a:pt x="190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16" name="Shape 13"/>
          <p:cNvSpPr/>
          <p:nvPr/>
        </p:nvSpPr>
        <p:spPr>
          <a:xfrm>
            <a:off x="7634645" y="453199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53578" y="0"/>
                </a:moveTo>
                <a:cubicBezTo>
                  <a:pt x="59505" y="0"/>
                  <a:pt x="64294" y="4789"/>
                  <a:pt x="64294" y="10716"/>
                </a:cubicBezTo>
                <a:lnTo>
                  <a:pt x="64294" y="21431"/>
                </a:lnTo>
                <a:lnTo>
                  <a:pt x="107156" y="21431"/>
                </a:lnTo>
                <a:cubicBezTo>
                  <a:pt x="113083" y="21431"/>
                  <a:pt x="117872" y="26220"/>
                  <a:pt x="117872" y="32147"/>
                </a:cubicBezTo>
                <a:cubicBezTo>
                  <a:pt x="117872" y="38074"/>
                  <a:pt x="113083" y="42863"/>
                  <a:pt x="107156" y="42863"/>
                </a:cubicBezTo>
                <a:lnTo>
                  <a:pt x="103942" y="42863"/>
                </a:lnTo>
                <a:lnTo>
                  <a:pt x="101129" y="50598"/>
                </a:lnTo>
                <a:cubicBezTo>
                  <a:pt x="95637" y="65734"/>
                  <a:pt x="87366" y="79564"/>
                  <a:pt x="76952" y="91451"/>
                </a:cubicBezTo>
                <a:cubicBezTo>
                  <a:pt x="81707" y="94398"/>
                  <a:pt x="86663" y="97010"/>
                  <a:pt x="91820" y="99320"/>
                </a:cubicBezTo>
                <a:lnTo>
                  <a:pt x="108697" y="106821"/>
                </a:lnTo>
                <a:lnTo>
                  <a:pt x="129525" y="59941"/>
                </a:lnTo>
                <a:cubicBezTo>
                  <a:pt x="131233" y="56056"/>
                  <a:pt x="135084" y="53578"/>
                  <a:pt x="139303" y="53578"/>
                </a:cubicBezTo>
                <a:cubicBezTo>
                  <a:pt x="143522" y="53578"/>
                  <a:pt x="147373" y="56056"/>
                  <a:pt x="149081" y="59941"/>
                </a:cubicBezTo>
                <a:lnTo>
                  <a:pt x="191944" y="156381"/>
                </a:lnTo>
                <a:cubicBezTo>
                  <a:pt x="194355" y="161806"/>
                  <a:pt x="191910" y="168135"/>
                  <a:pt x="186519" y="170512"/>
                </a:cubicBezTo>
                <a:cubicBezTo>
                  <a:pt x="181128" y="172890"/>
                  <a:pt x="174765" y="170479"/>
                  <a:pt x="172388" y="165088"/>
                </a:cubicBezTo>
                <a:lnTo>
                  <a:pt x="165690" y="150019"/>
                </a:lnTo>
                <a:lnTo>
                  <a:pt x="112949" y="150019"/>
                </a:lnTo>
                <a:lnTo>
                  <a:pt x="106252" y="165088"/>
                </a:lnTo>
                <a:cubicBezTo>
                  <a:pt x="103841" y="170512"/>
                  <a:pt x="97512" y="172923"/>
                  <a:pt x="92121" y="170512"/>
                </a:cubicBezTo>
                <a:cubicBezTo>
                  <a:pt x="86730" y="168101"/>
                  <a:pt x="84285" y="161772"/>
                  <a:pt x="86696" y="156381"/>
                </a:cubicBezTo>
                <a:lnTo>
                  <a:pt x="100024" y="126411"/>
                </a:lnTo>
                <a:lnTo>
                  <a:pt x="83147" y="118910"/>
                </a:lnTo>
                <a:cubicBezTo>
                  <a:pt x="75445" y="115494"/>
                  <a:pt x="68078" y="111409"/>
                  <a:pt x="61113" y="106721"/>
                </a:cubicBezTo>
                <a:cubicBezTo>
                  <a:pt x="53980" y="112481"/>
                  <a:pt x="46178" y="117504"/>
                  <a:pt x="37840" y="121689"/>
                </a:cubicBezTo>
                <a:lnTo>
                  <a:pt x="26220" y="127449"/>
                </a:lnTo>
                <a:cubicBezTo>
                  <a:pt x="20929" y="130094"/>
                  <a:pt x="14500" y="127951"/>
                  <a:pt x="11854" y="122660"/>
                </a:cubicBezTo>
                <a:cubicBezTo>
                  <a:pt x="9209" y="117370"/>
                  <a:pt x="11352" y="110940"/>
                  <a:pt x="16643" y="108295"/>
                </a:cubicBezTo>
                <a:lnTo>
                  <a:pt x="28195" y="102502"/>
                </a:lnTo>
                <a:cubicBezTo>
                  <a:pt x="33654" y="99756"/>
                  <a:pt x="38844" y="96575"/>
                  <a:pt x="43733" y="93025"/>
                </a:cubicBezTo>
                <a:cubicBezTo>
                  <a:pt x="39112" y="88772"/>
                  <a:pt x="34759" y="84185"/>
                  <a:pt x="30707" y="79329"/>
                </a:cubicBezTo>
                <a:lnTo>
                  <a:pt x="27325" y="75244"/>
                </a:lnTo>
                <a:cubicBezTo>
                  <a:pt x="23541" y="70690"/>
                  <a:pt x="24144" y="63925"/>
                  <a:pt x="28698" y="60141"/>
                </a:cubicBezTo>
                <a:cubicBezTo>
                  <a:pt x="33252" y="56357"/>
                  <a:pt x="40016" y="56960"/>
                  <a:pt x="43800" y="61514"/>
                </a:cubicBezTo>
                <a:lnTo>
                  <a:pt x="47216" y="65600"/>
                </a:lnTo>
                <a:cubicBezTo>
                  <a:pt x="51067" y="70254"/>
                  <a:pt x="55286" y="74574"/>
                  <a:pt x="59740" y="78559"/>
                </a:cubicBezTo>
                <a:cubicBezTo>
                  <a:pt x="68948" y="68379"/>
                  <a:pt x="76215" y="56424"/>
                  <a:pt x="81003" y="43264"/>
                </a:cubicBezTo>
                <a:lnTo>
                  <a:pt x="81171" y="42862"/>
                </a:lnTo>
                <a:lnTo>
                  <a:pt x="10749" y="42862"/>
                </a:lnTo>
                <a:cubicBezTo>
                  <a:pt x="4789" y="42863"/>
                  <a:pt x="0" y="38074"/>
                  <a:pt x="0" y="32147"/>
                </a:cubicBezTo>
                <a:cubicBezTo>
                  <a:pt x="0" y="26220"/>
                  <a:pt x="4789" y="21431"/>
                  <a:pt x="10716" y="21431"/>
                </a:cubicBezTo>
                <a:lnTo>
                  <a:pt x="42863" y="21431"/>
                </a:lnTo>
                <a:lnTo>
                  <a:pt x="42863" y="10716"/>
                </a:lnTo>
                <a:cubicBezTo>
                  <a:pt x="42863" y="4789"/>
                  <a:pt x="47651" y="0"/>
                  <a:pt x="53578" y="0"/>
                </a:cubicBezTo>
                <a:close/>
                <a:moveTo>
                  <a:pt x="139303" y="90681"/>
                </a:moveTo>
                <a:lnTo>
                  <a:pt x="122460" y="128588"/>
                </a:lnTo>
                <a:lnTo>
                  <a:pt x="156147" y="128588"/>
                </a:lnTo>
                <a:lnTo>
                  <a:pt x="139303" y="90681"/>
                </a:lnTo>
                <a:close/>
              </a:path>
            </a:pathLst>
          </a:custGeom>
          <a:solidFill>
            <a:srgbClr val="00A8E1"/>
          </a:solidFill>
          <a:ln/>
        </p:spPr>
      </p:sp>
      <p:sp>
        <p:nvSpPr>
          <p:cNvPr id="17" name="Text 14"/>
          <p:cNvSpPr/>
          <p:nvPr/>
        </p:nvSpPr>
        <p:spPr>
          <a:xfrm>
            <a:off x="7869198" y="4484370"/>
            <a:ext cx="1076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Languages</a:t>
            </a:r>
            <a:endParaRPr lang="en-US" sz="1600" dirty="0"/>
          </a:p>
        </p:txBody>
      </p:sp>
      <p:sp>
        <p:nvSpPr>
          <p:cNvPr id="20" name="Google Shape;55;p13">
            <a:extLst>
              <a:ext uri="{FF2B5EF4-FFF2-40B4-BE49-F238E27FC236}">
                <a16:creationId xmlns:a16="http://schemas.microsoft.com/office/drawing/2014/main" id="{699F80DA-9279-0412-58C2-6241B96EC03B}"/>
              </a:ext>
            </a:extLst>
          </p:cNvPr>
          <p:cNvSpPr txBox="1"/>
          <p:nvPr/>
        </p:nvSpPr>
        <p:spPr>
          <a:xfrm>
            <a:off x="383675" y="344699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21" name="Google Shape;56;p13">
            <a:extLst>
              <a:ext uri="{FF2B5EF4-FFF2-40B4-BE49-F238E27FC236}">
                <a16:creationId xmlns:a16="http://schemas.microsoft.com/office/drawing/2014/main" id="{17F9015F-A8FF-4DA7-CC4F-39489C2AF866}"/>
              </a:ext>
            </a:extLst>
          </p:cNvPr>
          <p:cNvSpPr txBox="1"/>
          <p:nvPr/>
        </p:nvSpPr>
        <p:spPr>
          <a:xfrm>
            <a:off x="383680" y="4298160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22" name="Google Shape;57;p13">
            <a:extLst>
              <a:ext uri="{FF2B5EF4-FFF2-40B4-BE49-F238E27FC236}">
                <a16:creationId xmlns:a16="http://schemas.microsoft.com/office/drawing/2014/main" id="{CC01A912-1CFE-AE62-A3B6-EB399A5F9667}"/>
              </a:ext>
            </a:extLst>
          </p:cNvPr>
          <p:cNvSpPr txBox="1"/>
          <p:nvPr/>
        </p:nvSpPr>
        <p:spPr>
          <a:xfrm>
            <a:off x="342432" y="389069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pic>
        <p:nvPicPr>
          <p:cNvPr id="23" name="Google Shape;54;p13" title="Artscfghgboard – 5.png">
            <a:extLst>
              <a:ext uri="{FF2B5EF4-FFF2-40B4-BE49-F238E27FC236}">
                <a16:creationId xmlns:a16="http://schemas.microsoft.com/office/drawing/2014/main" id="{CB066DB2-BF99-E18F-9525-5813593E13B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" y="-7836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55;p13">
            <a:extLst>
              <a:ext uri="{FF2B5EF4-FFF2-40B4-BE49-F238E27FC236}">
                <a16:creationId xmlns:a16="http://schemas.microsoft.com/office/drawing/2014/main" id="{D0F381E7-A82F-5D63-B72A-9DA3B5F18A05}"/>
              </a:ext>
            </a:extLst>
          </p:cNvPr>
          <p:cNvSpPr txBox="1"/>
          <p:nvPr/>
        </p:nvSpPr>
        <p:spPr>
          <a:xfrm>
            <a:off x="606022" y="4643831"/>
            <a:ext cx="8520600" cy="502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:RUGVED SYSTEMS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25" name="Google Shape;56;p13">
            <a:extLst>
              <a:ext uri="{FF2B5EF4-FFF2-40B4-BE49-F238E27FC236}">
                <a16:creationId xmlns:a16="http://schemas.microsoft.com/office/drawing/2014/main" id="{B37BA0B7-91A0-69C4-4D54-EBD9AD9CC468}"/>
              </a:ext>
            </a:extLst>
          </p:cNvPr>
          <p:cNvSpPr txBox="1"/>
          <p:nvPr/>
        </p:nvSpPr>
        <p:spPr>
          <a:xfrm>
            <a:off x="606022" y="5739935"/>
            <a:ext cx="11082770" cy="885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70000"/>
              </a:lnSpc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</a:t>
            </a:r>
            <a:r>
              <a:rPr lang="en-US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Build an AI-powered solution that improves access to information, resources, or opportunities for 		communities and public systems.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26" name="Google Shape;57;p13">
            <a:extLst>
              <a:ext uri="{FF2B5EF4-FFF2-40B4-BE49-F238E27FC236}">
                <a16:creationId xmlns:a16="http://schemas.microsoft.com/office/drawing/2014/main" id="{F8D3EE97-DFA5-0E13-9D40-B75101AEE73D}"/>
              </a:ext>
            </a:extLst>
          </p:cNvPr>
          <p:cNvSpPr txBox="1"/>
          <p:nvPr/>
        </p:nvSpPr>
        <p:spPr>
          <a:xfrm>
            <a:off x="606022" y="5237634"/>
            <a:ext cx="8520600" cy="502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:DEBDYUTI SARKAR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alphaModFix amt="31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81000" y="795787"/>
            <a:ext cx="2333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The</a:t>
            </a: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700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Challenge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12432" y="1184119"/>
            <a:ext cx="11363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barriers preventing citizens from accessing government benefits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474470"/>
            <a:ext cx="5608320" cy="1965959"/>
          </a:xfrm>
          <a:custGeom>
            <a:avLst/>
            <a:gdLst/>
            <a:ahLst/>
            <a:cxnLst/>
            <a:rect l="l" t="t" r="r" b="b"/>
            <a:pathLst>
              <a:path w="5608320" h="2103120">
                <a:moveTo>
                  <a:pt x="152392" y="0"/>
                </a:moveTo>
                <a:lnTo>
                  <a:pt x="5455928" y="0"/>
                </a:lnTo>
                <a:cubicBezTo>
                  <a:pt x="5540092" y="0"/>
                  <a:pt x="5608320" y="68228"/>
                  <a:pt x="5608320" y="152392"/>
                </a:cubicBezTo>
                <a:lnTo>
                  <a:pt x="5608320" y="1950728"/>
                </a:lnTo>
                <a:cubicBezTo>
                  <a:pt x="5608320" y="2034835"/>
                  <a:pt x="5540035" y="2103120"/>
                  <a:pt x="5455928" y="2103120"/>
                </a:cubicBezTo>
                <a:lnTo>
                  <a:pt x="152392" y="2103120"/>
                </a:lnTo>
                <a:cubicBezTo>
                  <a:pt x="68228" y="2103120"/>
                  <a:pt x="0" y="2034892"/>
                  <a:pt x="0" y="1950728"/>
                </a:cubicBezTo>
                <a:lnTo>
                  <a:pt x="0" y="152392"/>
                </a:lnTo>
                <a:cubicBezTo>
                  <a:pt x="0" y="68285"/>
                  <a:pt x="68285" y="0"/>
                  <a:pt x="152392" y="0"/>
                </a:cubicBezTo>
                <a:close/>
              </a:path>
            </a:pathLst>
          </a:custGeom>
          <a:gradFill flip="none" rotWithShape="1">
            <a:gsLst>
              <a:gs pos="0">
                <a:srgbClr val="232F3E">
                  <a:alpha val="80000"/>
                </a:srgbClr>
              </a:gs>
              <a:gs pos="100000">
                <a:srgbClr val="232F3E">
                  <a:alpha val="40000"/>
                </a:srgbClr>
              </a:gs>
            </a:gsLst>
            <a:lin ang="2700000" scaled="1"/>
          </a:gradFill>
          <a:ln w="10160">
            <a:solidFill>
              <a:srgbClr val="FF9900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9120" y="153162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17233" y="168402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8306" y="-11117"/>
                </a:moveTo>
                <a:cubicBezTo>
                  <a:pt x="14109" y="-15314"/>
                  <a:pt x="7322" y="-15314"/>
                  <a:pt x="3170" y="-11117"/>
                </a:cubicBezTo>
                <a:cubicBezTo>
                  <a:pt x="-982" y="-6921"/>
                  <a:pt x="-1027" y="-134"/>
                  <a:pt x="3125" y="4063"/>
                </a:cubicBezTo>
                <a:lnTo>
                  <a:pt x="238869" y="239807"/>
                </a:lnTo>
                <a:cubicBezTo>
                  <a:pt x="243066" y="244004"/>
                  <a:pt x="249853" y="244004"/>
                  <a:pt x="254005" y="239807"/>
                </a:cubicBezTo>
                <a:cubicBezTo>
                  <a:pt x="258157" y="235610"/>
                  <a:pt x="258202" y="228823"/>
                  <a:pt x="254005" y="224671"/>
                </a:cubicBezTo>
                <a:lnTo>
                  <a:pt x="210964" y="181630"/>
                </a:lnTo>
                <a:cubicBezTo>
                  <a:pt x="212169" y="180558"/>
                  <a:pt x="213375" y="179487"/>
                  <a:pt x="214536" y="178415"/>
                </a:cubicBezTo>
                <a:cubicBezTo>
                  <a:pt x="235431" y="158993"/>
                  <a:pt x="249406" y="135821"/>
                  <a:pt x="256059" y="119881"/>
                </a:cubicBezTo>
                <a:cubicBezTo>
                  <a:pt x="257532" y="116354"/>
                  <a:pt x="257532" y="112425"/>
                  <a:pt x="256059" y="108898"/>
                </a:cubicBezTo>
                <a:cubicBezTo>
                  <a:pt x="249406" y="92958"/>
                  <a:pt x="235431" y="69741"/>
                  <a:pt x="214536" y="50363"/>
                </a:cubicBezTo>
                <a:cubicBezTo>
                  <a:pt x="193506" y="30852"/>
                  <a:pt x="164619" y="14377"/>
                  <a:pt x="128543" y="14377"/>
                </a:cubicBezTo>
                <a:cubicBezTo>
                  <a:pt x="103183" y="14377"/>
                  <a:pt x="81394" y="22503"/>
                  <a:pt x="63356" y="34111"/>
                </a:cubicBezTo>
                <a:lnTo>
                  <a:pt x="18306" y="-11117"/>
                </a:lnTo>
                <a:close/>
                <a:moveTo>
                  <a:pt x="91306" y="61927"/>
                </a:moveTo>
                <a:cubicBezTo>
                  <a:pt x="101798" y="54426"/>
                  <a:pt x="114702" y="50006"/>
                  <a:pt x="128588" y="50006"/>
                </a:cubicBezTo>
                <a:cubicBezTo>
                  <a:pt x="164083" y="50006"/>
                  <a:pt x="192881" y="78804"/>
                  <a:pt x="192881" y="114300"/>
                </a:cubicBezTo>
                <a:cubicBezTo>
                  <a:pt x="192881" y="128186"/>
                  <a:pt x="188461" y="141044"/>
                  <a:pt x="180960" y="151581"/>
                </a:cubicBezTo>
                <a:lnTo>
                  <a:pt x="165467" y="136088"/>
                </a:lnTo>
                <a:cubicBezTo>
                  <a:pt x="171137" y="126534"/>
                  <a:pt x="173057" y="114791"/>
                  <a:pt x="169977" y="103183"/>
                </a:cubicBezTo>
                <a:cubicBezTo>
                  <a:pt x="163860" y="80323"/>
                  <a:pt x="140330" y="66749"/>
                  <a:pt x="117470" y="72866"/>
                </a:cubicBezTo>
                <a:cubicBezTo>
                  <a:pt x="113630" y="73893"/>
                  <a:pt x="110014" y="75411"/>
                  <a:pt x="106754" y="77331"/>
                </a:cubicBezTo>
                <a:lnTo>
                  <a:pt x="91261" y="61838"/>
                </a:lnTo>
                <a:close/>
                <a:moveTo>
                  <a:pt x="145241" y="176406"/>
                </a:moveTo>
                <a:cubicBezTo>
                  <a:pt x="139928" y="177835"/>
                  <a:pt x="134347" y="178594"/>
                  <a:pt x="128588" y="178594"/>
                </a:cubicBezTo>
                <a:cubicBezTo>
                  <a:pt x="93092" y="178594"/>
                  <a:pt x="64294" y="149796"/>
                  <a:pt x="64294" y="114300"/>
                </a:cubicBezTo>
                <a:cubicBezTo>
                  <a:pt x="64294" y="108540"/>
                  <a:pt x="65053" y="102959"/>
                  <a:pt x="66482" y="97646"/>
                </a:cubicBezTo>
                <a:lnTo>
                  <a:pt x="30986" y="62151"/>
                </a:lnTo>
                <a:cubicBezTo>
                  <a:pt x="16431" y="78581"/>
                  <a:pt x="6429" y="95994"/>
                  <a:pt x="1116" y="108808"/>
                </a:cubicBezTo>
                <a:cubicBezTo>
                  <a:pt x="-357" y="112335"/>
                  <a:pt x="-357" y="116265"/>
                  <a:pt x="1116" y="119792"/>
                </a:cubicBezTo>
                <a:cubicBezTo>
                  <a:pt x="7769" y="135731"/>
                  <a:pt x="21744" y="158948"/>
                  <a:pt x="42639" y="178326"/>
                </a:cubicBezTo>
                <a:cubicBezTo>
                  <a:pt x="63669" y="197837"/>
                  <a:pt x="92556" y="214313"/>
                  <a:pt x="128632" y="214313"/>
                </a:cubicBezTo>
                <a:cubicBezTo>
                  <a:pt x="145286" y="214313"/>
                  <a:pt x="160422" y="210785"/>
                  <a:pt x="173950" y="205115"/>
                </a:cubicBezTo>
                <a:lnTo>
                  <a:pt x="145286" y="176451"/>
                </a:ln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8" name="Text 6"/>
          <p:cNvSpPr/>
          <p:nvPr/>
        </p:nvSpPr>
        <p:spPr>
          <a:xfrm>
            <a:off x="1226820" y="1645920"/>
            <a:ext cx="1704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 Awareness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9120" y="2320290"/>
            <a:ext cx="5448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99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30-40%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9120" y="2853690"/>
            <a:ext cx="5295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eligible beneficiaries are aware of schemes they qualify for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95060" y="1474470"/>
            <a:ext cx="5608320" cy="1965960"/>
          </a:xfrm>
          <a:custGeom>
            <a:avLst/>
            <a:gdLst/>
            <a:ahLst/>
            <a:cxnLst/>
            <a:rect l="l" t="t" r="r" b="b"/>
            <a:pathLst>
              <a:path w="5608320" h="2103120">
                <a:moveTo>
                  <a:pt x="152392" y="0"/>
                </a:moveTo>
                <a:lnTo>
                  <a:pt x="5455928" y="0"/>
                </a:lnTo>
                <a:cubicBezTo>
                  <a:pt x="5540092" y="0"/>
                  <a:pt x="5608320" y="68228"/>
                  <a:pt x="5608320" y="152392"/>
                </a:cubicBezTo>
                <a:lnTo>
                  <a:pt x="5608320" y="1950728"/>
                </a:lnTo>
                <a:cubicBezTo>
                  <a:pt x="5608320" y="2034835"/>
                  <a:pt x="5540035" y="2103120"/>
                  <a:pt x="5455928" y="2103120"/>
                </a:cubicBezTo>
                <a:lnTo>
                  <a:pt x="152392" y="2103120"/>
                </a:lnTo>
                <a:cubicBezTo>
                  <a:pt x="68228" y="2103120"/>
                  <a:pt x="0" y="2034892"/>
                  <a:pt x="0" y="1950728"/>
                </a:cubicBezTo>
                <a:lnTo>
                  <a:pt x="0" y="152392"/>
                </a:lnTo>
                <a:cubicBezTo>
                  <a:pt x="0" y="68285"/>
                  <a:pt x="68285" y="0"/>
                  <a:pt x="152392" y="0"/>
                </a:cubicBezTo>
                <a:close/>
              </a:path>
            </a:pathLst>
          </a:custGeom>
          <a:gradFill flip="none" rotWithShape="1">
            <a:gsLst>
              <a:gs pos="0">
                <a:srgbClr val="232F3E">
                  <a:alpha val="80000"/>
                </a:srgbClr>
              </a:gs>
              <a:gs pos="100000">
                <a:srgbClr val="232F3E">
                  <a:alpha val="40000"/>
                </a:srgbClr>
              </a:gs>
            </a:gsLst>
            <a:lin ang="2700000" scaled="1"/>
          </a:gradFill>
          <a:ln w="10160">
            <a:solidFill>
              <a:srgbClr val="00A8E1">
                <a:alpha val="30196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89370" y="153162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A8E1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541770" y="168402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5475" y="121890"/>
                </a:moveTo>
                <a:cubicBezTo>
                  <a:pt x="229672" y="117693"/>
                  <a:pt x="229672" y="110907"/>
                  <a:pt x="225475" y="106754"/>
                </a:cubicBezTo>
                <a:lnTo>
                  <a:pt x="161181" y="42416"/>
                </a:lnTo>
                <a:cubicBezTo>
                  <a:pt x="158100" y="39335"/>
                  <a:pt x="153501" y="38442"/>
                  <a:pt x="149483" y="40094"/>
                </a:cubicBezTo>
                <a:cubicBezTo>
                  <a:pt x="145465" y="41746"/>
                  <a:pt x="142875" y="45675"/>
                  <a:pt x="142875" y="50006"/>
                </a:cubicBezTo>
                <a:lnTo>
                  <a:pt x="142875" y="85725"/>
                </a:lnTo>
                <a:lnTo>
                  <a:pt x="92869" y="85725"/>
                </a:lnTo>
                <a:cubicBezTo>
                  <a:pt x="81037" y="85725"/>
                  <a:pt x="71438" y="95324"/>
                  <a:pt x="71438" y="107156"/>
                </a:cubicBezTo>
                <a:lnTo>
                  <a:pt x="71438" y="121444"/>
                </a:lnTo>
                <a:cubicBezTo>
                  <a:pt x="71438" y="133276"/>
                  <a:pt x="81037" y="142875"/>
                  <a:pt x="92869" y="142875"/>
                </a:cubicBezTo>
                <a:lnTo>
                  <a:pt x="142875" y="142875"/>
                </a:lnTo>
                <a:lnTo>
                  <a:pt x="142875" y="178594"/>
                </a:lnTo>
                <a:cubicBezTo>
                  <a:pt x="142875" y="182925"/>
                  <a:pt x="145465" y="186854"/>
                  <a:pt x="149483" y="188506"/>
                </a:cubicBezTo>
                <a:cubicBezTo>
                  <a:pt x="153501" y="190158"/>
                  <a:pt x="158100" y="189265"/>
                  <a:pt x="161181" y="186184"/>
                </a:cubicBezTo>
                <a:lnTo>
                  <a:pt x="225475" y="121890"/>
                </a:lnTo>
                <a:close/>
                <a:moveTo>
                  <a:pt x="71438" y="42863"/>
                </a:moveTo>
                <a:cubicBezTo>
                  <a:pt x="79340" y="42863"/>
                  <a:pt x="85725" y="36478"/>
                  <a:pt x="85725" y="28575"/>
                </a:cubicBezTo>
                <a:cubicBezTo>
                  <a:pt x="85725" y="20672"/>
                  <a:pt x="79340" y="14288"/>
                  <a:pt x="71438" y="14288"/>
                </a:cubicBezTo>
                <a:lnTo>
                  <a:pt x="42863" y="14288"/>
                </a:lnTo>
                <a:cubicBezTo>
                  <a:pt x="19199" y="14288"/>
                  <a:pt x="0" y="33486"/>
                  <a:pt x="0" y="57150"/>
                </a:cubicBezTo>
                <a:lnTo>
                  <a:pt x="0" y="171450"/>
                </a:lnTo>
                <a:cubicBezTo>
                  <a:pt x="0" y="195114"/>
                  <a:pt x="19199" y="214313"/>
                  <a:pt x="42863" y="214313"/>
                </a:cubicBezTo>
                <a:lnTo>
                  <a:pt x="71438" y="214313"/>
                </a:lnTo>
                <a:cubicBezTo>
                  <a:pt x="79340" y="214313"/>
                  <a:pt x="85725" y="207928"/>
                  <a:pt x="85725" y="200025"/>
                </a:cubicBezTo>
                <a:cubicBezTo>
                  <a:pt x="85725" y="192122"/>
                  <a:pt x="79340" y="185738"/>
                  <a:pt x="71438" y="185738"/>
                </a:cubicBezTo>
                <a:lnTo>
                  <a:pt x="42863" y="185738"/>
                </a:lnTo>
                <a:cubicBezTo>
                  <a:pt x="34960" y="185738"/>
                  <a:pt x="28575" y="179353"/>
                  <a:pt x="28575" y="171450"/>
                </a:cubicBezTo>
                <a:lnTo>
                  <a:pt x="28575" y="57150"/>
                </a:lnTo>
                <a:cubicBezTo>
                  <a:pt x="28575" y="49247"/>
                  <a:pt x="34960" y="42863"/>
                  <a:pt x="42863" y="42863"/>
                </a:cubicBezTo>
                <a:lnTo>
                  <a:pt x="71438" y="42863"/>
                </a:lnTo>
                <a:close/>
              </a:path>
            </a:pathLst>
          </a:custGeom>
          <a:solidFill>
            <a:srgbClr val="00A8E1"/>
          </a:solidFill>
          <a:ln/>
        </p:spPr>
      </p:sp>
      <p:sp>
        <p:nvSpPr>
          <p:cNvPr id="14" name="Text 12"/>
          <p:cNvSpPr/>
          <p:nvPr/>
        </p:nvSpPr>
        <p:spPr>
          <a:xfrm>
            <a:off x="7037070" y="1645920"/>
            <a:ext cx="1514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Drop-off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89370" y="2320290"/>
            <a:ext cx="5448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0A8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70%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89370" y="2853690"/>
            <a:ext cx="5295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application abandonment rate due to complexity and confusion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4810" y="3634741"/>
            <a:ext cx="5608320" cy="2103120"/>
          </a:xfrm>
          <a:custGeom>
            <a:avLst/>
            <a:gdLst/>
            <a:ahLst/>
            <a:cxnLst/>
            <a:rect l="l" t="t" r="r" b="b"/>
            <a:pathLst>
              <a:path w="5608320" h="2103120">
                <a:moveTo>
                  <a:pt x="152392" y="0"/>
                </a:moveTo>
                <a:lnTo>
                  <a:pt x="5455928" y="0"/>
                </a:lnTo>
                <a:cubicBezTo>
                  <a:pt x="5540092" y="0"/>
                  <a:pt x="5608320" y="68228"/>
                  <a:pt x="5608320" y="152392"/>
                </a:cubicBezTo>
                <a:lnTo>
                  <a:pt x="5608320" y="1950728"/>
                </a:lnTo>
                <a:cubicBezTo>
                  <a:pt x="5608320" y="2034835"/>
                  <a:pt x="5540035" y="2103120"/>
                  <a:pt x="5455928" y="2103120"/>
                </a:cubicBezTo>
                <a:lnTo>
                  <a:pt x="152392" y="2103120"/>
                </a:lnTo>
                <a:cubicBezTo>
                  <a:pt x="68228" y="2103120"/>
                  <a:pt x="0" y="2034892"/>
                  <a:pt x="0" y="1950728"/>
                </a:cubicBezTo>
                <a:lnTo>
                  <a:pt x="0" y="152392"/>
                </a:lnTo>
                <a:cubicBezTo>
                  <a:pt x="0" y="68285"/>
                  <a:pt x="68285" y="0"/>
                  <a:pt x="152392" y="0"/>
                </a:cubicBezTo>
                <a:close/>
              </a:path>
            </a:pathLst>
          </a:custGeom>
          <a:gradFill flip="none" rotWithShape="1">
            <a:gsLst>
              <a:gs pos="0">
                <a:srgbClr val="232F3E">
                  <a:alpha val="80000"/>
                </a:srgbClr>
              </a:gs>
              <a:gs pos="100000">
                <a:srgbClr val="232F3E">
                  <a:alpha val="40000"/>
                </a:srgbClr>
              </a:gs>
            </a:gsLst>
            <a:lin ang="2700000" scaled="1"/>
          </a:gradFill>
          <a:ln w="10160">
            <a:solidFill>
              <a:srgbClr val="FF9900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9120" y="38290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17233" y="39814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71438" y="0"/>
                </a:moveTo>
                <a:cubicBezTo>
                  <a:pt x="79340" y="0"/>
                  <a:pt x="85725" y="6385"/>
                  <a:pt x="85725" y="14288"/>
                </a:cubicBezTo>
                <a:lnTo>
                  <a:pt x="85725" y="28575"/>
                </a:lnTo>
                <a:lnTo>
                  <a:pt x="142875" y="28575"/>
                </a:lnTo>
                <a:cubicBezTo>
                  <a:pt x="150778" y="28575"/>
                  <a:pt x="157163" y="34960"/>
                  <a:pt x="157163" y="42863"/>
                </a:cubicBezTo>
                <a:cubicBezTo>
                  <a:pt x="157163" y="50765"/>
                  <a:pt x="150778" y="57150"/>
                  <a:pt x="142875" y="57150"/>
                </a:cubicBezTo>
                <a:lnTo>
                  <a:pt x="138589" y="57150"/>
                </a:lnTo>
                <a:lnTo>
                  <a:pt x="134838" y="67464"/>
                </a:lnTo>
                <a:cubicBezTo>
                  <a:pt x="127516" y="87645"/>
                  <a:pt x="116488" y="106085"/>
                  <a:pt x="102602" y="121935"/>
                </a:cubicBezTo>
                <a:cubicBezTo>
                  <a:pt x="108942" y="125864"/>
                  <a:pt x="115550" y="129347"/>
                  <a:pt x="122426" y="132427"/>
                </a:cubicBezTo>
                <a:lnTo>
                  <a:pt x="144929" y="142429"/>
                </a:lnTo>
                <a:lnTo>
                  <a:pt x="172700" y="79921"/>
                </a:lnTo>
                <a:cubicBezTo>
                  <a:pt x="174977" y="74741"/>
                  <a:pt x="180112" y="71438"/>
                  <a:pt x="185737" y="71438"/>
                </a:cubicBezTo>
                <a:cubicBezTo>
                  <a:pt x="191363" y="71438"/>
                  <a:pt x="196498" y="74741"/>
                  <a:pt x="198775" y="79921"/>
                </a:cubicBezTo>
                <a:lnTo>
                  <a:pt x="255925" y="208508"/>
                </a:lnTo>
                <a:cubicBezTo>
                  <a:pt x="259140" y="215741"/>
                  <a:pt x="255880" y="224180"/>
                  <a:pt x="248692" y="227350"/>
                </a:cubicBezTo>
                <a:cubicBezTo>
                  <a:pt x="241503" y="230520"/>
                  <a:pt x="233020" y="227305"/>
                  <a:pt x="229850" y="220117"/>
                </a:cubicBezTo>
                <a:lnTo>
                  <a:pt x="220920" y="200025"/>
                </a:lnTo>
                <a:lnTo>
                  <a:pt x="150599" y="200025"/>
                </a:lnTo>
                <a:lnTo>
                  <a:pt x="141669" y="220117"/>
                </a:lnTo>
                <a:cubicBezTo>
                  <a:pt x="138455" y="227350"/>
                  <a:pt x="130016" y="230565"/>
                  <a:pt x="122828" y="227350"/>
                </a:cubicBezTo>
                <a:cubicBezTo>
                  <a:pt x="115639" y="224135"/>
                  <a:pt x="112380" y="215697"/>
                  <a:pt x="115595" y="208508"/>
                </a:cubicBezTo>
                <a:lnTo>
                  <a:pt x="133365" y="168548"/>
                </a:lnTo>
                <a:lnTo>
                  <a:pt x="110862" y="158547"/>
                </a:lnTo>
                <a:cubicBezTo>
                  <a:pt x="100593" y="153992"/>
                  <a:pt x="90770" y="148545"/>
                  <a:pt x="81483" y="142295"/>
                </a:cubicBezTo>
                <a:cubicBezTo>
                  <a:pt x="71973" y="149974"/>
                  <a:pt x="61570" y="156671"/>
                  <a:pt x="50453" y="162252"/>
                </a:cubicBezTo>
                <a:lnTo>
                  <a:pt x="34960" y="169932"/>
                </a:lnTo>
                <a:cubicBezTo>
                  <a:pt x="27905" y="173459"/>
                  <a:pt x="19333" y="170602"/>
                  <a:pt x="15806" y="163547"/>
                </a:cubicBezTo>
                <a:cubicBezTo>
                  <a:pt x="12278" y="156493"/>
                  <a:pt x="15136" y="147920"/>
                  <a:pt x="22190" y="144393"/>
                </a:cubicBezTo>
                <a:lnTo>
                  <a:pt x="37594" y="136669"/>
                </a:lnTo>
                <a:cubicBezTo>
                  <a:pt x="44872" y="133008"/>
                  <a:pt x="51792" y="128766"/>
                  <a:pt x="58311" y="124033"/>
                </a:cubicBezTo>
                <a:cubicBezTo>
                  <a:pt x="52149" y="118363"/>
                  <a:pt x="46345" y="112246"/>
                  <a:pt x="40943" y="105772"/>
                </a:cubicBezTo>
                <a:lnTo>
                  <a:pt x="36433" y="100325"/>
                </a:lnTo>
                <a:cubicBezTo>
                  <a:pt x="31388" y="94253"/>
                  <a:pt x="32192" y="85234"/>
                  <a:pt x="38264" y="80189"/>
                </a:cubicBezTo>
                <a:cubicBezTo>
                  <a:pt x="44336" y="75143"/>
                  <a:pt x="53355" y="75947"/>
                  <a:pt x="58400" y="82019"/>
                </a:cubicBezTo>
                <a:lnTo>
                  <a:pt x="62954" y="87466"/>
                </a:lnTo>
                <a:cubicBezTo>
                  <a:pt x="68089" y="93672"/>
                  <a:pt x="73715" y="99432"/>
                  <a:pt x="79653" y="104745"/>
                </a:cubicBezTo>
                <a:cubicBezTo>
                  <a:pt x="91931" y="91172"/>
                  <a:pt x="101620" y="75233"/>
                  <a:pt x="108005" y="57686"/>
                </a:cubicBezTo>
                <a:lnTo>
                  <a:pt x="108228" y="57150"/>
                </a:lnTo>
                <a:lnTo>
                  <a:pt x="14332" y="57150"/>
                </a:lnTo>
                <a:cubicBezTo>
                  <a:pt x="6385" y="57150"/>
                  <a:pt x="0" y="50765"/>
                  <a:pt x="0" y="42863"/>
                </a:cubicBezTo>
                <a:cubicBezTo>
                  <a:pt x="0" y="34960"/>
                  <a:pt x="6385" y="28575"/>
                  <a:pt x="14288" y="28575"/>
                </a:cubicBezTo>
                <a:lnTo>
                  <a:pt x="57150" y="28575"/>
                </a:lnTo>
                <a:lnTo>
                  <a:pt x="57150" y="14288"/>
                </a:lnTo>
                <a:cubicBezTo>
                  <a:pt x="57150" y="6385"/>
                  <a:pt x="63535" y="0"/>
                  <a:pt x="71438" y="0"/>
                </a:cubicBezTo>
                <a:close/>
                <a:moveTo>
                  <a:pt x="185738" y="120908"/>
                </a:moveTo>
                <a:lnTo>
                  <a:pt x="163279" y="171450"/>
                </a:lnTo>
                <a:lnTo>
                  <a:pt x="208196" y="171450"/>
                </a:lnTo>
                <a:lnTo>
                  <a:pt x="185738" y="120908"/>
                </a:ln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20" name="Text 18"/>
          <p:cNvSpPr/>
          <p:nvPr/>
        </p:nvSpPr>
        <p:spPr>
          <a:xfrm>
            <a:off x="1226820" y="3943350"/>
            <a:ext cx="1943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Language Barriers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9120" y="4617720"/>
            <a:ext cx="5448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99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79120" y="5151120"/>
            <a:ext cx="5295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official languages with limited digital support for regional languages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95060" y="3634741"/>
            <a:ext cx="5608320" cy="2103120"/>
          </a:xfrm>
          <a:custGeom>
            <a:avLst/>
            <a:gdLst/>
            <a:ahLst/>
            <a:cxnLst/>
            <a:rect l="l" t="t" r="r" b="b"/>
            <a:pathLst>
              <a:path w="5608320" h="2103120">
                <a:moveTo>
                  <a:pt x="152392" y="0"/>
                </a:moveTo>
                <a:lnTo>
                  <a:pt x="5455928" y="0"/>
                </a:lnTo>
                <a:cubicBezTo>
                  <a:pt x="5540092" y="0"/>
                  <a:pt x="5608320" y="68228"/>
                  <a:pt x="5608320" y="152392"/>
                </a:cubicBezTo>
                <a:lnTo>
                  <a:pt x="5608320" y="1950728"/>
                </a:lnTo>
                <a:cubicBezTo>
                  <a:pt x="5608320" y="2034835"/>
                  <a:pt x="5540035" y="2103120"/>
                  <a:pt x="5455928" y="2103120"/>
                </a:cubicBezTo>
                <a:lnTo>
                  <a:pt x="152392" y="2103120"/>
                </a:lnTo>
                <a:cubicBezTo>
                  <a:pt x="68228" y="2103120"/>
                  <a:pt x="0" y="2034892"/>
                  <a:pt x="0" y="1950728"/>
                </a:cubicBezTo>
                <a:lnTo>
                  <a:pt x="0" y="152392"/>
                </a:lnTo>
                <a:cubicBezTo>
                  <a:pt x="0" y="68285"/>
                  <a:pt x="68285" y="0"/>
                  <a:pt x="152392" y="0"/>
                </a:cubicBezTo>
                <a:close/>
              </a:path>
            </a:pathLst>
          </a:custGeom>
          <a:gradFill flip="none" rotWithShape="1">
            <a:gsLst>
              <a:gs pos="0">
                <a:srgbClr val="232F3E">
                  <a:alpha val="80000"/>
                </a:srgbClr>
              </a:gs>
              <a:gs pos="100000">
                <a:srgbClr val="232F3E">
                  <a:alpha val="40000"/>
                </a:srgbClr>
              </a:gs>
            </a:gsLst>
            <a:lin ang="2700000" scaled="1"/>
          </a:gradFill>
          <a:ln w="10160">
            <a:solidFill>
              <a:srgbClr val="00A8E1">
                <a:alpha val="3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89370" y="38290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A8E1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541770" y="39814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0013" y="0"/>
                </a:moveTo>
                <a:cubicBezTo>
                  <a:pt x="115773" y="0"/>
                  <a:pt x="128588" y="9599"/>
                  <a:pt x="128588" y="21431"/>
                </a:cubicBezTo>
                <a:cubicBezTo>
                  <a:pt x="128588" y="26075"/>
                  <a:pt x="126623" y="30361"/>
                  <a:pt x="123230" y="33888"/>
                </a:cubicBezTo>
                <a:cubicBezTo>
                  <a:pt x="120283" y="36969"/>
                  <a:pt x="117872" y="40719"/>
                  <a:pt x="117872" y="45006"/>
                </a:cubicBezTo>
                <a:cubicBezTo>
                  <a:pt x="117872" y="51703"/>
                  <a:pt x="123319" y="57150"/>
                  <a:pt x="130016" y="57150"/>
                </a:cubicBezTo>
                <a:lnTo>
                  <a:pt x="150019" y="57150"/>
                </a:lnTo>
                <a:cubicBezTo>
                  <a:pt x="161851" y="57150"/>
                  <a:pt x="171450" y="66749"/>
                  <a:pt x="171450" y="78581"/>
                </a:cubicBezTo>
                <a:lnTo>
                  <a:pt x="171450" y="98584"/>
                </a:lnTo>
                <a:cubicBezTo>
                  <a:pt x="171450" y="105281"/>
                  <a:pt x="176897" y="110728"/>
                  <a:pt x="183594" y="110728"/>
                </a:cubicBezTo>
                <a:cubicBezTo>
                  <a:pt x="187836" y="110728"/>
                  <a:pt x="191631" y="108317"/>
                  <a:pt x="194712" y="105370"/>
                </a:cubicBezTo>
                <a:cubicBezTo>
                  <a:pt x="198239" y="102022"/>
                  <a:pt x="202525" y="100013"/>
                  <a:pt x="207169" y="100013"/>
                </a:cubicBezTo>
                <a:cubicBezTo>
                  <a:pt x="219001" y="100013"/>
                  <a:pt x="228600" y="112827"/>
                  <a:pt x="228600" y="128588"/>
                </a:cubicBezTo>
                <a:cubicBezTo>
                  <a:pt x="228600" y="144348"/>
                  <a:pt x="219001" y="157163"/>
                  <a:pt x="207169" y="157163"/>
                </a:cubicBezTo>
                <a:cubicBezTo>
                  <a:pt x="202525" y="157163"/>
                  <a:pt x="198194" y="155198"/>
                  <a:pt x="194712" y="151805"/>
                </a:cubicBezTo>
                <a:cubicBezTo>
                  <a:pt x="191631" y="148858"/>
                  <a:pt x="187881" y="146447"/>
                  <a:pt x="183594" y="146447"/>
                </a:cubicBezTo>
                <a:cubicBezTo>
                  <a:pt x="176897" y="146447"/>
                  <a:pt x="171450" y="151894"/>
                  <a:pt x="171450" y="158591"/>
                </a:cubicBezTo>
                <a:lnTo>
                  <a:pt x="171450" y="207169"/>
                </a:lnTo>
                <a:cubicBezTo>
                  <a:pt x="171450" y="219001"/>
                  <a:pt x="161851" y="228600"/>
                  <a:pt x="150019" y="228600"/>
                </a:cubicBezTo>
                <a:lnTo>
                  <a:pt x="124658" y="228600"/>
                </a:lnTo>
                <a:cubicBezTo>
                  <a:pt x="118943" y="228600"/>
                  <a:pt x="114300" y="223957"/>
                  <a:pt x="114300" y="218242"/>
                </a:cubicBezTo>
                <a:cubicBezTo>
                  <a:pt x="114300" y="214134"/>
                  <a:pt x="116890" y="210517"/>
                  <a:pt x="120194" y="208062"/>
                </a:cubicBezTo>
                <a:cubicBezTo>
                  <a:pt x="125373" y="204177"/>
                  <a:pt x="128588" y="198819"/>
                  <a:pt x="128588" y="192881"/>
                </a:cubicBezTo>
                <a:cubicBezTo>
                  <a:pt x="128588" y="181049"/>
                  <a:pt x="115773" y="171450"/>
                  <a:pt x="100013" y="171450"/>
                </a:cubicBezTo>
                <a:cubicBezTo>
                  <a:pt x="84252" y="171450"/>
                  <a:pt x="71438" y="181049"/>
                  <a:pt x="71438" y="192881"/>
                </a:cubicBezTo>
                <a:cubicBezTo>
                  <a:pt x="71438" y="198819"/>
                  <a:pt x="74652" y="204177"/>
                  <a:pt x="79831" y="208062"/>
                </a:cubicBezTo>
                <a:cubicBezTo>
                  <a:pt x="83135" y="210517"/>
                  <a:pt x="85725" y="214089"/>
                  <a:pt x="85725" y="218242"/>
                </a:cubicBezTo>
                <a:cubicBezTo>
                  <a:pt x="85725" y="223957"/>
                  <a:pt x="81082" y="228600"/>
                  <a:pt x="75367" y="228600"/>
                </a:cubicBezTo>
                <a:lnTo>
                  <a:pt x="21431" y="228600"/>
                </a:lnTo>
                <a:cubicBezTo>
                  <a:pt x="9599" y="228600"/>
                  <a:pt x="0" y="219001"/>
                  <a:pt x="0" y="207169"/>
                </a:cubicBezTo>
                <a:lnTo>
                  <a:pt x="0" y="153233"/>
                </a:lnTo>
                <a:cubicBezTo>
                  <a:pt x="0" y="147518"/>
                  <a:pt x="4643" y="142875"/>
                  <a:pt x="10358" y="142875"/>
                </a:cubicBezTo>
                <a:cubicBezTo>
                  <a:pt x="14466" y="142875"/>
                  <a:pt x="18083" y="145465"/>
                  <a:pt x="20538" y="148769"/>
                </a:cubicBezTo>
                <a:cubicBezTo>
                  <a:pt x="24423" y="153948"/>
                  <a:pt x="29781" y="157163"/>
                  <a:pt x="35719" y="157163"/>
                </a:cubicBezTo>
                <a:cubicBezTo>
                  <a:pt x="47551" y="157163"/>
                  <a:pt x="57150" y="144348"/>
                  <a:pt x="57150" y="128588"/>
                </a:cubicBezTo>
                <a:cubicBezTo>
                  <a:pt x="57150" y="112827"/>
                  <a:pt x="47551" y="100013"/>
                  <a:pt x="35719" y="100013"/>
                </a:cubicBezTo>
                <a:cubicBezTo>
                  <a:pt x="29781" y="100013"/>
                  <a:pt x="24423" y="103227"/>
                  <a:pt x="20538" y="108406"/>
                </a:cubicBezTo>
                <a:cubicBezTo>
                  <a:pt x="18083" y="111710"/>
                  <a:pt x="14511" y="114300"/>
                  <a:pt x="10358" y="114300"/>
                </a:cubicBezTo>
                <a:cubicBezTo>
                  <a:pt x="4643" y="114300"/>
                  <a:pt x="0" y="109657"/>
                  <a:pt x="0" y="103942"/>
                </a:cubicBezTo>
                <a:lnTo>
                  <a:pt x="0" y="78581"/>
                </a:lnTo>
                <a:cubicBezTo>
                  <a:pt x="0" y="66749"/>
                  <a:pt x="9599" y="57150"/>
                  <a:pt x="21431" y="57150"/>
                </a:cubicBezTo>
                <a:lnTo>
                  <a:pt x="70009" y="57150"/>
                </a:lnTo>
                <a:cubicBezTo>
                  <a:pt x="76706" y="57150"/>
                  <a:pt x="82153" y="51703"/>
                  <a:pt x="82153" y="45006"/>
                </a:cubicBezTo>
                <a:cubicBezTo>
                  <a:pt x="82153" y="40764"/>
                  <a:pt x="79742" y="36969"/>
                  <a:pt x="76795" y="33888"/>
                </a:cubicBezTo>
                <a:cubicBezTo>
                  <a:pt x="73447" y="30361"/>
                  <a:pt x="71438" y="26075"/>
                  <a:pt x="71438" y="21431"/>
                </a:cubicBezTo>
                <a:cubicBezTo>
                  <a:pt x="71438" y="9599"/>
                  <a:pt x="84252" y="0"/>
                  <a:pt x="100013" y="0"/>
                </a:cubicBezTo>
                <a:close/>
              </a:path>
            </a:pathLst>
          </a:custGeom>
          <a:solidFill>
            <a:srgbClr val="00A8E1"/>
          </a:solidFill>
          <a:ln/>
        </p:spPr>
      </p:sp>
      <p:sp>
        <p:nvSpPr>
          <p:cNvPr id="26" name="Text 24"/>
          <p:cNvSpPr/>
          <p:nvPr/>
        </p:nvSpPr>
        <p:spPr>
          <a:xfrm>
            <a:off x="7037070" y="3943350"/>
            <a:ext cx="15906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Fragmentation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89370" y="4617720"/>
            <a:ext cx="5448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0A8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100+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89370" y="5151120"/>
            <a:ext cx="5295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government portals with scattered information and no unified access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4810" y="5894070"/>
            <a:ext cx="11418570" cy="579120"/>
          </a:xfrm>
          <a:custGeom>
            <a:avLst/>
            <a:gdLst/>
            <a:ahLst/>
            <a:cxnLst/>
            <a:rect l="l" t="t" r="r" b="b"/>
            <a:pathLst>
              <a:path w="11418570" h="579120">
                <a:moveTo>
                  <a:pt x="114301" y="0"/>
                </a:moveTo>
                <a:lnTo>
                  <a:pt x="11304269" y="0"/>
                </a:lnTo>
                <a:cubicBezTo>
                  <a:pt x="11367396" y="0"/>
                  <a:pt x="11418570" y="51174"/>
                  <a:pt x="11418570" y="114301"/>
                </a:cubicBezTo>
                <a:lnTo>
                  <a:pt x="11418570" y="464819"/>
                </a:lnTo>
                <a:cubicBezTo>
                  <a:pt x="11418570" y="527946"/>
                  <a:pt x="11367396" y="579120"/>
                  <a:pt x="11304269" y="579120"/>
                </a:cubicBezTo>
                <a:lnTo>
                  <a:pt x="114301" y="579120"/>
                </a:lnTo>
                <a:cubicBezTo>
                  <a:pt x="51174" y="579120"/>
                  <a:pt x="0" y="527946"/>
                  <a:pt x="0" y="46481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gradFill flip="none" rotWithShape="1">
            <a:gsLst>
              <a:gs pos="0">
                <a:srgbClr val="FF9900">
                  <a:alpha val="20000"/>
                </a:srgbClr>
              </a:gs>
              <a:gs pos="100000">
                <a:srgbClr val="00A8E1">
                  <a:alpha val="20000"/>
                </a:srgbClr>
              </a:gs>
            </a:gsLst>
            <a:lin ang="0" scaled="1"/>
          </a:gradFill>
          <a:ln w="10160">
            <a:solidFill>
              <a:srgbClr val="FF9900">
                <a:alpha val="30196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24607" y="606933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31" name="Text 29"/>
          <p:cNvSpPr/>
          <p:nvPr/>
        </p:nvSpPr>
        <p:spPr>
          <a:xfrm>
            <a:off x="3934182" y="6050281"/>
            <a:ext cx="4848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₹50,000+ Crores</a:t>
            </a: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350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scheme budgets remain unclaimed annually</a:t>
            </a:r>
            <a:endParaRPr lang="en-US" sz="16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9E777E78-D5A9-DD0C-FD5E-9F074ACA58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906" y="-6302"/>
            <a:ext cx="12192000" cy="65952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bpac.in/e5fe3ba9ebd62159bb5894740d73c154510aa5ec.png"/>
          <p:cNvPicPr>
            <a:picLocks noChangeAspect="1"/>
          </p:cNvPicPr>
          <p:nvPr/>
        </p:nvPicPr>
        <p:blipFill>
          <a:blip r:embed="rId3">
            <a:alphaModFix amt="30000"/>
          </a:blip>
          <a:srcRect l="617" r="617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-33933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F1419">
                  <a:alpha val="95000"/>
                </a:srgbClr>
              </a:gs>
              <a:gs pos="50000">
                <a:srgbClr val="232F3E">
                  <a:alpha val="85000"/>
                </a:srgbClr>
              </a:gs>
              <a:gs pos="100000">
                <a:srgbClr val="0F1419">
                  <a:alpha val="9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Shape 1"/>
          <p:cNvSpPr/>
          <p:nvPr/>
        </p:nvSpPr>
        <p:spPr>
          <a:xfrm>
            <a:off x="381000" y="4191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19050" y="0"/>
                </a:moveTo>
                <a:lnTo>
                  <a:pt x="19050" y="0"/>
                </a:lnTo>
                <a:cubicBezTo>
                  <a:pt x="29564" y="0"/>
                  <a:pt x="38100" y="8536"/>
                  <a:pt x="38100" y="19050"/>
                </a:cubicBezTo>
                <a:lnTo>
                  <a:pt x="38100" y="285750"/>
                </a:lnTo>
                <a:cubicBezTo>
                  <a:pt x="38100" y="296264"/>
                  <a:pt x="29564" y="304800"/>
                  <a:pt x="19050" y="304800"/>
                </a:cubicBezTo>
                <a:lnTo>
                  <a:pt x="19050" y="304800"/>
                </a:lnTo>
                <a:cubicBezTo>
                  <a:pt x="8536" y="304800"/>
                  <a:pt x="0" y="296264"/>
                  <a:pt x="0" y="2857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00A8E1"/>
          </a:solidFill>
          <a:ln/>
        </p:spPr>
      </p:sp>
      <p:sp>
        <p:nvSpPr>
          <p:cNvPr id="5" name="Text 2"/>
          <p:cNvSpPr/>
          <p:nvPr/>
        </p:nvSpPr>
        <p:spPr>
          <a:xfrm>
            <a:off x="533400" y="723900"/>
            <a:ext cx="5057775" cy="32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Solution: Bharat Access Hub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33400" y="1066680"/>
            <a:ext cx="11363325" cy="328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AI-powered platform bridging the information access gap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4810" y="1499638"/>
            <a:ext cx="6151245" cy="1523611"/>
          </a:xfrm>
          <a:custGeom>
            <a:avLst/>
            <a:gdLst/>
            <a:ahLst/>
            <a:cxnLst/>
            <a:rect l="l" t="t" r="r" b="b"/>
            <a:pathLst>
              <a:path w="6151245" h="1626870">
                <a:moveTo>
                  <a:pt x="152405" y="0"/>
                </a:moveTo>
                <a:lnTo>
                  <a:pt x="5998840" y="0"/>
                </a:lnTo>
                <a:cubicBezTo>
                  <a:pt x="6083011" y="0"/>
                  <a:pt x="6151245" y="68234"/>
                  <a:pt x="6151245" y="152405"/>
                </a:cubicBezTo>
                <a:lnTo>
                  <a:pt x="6151245" y="1474465"/>
                </a:lnTo>
                <a:cubicBezTo>
                  <a:pt x="6151245" y="1558636"/>
                  <a:pt x="6083011" y="1626870"/>
                  <a:pt x="5998840" y="1626870"/>
                </a:cubicBezTo>
                <a:lnTo>
                  <a:pt x="152405" y="1626870"/>
                </a:lnTo>
                <a:cubicBezTo>
                  <a:pt x="68234" y="1626870"/>
                  <a:pt x="0" y="1558636"/>
                  <a:pt x="0" y="1474465"/>
                </a:cubicBezTo>
                <a:lnTo>
                  <a:pt x="0" y="152405"/>
                </a:lnTo>
                <a:cubicBezTo>
                  <a:pt x="0" y="68234"/>
                  <a:pt x="68234" y="0"/>
                  <a:pt x="152405" y="0"/>
                </a:cubicBezTo>
                <a:close/>
              </a:path>
            </a:pathLst>
          </a:custGeom>
          <a:solidFill>
            <a:srgbClr val="232F3E">
              <a:alpha val="70196"/>
            </a:srgbClr>
          </a:solidFill>
          <a:ln w="10160">
            <a:solidFill>
              <a:srgbClr val="FF99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Shape 5"/>
          <p:cNvSpPr/>
          <p:nvPr/>
        </p:nvSpPr>
        <p:spPr>
          <a:xfrm>
            <a:off x="579120" y="1533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9900"/>
              </a:gs>
              <a:gs pos="100000">
                <a:srgbClr val="FF9900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9" name="Shape 6"/>
          <p:cNvSpPr/>
          <p:nvPr/>
        </p:nvSpPr>
        <p:spPr>
          <a:xfrm>
            <a:off x="700564" y="16668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42875" y="53578"/>
                </a:moveTo>
                <a:cubicBezTo>
                  <a:pt x="142875" y="89743"/>
                  <a:pt x="110877" y="119063"/>
                  <a:pt x="71438" y="119063"/>
                </a:cubicBezTo>
                <a:cubicBezTo>
                  <a:pt x="61503" y="119063"/>
                  <a:pt x="52053" y="117202"/>
                  <a:pt x="43458" y="113854"/>
                </a:cubicBezTo>
                <a:lnTo>
                  <a:pt x="13097" y="129927"/>
                </a:lnTo>
                <a:cubicBezTo>
                  <a:pt x="9637" y="131750"/>
                  <a:pt x="5395" y="131118"/>
                  <a:pt x="2604" y="128364"/>
                </a:cubicBezTo>
                <a:cubicBezTo>
                  <a:pt x="-186" y="125611"/>
                  <a:pt x="-819" y="121332"/>
                  <a:pt x="1042" y="117872"/>
                </a:cubicBezTo>
                <a:lnTo>
                  <a:pt x="14288" y="92869"/>
                </a:lnTo>
                <a:cubicBezTo>
                  <a:pt x="5321" y="81930"/>
                  <a:pt x="0" y="68312"/>
                  <a:pt x="0" y="53578"/>
                </a:cubicBezTo>
                <a:cubicBezTo>
                  <a:pt x="0" y="17413"/>
                  <a:pt x="31998" y="-11906"/>
                  <a:pt x="71438" y="-11906"/>
                </a:cubicBezTo>
                <a:cubicBezTo>
                  <a:pt x="110877" y="-11906"/>
                  <a:pt x="142875" y="17413"/>
                  <a:pt x="142875" y="53578"/>
                </a:cubicBezTo>
                <a:close/>
                <a:moveTo>
                  <a:pt x="142875" y="190500"/>
                </a:moveTo>
                <a:cubicBezTo>
                  <a:pt x="107863" y="190500"/>
                  <a:pt x="78730" y="167394"/>
                  <a:pt x="72628" y="136922"/>
                </a:cubicBezTo>
                <a:cubicBezTo>
                  <a:pt x="117277" y="136364"/>
                  <a:pt x="156083" y="104589"/>
                  <a:pt x="160362" y="61503"/>
                </a:cubicBezTo>
                <a:cubicBezTo>
                  <a:pt x="191356" y="68647"/>
                  <a:pt x="214313" y="94357"/>
                  <a:pt x="214313" y="125016"/>
                </a:cubicBezTo>
                <a:cubicBezTo>
                  <a:pt x="214313" y="139750"/>
                  <a:pt x="208992" y="153367"/>
                  <a:pt x="200025" y="164306"/>
                </a:cubicBezTo>
                <a:lnTo>
                  <a:pt x="213271" y="189309"/>
                </a:lnTo>
                <a:cubicBezTo>
                  <a:pt x="215094" y="192770"/>
                  <a:pt x="214461" y="197011"/>
                  <a:pt x="211708" y="199802"/>
                </a:cubicBezTo>
                <a:cubicBezTo>
                  <a:pt x="208955" y="202592"/>
                  <a:pt x="204676" y="203225"/>
                  <a:pt x="201216" y="201364"/>
                </a:cubicBezTo>
                <a:lnTo>
                  <a:pt x="170855" y="185291"/>
                </a:lnTo>
                <a:cubicBezTo>
                  <a:pt x="162260" y="188640"/>
                  <a:pt x="152809" y="190500"/>
                  <a:pt x="142875" y="1905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188720" y="1533525"/>
            <a:ext cx="5248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Conversational AI Interface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88720" y="1876425"/>
            <a:ext cx="52292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Natural language chatbot powered by RAG (Retrieval Augmented Generation) that understands context, answers questions, and guides users through complex scheme information in their preferred language.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00050" y="3061692"/>
            <a:ext cx="6151245" cy="1829767"/>
          </a:xfrm>
          <a:custGeom>
            <a:avLst/>
            <a:gdLst/>
            <a:ahLst/>
            <a:cxnLst/>
            <a:rect l="l" t="t" r="r" b="b"/>
            <a:pathLst>
              <a:path w="6151245" h="1626870">
                <a:moveTo>
                  <a:pt x="152405" y="0"/>
                </a:moveTo>
                <a:lnTo>
                  <a:pt x="5998840" y="0"/>
                </a:lnTo>
                <a:cubicBezTo>
                  <a:pt x="6083011" y="0"/>
                  <a:pt x="6151245" y="68234"/>
                  <a:pt x="6151245" y="152405"/>
                </a:cubicBezTo>
                <a:lnTo>
                  <a:pt x="6151245" y="1474465"/>
                </a:lnTo>
                <a:cubicBezTo>
                  <a:pt x="6151245" y="1558636"/>
                  <a:pt x="6083011" y="1626870"/>
                  <a:pt x="5998840" y="1626870"/>
                </a:cubicBezTo>
                <a:lnTo>
                  <a:pt x="152405" y="1626870"/>
                </a:lnTo>
                <a:cubicBezTo>
                  <a:pt x="68234" y="1626870"/>
                  <a:pt x="0" y="1558636"/>
                  <a:pt x="0" y="1474465"/>
                </a:cubicBezTo>
                <a:lnTo>
                  <a:pt x="0" y="152405"/>
                </a:lnTo>
                <a:cubicBezTo>
                  <a:pt x="0" y="68234"/>
                  <a:pt x="68234" y="0"/>
                  <a:pt x="152405" y="0"/>
                </a:cubicBezTo>
                <a:close/>
              </a:path>
            </a:pathLst>
          </a:custGeom>
          <a:solidFill>
            <a:srgbClr val="232F3E">
              <a:alpha val="70196"/>
            </a:srgbClr>
          </a:solidFill>
          <a:ln w="10160">
            <a:solidFill>
              <a:srgbClr val="00A8E1">
                <a:alpha val="30196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9120" y="33242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A8E1"/>
              </a:gs>
              <a:gs pos="100000">
                <a:srgbClr val="00A8E1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14" name="Shape 11"/>
          <p:cNvSpPr/>
          <p:nvPr/>
        </p:nvSpPr>
        <p:spPr>
          <a:xfrm>
            <a:off x="712470" y="34575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1188720" y="3324225"/>
            <a:ext cx="5248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Intelligent Eligibility Matching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188720" y="3667125"/>
            <a:ext cx="52292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AI-driven scoring algorithm that analyzes user profiles against scheme criteria, providing personalized eligibility scores (0-100) and ranking opportunities by relevance and benefit value.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36245" y="4955857"/>
            <a:ext cx="6151245" cy="1626870"/>
          </a:xfrm>
          <a:custGeom>
            <a:avLst/>
            <a:gdLst/>
            <a:ahLst/>
            <a:cxnLst/>
            <a:rect l="l" t="t" r="r" b="b"/>
            <a:pathLst>
              <a:path w="6151245" h="1626870">
                <a:moveTo>
                  <a:pt x="152405" y="0"/>
                </a:moveTo>
                <a:lnTo>
                  <a:pt x="5998840" y="0"/>
                </a:lnTo>
                <a:cubicBezTo>
                  <a:pt x="6083011" y="0"/>
                  <a:pt x="6151245" y="68234"/>
                  <a:pt x="6151245" y="152405"/>
                </a:cubicBezTo>
                <a:lnTo>
                  <a:pt x="6151245" y="1474465"/>
                </a:lnTo>
                <a:cubicBezTo>
                  <a:pt x="6151245" y="1558636"/>
                  <a:pt x="6083011" y="1626870"/>
                  <a:pt x="5998840" y="1626870"/>
                </a:cubicBezTo>
                <a:lnTo>
                  <a:pt x="152405" y="1626870"/>
                </a:lnTo>
                <a:cubicBezTo>
                  <a:pt x="68234" y="1626870"/>
                  <a:pt x="0" y="1558636"/>
                  <a:pt x="0" y="1474465"/>
                </a:cubicBezTo>
                <a:lnTo>
                  <a:pt x="0" y="152405"/>
                </a:lnTo>
                <a:cubicBezTo>
                  <a:pt x="0" y="68234"/>
                  <a:pt x="68234" y="0"/>
                  <a:pt x="152405" y="0"/>
                </a:cubicBezTo>
                <a:close/>
              </a:path>
            </a:pathLst>
          </a:custGeom>
          <a:solidFill>
            <a:srgbClr val="232F3E">
              <a:alpha val="70196"/>
            </a:srgbClr>
          </a:solidFill>
          <a:ln w="10160">
            <a:solidFill>
              <a:srgbClr val="FF9900">
                <a:alpha val="30196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79120" y="51149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9900"/>
              </a:gs>
              <a:gs pos="100000">
                <a:srgbClr val="FF9900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19" name="Shape 16"/>
          <p:cNvSpPr/>
          <p:nvPr/>
        </p:nvSpPr>
        <p:spPr>
          <a:xfrm>
            <a:off x="736283" y="524827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44648" y="95250"/>
                </a:moveTo>
                <a:cubicBezTo>
                  <a:pt x="39700" y="95250"/>
                  <a:pt x="35719" y="99231"/>
                  <a:pt x="35719" y="104180"/>
                </a:cubicBezTo>
                <a:cubicBezTo>
                  <a:pt x="35719" y="109128"/>
                  <a:pt x="39700" y="113109"/>
                  <a:pt x="44648" y="113109"/>
                </a:cubicBezTo>
                <a:lnTo>
                  <a:pt x="98227" y="113109"/>
                </a:lnTo>
                <a:cubicBezTo>
                  <a:pt x="103175" y="113109"/>
                  <a:pt x="107156" y="109128"/>
                  <a:pt x="107156" y="104180"/>
                </a:cubicBezTo>
                <a:cubicBezTo>
                  <a:pt x="107156" y="99231"/>
                  <a:pt x="103175" y="95250"/>
                  <a:pt x="98227" y="95250"/>
                </a:cubicBezTo>
                <a:lnTo>
                  <a:pt x="44648" y="95250"/>
                </a:lnTo>
                <a:close/>
                <a:moveTo>
                  <a:pt x="44648" y="130969"/>
                </a:moveTo>
                <a:cubicBezTo>
                  <a:pt x="39700" y="130969"/>
                  <a:pt x="35719" y="134950"/>
                  <a:pt x="35719" y="139898"/>
                </a:cubicBezTo>
                <a:cubicBezTo>
                  <a:pt x="35719" y="144847"/>
                  <a:pt x="39700" y="148828"/>
                  <a:pt x="44648" y="148828"/>
                </a:cubicBezTo>
                <a:lnTo>
                  <a:pt x="98227" y="148828"/>
                </a:lnTo>
                <a:cubicBezTo>
                  <a:pt x="103175" y="148828"/>
                  <a:pt x="107156" y="144847"/>
                  <a:pt x="107156" y="139898"/>
                </a:cubicBezTo>
                <a:cubicBezTo>
                  <a:pt x="107156" y="134950"/>
                  <a:pt x="103175" y="130969"/>
                  <a:pt x="98227" y="130969"/>
                </a:cubicBezTo>
                <a:lnTo>
                  <a:pt x="44648" y="13096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1188720" y="5114925"/>
            <a:ext cx="5248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 Intelligence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188720" y="5457825"/>
            <a:ext cx="52292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OCR-powered form processing with Amazon Textract that extracts text, explains fields in simple language, auto-fills from user profiles, and validates submissions before sending to government portals.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774180" y="1533525"/>
            <a:ext cx="5036820" cy="3688080"/>
          </a:xfrm>
          <a:custGeom>
            <a:avLst/>
            <a:gdLst/>
            <a:ahLst/>
            <a:cxnLst/>
            <a:rect l="l" t="t" r="r" b="b"/>
            <a:pathLst>
              <a:path w="5036820" h="3960495">
                <a:moveTo>
                  <a:pt x="152400" y="0"/>
                </a:moveTo>
                <a:lnTo>
                  <a:pt x="4884420" y="0"/>
                </a:lnTo>
                <a:cubicBezTo>
                  <a:pt x="4968588" y="0"/>
                  <a:pt x="5036820" y="68232"/>
                  <a:pt x="5036820" y="152400"/>
                </a:cubicBezTo>
                <a:lnTo>
                  <a:pt x="5036820" y="3808095"/>
                </a:lnTo>
                <a:cubicBezTo>
                  <a:pt x="5036820" y="3892263"/>
                  <a:pt x="4968588" y="3960495"/>
                  <a:pt x="4884420" y="3960495"/>
                </a:cubicBezTo>
                <a:lnTo>
                  <a:pt x="152400" y="3960495"/>
                </a:lnTo>
                <a:cubicBezTo>
                  <a:pt x="68232" y="3960495"/>
                  <a:pt x="0" y="3892263"/>
                  <a:pt x="0" y="3808095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9900">
                  <a:alpha val="20000"/>
                </a:srgbClr>
              </a:gs>
              <a:gs pos="100000">
                <a:srgbClr val="00A8E1">
                  <a:alpha val="20000"/>
                </a:srgbClr>
              </a:gs>
            </a:gsLst>
            <a:lin ang="2700000" scaled="1"/>
          </a:gradFill>
          <a:ln w="10160">
            <a:solidFill>
              <a:srgbClr val="FF9900">
                <a:alpha val="4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911340" y="1795224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Platform Impact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968490" y="230933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9900">
              <a:alpha val="30196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7054215" y="2414112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07156" y="5358"/>
                </a:moveTo>
                <a:cubicBezTo>
                  <a:pt x="126377" y="5358"/>
                  <a:pt x="141982" y="20963"/>
                  <a:pt x="141982" y="40184"/>
                </a:cubicBezTo>
                <a:cubicBezTo>
                  <a:pt x="141982" y="59404"/>
                  <a:pt x="126377" y="75009"/>
                  <a:pt x="107156" y="75009"/>
                </a:cubicBezTo>
                <a:cubicBezTo>
                  <a:pt x="87935" y="75009"/>
                  <a:pt x="72330" y="59404"/>
                  <a:pt x="72330" y="40184"/>
                </a:cubicBezTo>
                <a:cubicBezTo>
                  <a:pt x="72330" y="20963"/>
                  <a:pt x="87935" y="5358"/>
                  <a:pt x="107156" y="5358"/>
                </a:cubicBezTo>
                <a:close/>
                <a:moveTo>
                  <a:pt x="32147" y="29468"/>
                </a:moveTo>
                <a:cubicBezTo>
                  <a:pt x="45454" y="29468"/>
                  <a:pt x="56257" y="40271"/>
                  <a:pt x="56257" y="53578"/>
                </a:cubicBezTo>
                <a:cubicBezTo>
                  <a:pt x="56257" y="66885"/>
                  <a:pt x="45454" y="77688"/>
                  <a:pt x="32147" y="77688"/>
                </a:cubicBezTo>
                <a:cubicBezTo>
                  <a:pt x="18840" y="77688"/>
                  <a:pt x="8037" y="66885"/>
                  <a:pt x="8037" y="53578"/>
                </a:cubicBezTo>
                <a:cubicBezTo>
                  <a:pt x="8037" y="40271"/>
                  <a:pt x="18840" y="29468"/>
                  <a:pt x="32147" y="29468"/>
                </a:cubicBezTo>
                <a:close/>
                <a:moveTo>
                  <a:pt x="0" y="139303"/>
                </a:moveTo>
                <a:cubicBezTo>
                  <a:pt x="0" y="115628"/>
                  <a:pt x="19188" y="96441"/>
                  <a:pt x="42863" y="96441"/>
                </a:cubicBezTo>
                <a:cubicBezTo>
                  <a:pt x="47149" y="96441"/>
                  <a:pt x="51301" y="97077"/>
                  <a:pt x="55219" y="98249"/>
                </a:cubicBezTo>
                <a:cubicBezTo>
                  <a:pt x="44202" y="110572"/>
                  <a:pt x="37505" y="126846"/>
                  <a:pt x="37505" y="144661"/>
                </a:cubicBezTo>
                <a:lnTo>
                  <a:pt x="37505" y="150019"/>
                </a:lnTo>
                <a:cubicBezTo>
                  <a:pt x="37505" y="153836"/>
                  <a:pt x="38308" y="157453"/>
                  <a:pt x="39748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lnTo>
                  <a:pt x="0" y="139303"/>
                </a:lnTo>
                <a:close/>
                <a:moveTo>
                  <a:pt x="174564" y="160734"/>
                </a:moveTo>
                <a:cubicBezTo>
                  <a:pt x="176004" y="157453"/>
                  <a:pt x="176808" y="153836"/>
                  <a:pt x="176808" y="150019"/>
                </a:cubicBezTo>
                <a:lnTo>
                  <a:pt x="176808" y="144661"/>
                </a:lnTo>
                <a:cubicBezTo>
                  <a:pt x="176808" y="126846"/>
                  <a:pt x="170111" y="110572"/>
                  <a:pt x="159094" y="98249"/>
                </a:cubicBezTo>
                <a:cubicBezTo>
                  <a:pt x="163011" y="97077"/>
                  <a:pt x="167164" y="96441"/>
                  <a:pt x="171450" y="96441"/>
                </a:cubicBezTo>
                <a:cubicBezTo>
                  <a:pt x="195125" y="96441"/>
                  <a:pt x="214313" y="115628"/>
                  <a:pt x="214313" y="139303"/>
                </a:cubicBezTo>
                <a:lnTo>
                  <a:pt x="214313" y="150019"/>
                </a:lnTo>
                <a:cubicBezTo>
                  <a:pt x="214313" y="155946"/>
                  <a:pt x="209524" y="160734"/>
                  <a:pt x="203597" y="160734"/>
                </a:cubicBezTo>
                <a:lnTo>
                  <a:pt x="174564" y="160734"/>
                </a:lnTo>
                <a:close/>
                <a:moveTo>
                  <a:pt x="158055" y="53578"/>
                </a:moveTo>
                <a:cubicBezTo>
                  <a:pt x="158055" y="40271"/>
                  <a:pt x="168859" y="29468"/>
                  <a:pt x="182166" y="29468"/>
                </a:cubicBezTo>
                <a:cubicBezTo>
                  <a:pt x="195472" y="29468"/>
                  <a:pt x="206276" y="40271"/>
                  <a:pt x="206276" y="53578"/>
                </a:cubicBezTo>
                <a:cubicBezTo>
                  <a:pt x="206276" y="66885"/>
                  <a:pt x="195472" y="77688"/>
                  <a:pt x="182166" y="77688"/>
                </a:cubicBezTo>
                <a:cubicBezTo>
                  <a:pt x="168859" y="77688"/>
                  <a:pt x="158055" y="66885"/>
                  <a:pt x="158055" y="53578"/>
                </a:cubicBezTo>
                <a:close/>
                <a:moveTo>
                  <a:pt x="53578" y="144661"/>
                </a:moveTo>
                <a:cubicBezTo>
                  <a:pt x="53578" y="115059"/>
                  <a:pt x="77554" y="91083"/>
                  <a:pt x="107156" y="91083"/>
                </a:cubicBezTo>
                <a:cubicBezTo>
                  <a:pt x="136758" y="91083"/>
                  <a:pt x="160734" y="115059"/>
                  <a:pt x="160734" y="144661"/>
                </a:cubicBezTo>
                <a:lnTo>
                  <a:pt x="160734" y="150019"/>
                </a:lnTo>
                <a:cubicBezTo>
                  <a:pt x="160734" y="155946"/>
                  <a:pt x="155946" y="160734"/>
                  <a:pt x="150019" y="160734"/>
                </a:cubicBezTo>
                <a:lnTo>
                  <a:pt x="64294" y="160734"/>
                </a:lnTo>
                <a:cubicBezTo>
                  <a:pt x="58367" y="160734"/>
                  <a:pt x="53578" y="155946"/>
                  <a:pt x="53578" y="150019"/>
                </a:cubicBezTo>
                <a:lnTo>
                  <a:pt x="53578" y="144661"/>
                </a:ln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26" name="Text 23"/>
          <p:cNvSpPr/>
          <p:nvPr/>
        </p:nvSpPr>
        <p:spPr>
          <a:xfrm>
            <a:off x="7463790" y="2252306"/>
            <a:ext cx="1123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99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10,000+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463790" y="2556987"/>
            <a:ext cx="107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Concurrent Users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968490" y="295691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A8E1">
              <a:alpha val="30196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7086362" y="3061692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13452" y="-3315"/>
                </a:moveTo>
                <a:cubicBezTo>
                  <a:pt x="117437" y="-435"/>
                  <a:pt x="118910" y="4789"/>
                  <a:pt x="117102" y="9343"/>
                </a:cubicBezTo>
                <a:lnTo>
                  <a:pt x="90848" y="75009"/>
                </a:lnTo>
                <a:lnTo>
                  <a:pt x="139303" y="75009"/>
                </a:lnTo>
                <a:cubicBezTo>
                  <a:pt x="143824" y="75009"/>
                  <a:pt x="147842" y="77822"/>
                  <a:pt x="149383" y="82075"/>
                </a:cubicBezTo>
                <a:cubicBezTo>
                  <a:pt x="150923" y="86328"/>
                  <a:pt x="149617" y="91083"/>
                  <a:pt x="146168" y="93963"/>
                </a:cubicBezTo>
                <a:lnTo>
                  <a:pt x="49727" y="174330"/>
                </a:lnTo>
                <a:cubicBezTo>
                  <a:pt x="45943" y="177478"/>
                  <a:pt x="40552" y="177645"/>
                  <a:pt x="36567" y="174765"/>
                </a:cubicBezTo>
                <a:cubicBezTo>
                  <a:pt x="32582" y="171885"/>
                  <a:pt x="31109" y="166661"/>
                  <a:pt x="32917" y="162107"/>
                </a:cubicBezTo>
                <a:lnTo>
                  <a:pt x="59170" y="96441"/>
                </a:lnTo>
                <a:lnTo>
                  <a:pt x="10716" y="96441"/>
                </a:lnTo>
                <a:cubicBezTo>
                  <a:pt x="6195" y="96441"/>
                  <a:pt x="2177" y="93628"/>
                  <a:pt x="636" y="89375"/>
                </a:cubicBezTo>
                <a:cubicBezTo>
                  <a:pt x="-904" y="85122"/>
                  <a:pt x="402" y="80367"/>
                  <a:pt x="3851" y="77487"/>
                </a:cubicBezTo>
                <a:lnTo>
                  <a:pt x="100292" y="-2880"/>
                </a:lnTo>
                <a:cubicBezTo>
                  <a:pt x="104076" y="-6028"/>
                  <a:pt x="109467" y="-6195"/>
                  <a:pt x="113452" y="-3315"/>
                </a:cubicBezTo>
                <a:close/>
              </a:path>
            </a:pathLst>
          </a:custGeom>
          <a:solidFill>
            <a:srgbClr val="00A8E1"/>
          </a:solidFill>
          <a:ln/>
        </p:spPr>
      </p:sp>
      <p:sp>
        <p:nvSpPr>
          <p:cNvPr id="30" name="Text 27"/>
          <p:cNvSpPr/>
          <p:nvPr/>
        </p:nvSpPr>
        <p:spPr>
          <a:xfrm>
            <a:off x="7463790" y="2899887"/>
            <a:ext cx="99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A8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&lt;3 sec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7463790" y="3204567"/>
            <a:ext cx="942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Response Time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968490" y="360449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9900">
              <a:alpha val="30196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7086362" y="3709274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64294" y="42863"/>
                </a:moveTo>
                <a:cubicBezTo>
                  <a:pt x="64294" y="25120"/>
                  <a:pt x="49889" y="10716"/>
                  <a:pt x="32147" y="10716"/>
                </a:cubicBezTo>
                <a:cubicBezTo>
                  <a:pt x="14405" y="10716"/>
                  <a:pt x="0" y="25120"/>
                  <a:pt x="0" y="42863"/>
                </a:cubicBezTo>
                <a:cubicBezTo>
                  <a:pt x="0" y="60605"/>
                  <a:pt x="14405" y="75009"/>
                  <a:pt x="32147" y="75009"/>
                </a:cubicBezTo>
                <a:cubicBezTo>
                  <a:pt x="49889" y="75009"/>
                  <a:pt x="64294" y="60605"/>
                  <a:pt x="64294" y="42863"/>
                </a:cubicBezTo>
                <a:close/>
                <a:moveTo>
                  <a:pt x="150019" y="128588"/>
                </a:moveTo>
                <a:cubicBezTo>
                  <a:pt x="150019" y="110845"/>
                  <a:pt x="135614" y="96441"/>
                  <a:pt x="117872" y="96441"/>
                </a:cubicBezTo>
                <a:cubicBezTo>
                  <a:pt x="100130" y="96441"/>
                  <a:pt x="85725" y="110845"/>
                  <a:pt x="85725" y="128588"/>
                </a:cubicBezTo>
                <a:cubicBezTo>
                  <a:pt x="85725" y="146330"/>
                  <a:pt x="100130" y="160734"/>
                  <a:pt x="117872" y="160734"/>
                </a:cubicBezTo>
                <a:cubicBezTo>
                  <a:pt x="135614" y="160734"/>
                  <a:pt x="150019" y="146330"/>
                  <a:pt x="150019" y="128588"/>
                </a:cubicBezTo>
                <a:close/>
                <a:moveTo>
                  <a:pt x="146871" y="28999"/>
                </a:moveTo>
                <a:cubicBezTo>
                  <a:pt x="151057" y="24813"/>
                  <a:pt x="151057" y="18016"/>
                  <a:pt x="146871" y="13830"/>
                </a:cubicBezTo>
                <a:cubicBezTo>
                  <a:pt x="142685" y="9644"/>
                  <a:pt x="135888" y="9644"/>
                  <a:pt x="131702" y="13830"/>
                </a:cubicBezTo>
                <a:lnTo>
                  <a:pt x="3114" y="142417"/>
                </a:lnTo>
                <a:cubicBezTo>
                  <a:pt x="-1072" y="146603"/>
                  <a:pt x="-1072" y="153401"/>
                  <a:pt x="3114" y="157587"/>
                </a:cubicBezTo>
                <a:cubicBezTo>
                  <a:pt x="7300" y="161772"/>
                  <a:pt x="14098" y="161772"/>
                  <a:pt x="18284" y="157587"/>
                </a:cubicBezTo>
                <a:lnTo>
                  <a:pt x="146871" y="28999"/>
                </a:ln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34" name="Text 31"/>
          <p:cNvSpPr/>
          <p:nvPr/>
        </p:nvSpPr>
        <p:spPr>
          <a:xfrm>
            <a:off x="7463790" y="3547467"/>
            <a:ext cx="121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99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95%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7463790" y="3852149"/>
            <a:ext cx="1171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Matching Accuracy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6968490" y="425207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A8E1">
              <a:alpha val="30196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7064931" y="4356854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53578" y="0"/>
                </a:moveTo>
                <a:cubicBezTo>
                  <a:pt x="59505" y="0"/>
                  <a:pt x="64294" y="4789"/>
                  <a:pt x="64294" y="10716"/>
                </a:cubicBezTo>
                <a:lnTo>
                  <a:pt x="64294" y="21431"/>
                </a:lnTo>
                <a:lnTo>
                  <a:pt x="107156" y="21431"/>
                </a:lnTo>
                <a:cubicBezTo>
                  <a:pt x="113083" y="21431"/>
                  <a:pt x="117872" y="26220"/>
                  <a:pt x="117872" y="32147"/>
                </a:cubicBezTo>
                <a:cubicBezTo>
                  <a:pt x="117872" y="38074"/>
                  <a:pt x="113083" y="42863"/>
                  <a:pt x="107156" y="42863"/>
                </a:cubicBezTo>
                <a:lnTo>
                  <a:pt x="103942" y="42863"/>
                </a:lnTo>
                <a:lnTo>
                  <a:pt x="101129" y="50598"/>
                </a:lnTo>
                <a:cubicBezTo>
                  <a:pt x="95637" y="65734"/>
                  <a:pt x="87366" y="79564"/>
                  <a:pt x="76952" y="91451"/>
                </a:cubicBezTo>
                <a:cubicBezTo>
                  <a:pt x="81707" y="94398"/>
                  <a:pt x="86663" y="97010"/>
                  <a:pt x="91820" y="99320"/>
                </a:cubicBezTo>
                <a:lnTo>
                  <a:pt x="108697" y="106821"/>
                </a:lnTo>
                <a:lnTo>
                  <a:pt x="129525" y="59941"/>
                </a:lnTo>
                <a:cubicBezTo>
                  <a:pt x="131233" y="56056"/>
                  <a:pt x="135084" y="53578"/>
                  <a:pt x="139303" y="53578"/>
                </a:cubicBezTo>
                <a:cubicBezTo>
                  <a:pt x="143522" y="53578"/>
                  <a:pt x="147373" y="56056"/>
                  <a:pt x="149081" y="59941"/>
                </a:cubicBezTo>
                <a:lnTo>
                  <a:pt x="191944" y="156381"/>
                </a:lnTo>
                <a:cubicBezTo>
                  <a:pt x="194355" y="161806"/>
                  <a:pt x="191910" y="168135"/>
                  <a:pt x="186519" y="170512"/>
                </a:cubicBezTo>
                <a:cubicBezTo>
                  <a:pt x="181128" y="172890"/>
                  <a:pt x="174765" y="170479"/>
                  <a:pt x="172388" y="165088"/>
                </a:cubicBezTo>
                <a:lnTo>
                  <a:pt x="165690" y="150019"/>
                </a:lnTo>
                <a:lnTo>
                  <a:pt x="112949" y="150019"/>
                </a:lnTo>
                <a:lnTo>
                  <a:pt x="106252" y="165088"/>
                </a:lnTo>
                <a:cubicBezTo>
                  <a:pt x="103841" y="170512"/>
                  <a:pt x="97512" y="172923"/>
                  <a:pt x="92121" y="170512"/>
                </a:cubicBezTo>
                <a:cubicBezTo>
                  <a:pt x="86730" y="168101"/>
                  <a:pt x="84285" y="161772"/>
                  <a:pt x="86696" y="156381"/>
                </a:cubicBezTo>
                <a:lnTo>
                  <a:pt x="100024" y="126411"/>
                </a:lnTo>
                <a:lnTo>
                  <a:pt x="83147" y="118910"/>
                </a:lnTo>
                <a:cubicBezTo>
                  <a:pt x="75445" y="115494"/>
                  <a:pt x="68078" y="111409"/>
                  <a:pt x="61113" y="106721"/>
                </a:cubicBezTo>
                <a:cubicBezTo>
                  <a:pt x="53980" y="112481"/>
                  <a:pt x="46178" y="117504"/>
                  <a:pt x="37840" y="121689"/>
                </a:cubicBezTo>
                <a:lnTo>
                  <a:pt x="26220" y="127449"/>
                </a:lnTo>
                <a:cubicBezTo>
                  <a:pt x="20929" y="130094"/>
                  <a:pt x="14500" y="127951"/>
                  <a:pt x="11854" y="122660"/>
                </a:cubicBezTo>
                <a:cubicBezTo>
                  <a:pt x="9209" y="117370"/>
                  <a:pt x="11352" y="110940"/>
                  <a:pt x="16643" y="108295"/>
                </a:cubicBezTo>
                <a:lnTo>
                  <a:pt x="28195" y="102502"/>
                </a:lnTo>
                <a:cubicBezTo>
                  <a:pt x="33654" y="99756"/>
                  <a:pt x="38844" y="96575"/>
                  <a:pt x="43733" y="93025"/>
                </a:cubicBezTo>
                <a:cubicBezTo>
                  <a:pt x="39112" y="88772"/>
                  <a:pt x="34759" y="84185"/>
                  <a:pt x="30707" y="79329"/>
                </a:cubicBezTo>
                <a:lnTo>
                  <a:pt x="27325" y="75244"/>
                </a:lnTo>
                <a:cubicBezTo>
                  <a:pt x="23541" y="70690"/>
                  <a:pt x="24144" y="63925"/>
                  <a:pt x="28698" y="60141"/>
                </a:cubicBezTo>
                <a:cubicBezTo>
                  <a:pt x="33252" y="56357"/>
                  <a:pt x="40016" y="56960"/>
                  <a:pt x="43800" y="61514"/>
                </a:cubicBezTo>
                <a:lnTo>
                  <a:pt x="47216" y="65600"/>
                </a:lnTo>
                <a:cubicBezTo>
                  <a:pt x="51067" y="70254"/>
                  <a:pt x="55286" y="74574"/>
                  <a:pt x="59740" y="78559"/>
                </a:cubicBezTo>
                <a:cubicBezTo>
                  <a:pt x="68948" y="68379"/>
                  <a:pt x="76215" y="56424"/>
                  <a:pt x="81003" y="43264"/>
                </a:cubicBezTo>
                <a:lnTo>
                  <a:pt x="81171" y="42862"/>
                </a:lnTo>
                <a:lnTo>
                  <a:pt x="10749" y="42862"/>
                </a:lnTo>
                <a:cubicBezTo>
                  <a:pt x="4789" y="42863"/>
                  <a:pt x="0" y="38074"/>
                  <a:pt x="0" y="32147"/>
                </a:cubicBezTo>
                <a:cubicBezTo>
                  <a:pt x="0" y="26220"/>
                  <a:pt x="4789" y="21431"/>
                  <a:pt x="10716" y="21431"/>
                </a:cubicBezTo>
                <a:lnTo>
                  <a:pt x="42863" y="21431"/>
                </a:lnTo>
                <a:lnTo>
                  <a:pt x="42863" y="10716"/>
                </a:lnTo>
                <a:cubicBezTo>
                  <a:pt x="42863" y="4789"/>
                  <a:pt x="47651" y="0"/>
                  <a:pt x="53578" y="0"/>
                </a:cubicBezTo>
                <a:close/>
                <a:moveTo>
                  <a:pt x="139303" y="90681"/>
                </a:moveTo>
                <a:lnTo>
                  <a:pt x="122460" y="128588"/>
                </a:lnTo>
                <a:lnTo>
                  <a:pt x="156147" y="128588"/>
                </a:lnTo>
                <a:lnTo>
                  <a:pt x="139303" y="90681"/>
                </a:lnTo>
                <a:close/>
              </a:path>
            </a:pathLst>
          </a:custGeom>
          <a:solidFill>
            <a:srgbClr val="00A8E1"/>
          </a:solidFill>
          <a:ln/>
        </p:spPr>
      </p:sp>
      <p:sp>
        <p:nvSpPr>
          <p:cNvPr id="38" name="Text 35"/>
          <p:cNvSpPr/>
          <p:nvPr/>
        </p:nvSpPr>
        <p:spPr>
          <a:xfrm>
            <a:off x="7463790" y="4195049"/>
            <a:ext cx="1104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A8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7463790" y="4499729"/>
            <a:ext cx="1057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Indian Languages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6774180" y="5384484"/>
            <a:ext cx="5036820" cy="1093470"/>
          </a:xfrm>
          <a:custGeom>
            <a:avLst/>
            <a:gdLst/>
            <a:ahLst/>
            <a:cxnLst/>
            <a:rect l="l" t="t" r="r" b="b"/>
            <a:pathLst>
              <a:path w="5036820" h="1093470">
                <a:moveTo>
                  <a:pt x="152397" y="0"/>
                </a:moveTo>
                <a:lnTo>
                  <a:pt x="4884423" y="0"/>
                </a:lnTo>
                <a:cubicBezTo>
                  <a:pt x="4968590" y="0"/>
                  <a:pt x="5036820" y="68230"/>
                  <a:pt x="5036820" y="152397"/>
                </a:cubicBezTo>
                <a:lnTo>
                  <a:pt x="5036820" y="941073"/>
                </a:lnTo>
                <a:cubicBezTo>
                  <a:pt x="5036820" y="1025240"/>
                  <a:pt x="4968590" y="1093470"/>
                  <a:pt x="4884423" y="1093470"/>
                </a:cubicBezTo>
                <a:lnTo>
                  <a:pt x="152397" y="1093470"/>
                </a:lnTo>
                <a:cubicBezTo>
                  <a:pt x="68230" y="1093470"/>
                  <a:pt x="0" y="1025240"/>
                  <a:pt x="0" y="941073"/>
                </a:cubicBezTo>
                <a:lnTo>
                  <a:pt x="0" y="152397"/>
                </a:lnTo>
                <a:cubicBezTo>
                  <a:pt x="0" y="68230"/>
                  <a:pt x="68230" y="0"/>
                  <a:pt x="152397" y="0"/>
                </a:cubicBezTo>
                <a:close/>
              </a:path>
            </a:pathLst>
          </a:custGeom>
          <a:solidFill>
            <a:srgbClr val="232F3E">
              <a:alpha val="70196"/>
            </a:srgbClr>
          </a:solidFill>
          <a:ln w="10160">
            <a:solidFill>
              <a:srgbClr val="00A8E1">
                <a:alpha val="30196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954203" y="557879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00A8E1"/>
          </a:solidFill>
          <a:ln/>
        </p:spPr>
      </p:sp>
      <p:sp>
        <p:nvSpPr>
          <p:cNvPr id="42" name="Text 39"/>
          <p:cNvSpPr/>
          <p:nvPr/>
        </p:nvSpPr>
        <p:spPr>
          <a:xfrm>
            <a:off x="7282815" y="5540692"/>
            <a:ext cx="1085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First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6930390" y="5883592"/>
            <a:ext cx="47910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End-to-end encryption with AWS KMS, DPDPA 2023 compliant, RBAC access control, and comprehensive audit logging.</a:t>
            </a:r>
            <a:endParaRPr lang="en-US" sz="1600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86FF7D7A-22AA-B015-C334-0BE8FC69F4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595" y="2382"/>
            <a:ext cx="12192000" cy="65952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33400" y="858679"/>
            <a:ext cx="3962400" cy="3090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Makes Us Different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400" y="1089660"/>
            <a:ext cx="11363325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Unique capabilities that set Bharat Access Hub apart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386840"/>
            <a:ext cx="3703320" cy="2396490"/>
          </a:xfrm>
          <a:custGeom>
            <a:avLst/>
            <a:gdLst/>
            <a:ahLst/>
            <a:cxnLst/>
            <a:rect l="l" t="t" r="r" b="b"/>
            <a:pathLst>
              <a:path w="3703320" h="2522220">
                <a:moveTo>
                  <a:pt x="152393" y="0"/>
                </a:moveTo>
                <a:lnTo>
                  <a:pt x="3550927" y="0"/>
                </a:lnTo>
                <a:cubicBezTo>
                  <a:pt x="3635092" y="0"/>
                  <a:pt x="3703320" y="68228"/>
                  <a:pt x="3703320" y="152393"/>
                </a:cubicBezTo>
                <a:lnTo>
                  <a:pt x="3703320" y="2369827"/>
                </a:lnTo>
                <a:cubicBezTo>
                  <a:pt x="3703320" y="2453992"/>
                  <a:pt x="3635092" y="2522220"/>
                  <a:pt x="3550927" y="2522220"/>
                </a:cubicBezTo>
                <a:lnTo>
                  <a:pt x="152393" y="2522220"/>
                </a:lnTo>
                <a:cubicBezTo>
                  <a:pt x="68228" y="2522220"/>
                  <a:pt x="0" y="2453992"/>
                  <a:pt x="0" y="2369827"/>
                </a:cubicBezTo>
                <a:lnTo>
                  <a:pt x="0" y="152393"/>
                </a:lnTo>
                <a:cubicBezTo>
                  <a:pt x="0" y="68228"/>
                  <a:pt x="68228" y="0"/>
                  <a:pt x="152393" y="0"/>
                </a:cubicBezTo>
                <a:close/>
              </a:path>
            </a:pathLst>
          </a:custGeom>
          <a:gradFill flip="none" rotWithShape="1">
            <a:gsLst>
              <a:gs pos="0">
                <a:srgbClr val="232F3E">
                  <a:alpha val="80000"/>
                </a:srgbClr>
              </a:gs>
              <a:gs pos="100000">
                <a:srgbClr val="232F3E">
                  <a:alpha val="40000"/>
                </a:srgbClr>
              </a:gs>
            </a:gsLst>
            <a:lin ang="2700000" scaled="1"/>
          </a:gradFill>
          <a:ln w="10160">
            <a:solidFill>
              <a:srgbClr val="FF9900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9120" y="14554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9900"/>
              </a:gs>
              <a:gs pos="100000">
                <a:srgbClr val="FF9900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7" name="Shape 5"/>
          <p:cNvSpPr/>
          <p:nvPr/>
        </p:nvSpPr>
        <p:spPr>
          <a:xfrm>
            <a:off x="712470" y="158877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150620" y="1576864"/>
            <a:ext cx="27241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RAG-Powered Multilingual Chatbot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9120" y="2026920"/>
            <a:ext cx="339090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Unlike simple FAQ bots, our RAG system retrieves real-time scheme data and generates contextual responses in 10 Indian languages using Claude 3 Sonnet.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8170" y="343090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11" name="Text 9"/>
          <p:cNvSpPr/>
          <p:nvPr/>
        </p:nvSpPr>
        <p:spPr>
          <a:xfrm>
            <a:off x="822008" y="3402330"/>
            <a:ext cx="1781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Context-aware conversations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45531" y="1386840"/>
            <a:ext cx="3703320" cy="2396490"/>
          </a:xfrm>
          <a:custGeom>
            <a:avLst/>
            <a:gdLst/>
            <a:ahLst/>
            <a:cxnLst/>
            <a:rect l="l" t="t" r="r" b="b"/>
            <a:pathLst>
              <a:path w="3703320" h="2522220">
                <a:moveTo>
                  <a:pt x="152393" y="0"/>
                </a:moveTo>
                <a:lnTo>
                  <a:pt x="3550927" y="0"/>
                </a:lnTo>
                <a:cubicBezTo>
                  <a:pt x="3635092" y="0"/>
                  <a:pt x="3703320" y="68228"/>
                  <a:pt x="3703320" y="152393"/>
                </a:cubicBezTo>
                <a:lnTo>
                  <a:pt x="3703320" y="2369827"/>
                </a:lnTo>
                <a:cubicBezTo>
                  <a:pt x="3703320" y="2453992"/>
                  <a:pt x="3635092" y="2522220"/>
                  <a:pt x="3550927" y="2522220"/>
                </a:cubicBezTo>
                <a:lnTo>
                  <a:pt x="152393" y="2522220"/>
                </a:lnTo>
                <a:cubicBezTo>
                  <a:pt x="68228" y="2522220"/>
                  <a:pt x="0" y="2453992"/>
                  <a:pt x="0" y="2369827"/>
                </a:cubicBezTo>
                <a:lnTo>
                  <a:pt x="0" y="152393"/>
                </a:lnTo>
                <a:cubicBezTo>
                  <a:pt x="0" y="68228"/>
                  <a:pt x="68228" y="0"/>
                  <a:pt x="152393" y="0"/>
                </a:cubicBezTo>
                <a:close/>
              </a:path>
            </a:pathLst>
          </a:custGeom>
          <a:gradFill flip="none" rotWithShape="1">
            <a:gsLst>
              <a:gs pos="0">
                <a:srgbClr val="232F3E">
                  <a:alpha val="80000"/>
                </a:srgbClr>
              </a:gs>
              <a:gs pos="100000">
                <a:srgbClr val="232F3E">
                  <a:alpha val="40000"/>
                </a:srgbClr>
              </a:gs>
            </a:gsLst>
            <a:lin ang="2700000" scaled="1"/>
          </a:gradFill>
          <a:ln w="10160">
            <a:solidFill>
              <a:srgbClr val="00A8E1">
                <a:alpha val="30196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9841" y="14554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A8E1"/>
              </a:gs>
              <a:gs pos="100000">
                <a:srgbClr val="00A8E1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14" name="Shape 12"/>
          <p:cNvSpPr/>
          <p:nvPr/>
        </p:nvSpPr>
        <p:spPr>
          <a:xfrm>
            <a:off x="4561284" y="158877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5011341" y="1576864"/>
            <a:ext cx="21526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AI-Driven Eligibility Scoring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39841" y="2026920"/>
            <a:ext cx="339090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Proprietary algorithm computes 0-100 eligibility scores by matching user profiles against scheme criteria with weighted factors for demographics, income, location, and more.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458891" y="343090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0A8E1"/>
          </a:solidFill>
          <a:ln/>
        </p:spPr>
      </p:sp>
      <p:sp>
        <p:nvSpPr>
          <p:cNvPr id="18" name="Text 16"/>
          <p:cNvSpPr/>
          <p:nvPr/>
        </p:nvSpPr>
        <p:spPr>
          <a:xfrm>
            <a:off x="4682728" y="3402330"/>
            <a:ext cx="1876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A8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Personalized recommendations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106371" y="1420654"/>
            <a:ext cx="3703320" cy="2362676"/>
          </a:xfrm>
          <a:custGeom>
            <a:avLst/>
            <a:gdLst/>
            <a:ahLst/>
            <a:cxnLst/>
            <a:rect l="l" t="t" r="r" b="b"/>
            <a:pathLst>
              <a:path w="3703320" h="2522220">
                <a:moveTo>
                  <a:pt x="152393" y="0"/>
                </a:moveTo>
                <a:lnTo>
                  <a:pt x="3550927" y="0"/>
                </a:lnTo>
                <a:cubicBezTo>
                  <a:pt x="3635092" y="0"/>
                  <a:pt x="3703320" y="68228"/>
                  <a:pt x="3703320" y="152393"/>
                </a:cubicBezTo>
                <a:lnTo>
                  <a:pt x="3703320" y="2369827"/>
                </a:lnTo>
                <a:cubicBezTo>
                  <a:pt x="3703320" y="2453992"/>
                  <a:pt x="3635092" y="2522220"/>
                  <a:pt x="3550927" y="2522220"/>
                </a:cubicBezTo>
                <a:lnTo>
                  <a:pt x="152393" y="2522220"/>
                </a:lnTo>
                <a:cubicBezTo>
                  <a:pt x="68228" y="2522220"/>
                  <a:pt x="0" y="2453992"/>
                  <a:pt x="0" y="2369827"/>
                </a:cubicBezTo>
                <a:lnTo>
                  <a:pt x="0" y="152393"/>
                </a:lnTo>
                <a:cubicBezTo>
                  <a:pt x="0" y="68228"/>
                  <a:pt x="68228" y="0"/>
                  <a:pt x="152393" y="0"/>
                </a:cubicBezTo>
                <a:close/>
              </a:path>
            </a:pathLst>
          </a:custGeom>
          <a:gradFill flip="none" rotWithShape="1">
            <a:gsLst>
              <a:gs pos="0">
                <a:srgbClr val="232F3E">
                  <a:alpha val="80000"/>
                </a:srgbClr>
              </a:gs>
              <a:gs pos="100000">
                <a:srgbClr val="232F3E">
                  <a:alpha val="40000"/>
                </a:srgbClr>
              </a:gs>
            </a:gsLst>
            <a:lin ang="2700000" scaled="1"/>
          </a:gradFill>
          <a:ln w="10160">
            <a:solidFill>
              <a:srgbClr val="FF9900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00681" y="14554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9900"/>
              </a:gs>
              <a:gs pos="100000">
                <a:srgbClr val="FF9900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21" name="Shape 19"/>
          <p:cNvSpPr/>
          <p:nvPr/>
        </p:nvSpPr>
        <p:spPr>
          <a:xfrm>
            <a:off x="8410218" y="158877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23850" y="23812"/>
                </a:moveTo>
                <a:cubicBezTo>
                  <a:pt x="23850" y="10678"/>
                  <a:pt x="34528" y="0"/>
                  <a:pt x="47662" y="0"/>
                </a:cubicBezTo>
                <a:lnTo>
                  <a:pt x="103287" y="0"/>
                </a:lnTo>
                <a:cubicBezTo>
                  <a:pt x="109612" y="0"/>
                  <a:pt x="115677" y="2493"/>
                  <a:pt x="120142" y="6958"/>
                </a:cubicBezTo>
                <a:lnTo>
                  <a:pt x="159730" y="46620"/>
                </a:lnTo>
                <a:cubicBezTo>
                  <a:pt x="164195" y="51085"/>
                  <a:pt x="166688" y="57150"/>
                  <a:pt x="166688" y="63475"/>
                </a:cubicBezTo>
                <a:lnTo>
                  <a:pt x="166688" y="99752"/>
                </a:lnTo>
                <a:lnTo>
                  <a:pt x="117574" y="148865"/>
                </a:lnTo>
                <a:lnTo>
                  <a:pt x="101910" y="148865"/>
                </a:lnTo>
                <a:lnTo>
                  <a:pt x="95920" y="128922"/>
                </a:lnTo>
                <a:cubicBezTo>
                  <a:pt x="94171" y="123081"/>
                  <a:pt x="88813" y="119100"/>
                  <a:pt x="82711" y="119100"/>
                </a:cubicBezTo>
                <a:cubicBezTo>
                  <a:pt x="78507" y="119100"/>
                  <a:pt x="74563" y="120997"/>
                  <a:pt x="71958" y="124271"/>
                </a:cubicBezTo>
                <a:lnTo>
                  <a:pt x="49597" y="152177"/>
                </a:lnTo>
                <a:cubicBezTo>
                  <a:pt x="46509" y="156009"/>
                  <a:pt x="47141" y="161665"/>
                  <a:pt x="50974" y="164716"/>
                </a:cubicBezTo>
                <a:cubicBezTo>
                  <a:pt x="54806" y="167767"/>
                  <a:pt x="60461" y="167171"/>
                  <a:pt x="63512" y="163302"/>
                </a:cubicBezTo>
                <a:lnTo>
                  <a:pt x="81037" y="141424"/>
                </a:lnTo>
                <a:lnTo>
                  <a:pt x="86692" y="160288"/>
                </a:lnTo>
                <a:cubicBezTo>
                  <a:pt x="87809" y="164083"/>
                  <a:pt x="91306" y="166650"/>
                  <a:pt x="95250" y="166650"/>
                </a:cubicBezTo>
                <a:lnTo>
                  <a:pt x="106970" y="166650"/>
                </a:lnTo>
                <a:cubicBezTo>
                  <a:pt x="106635" y="167804"/>
                  <a:pt x="106338" y="168994"/>
                  <a:pt x="106114" y="170185"/>
                </a:cubicBezTo>
                <a:lnTo>
                  <a:pt x="102059" y="190463"/>
                </a:lnTo>
                <a:lnTo>
                  <a:pt x="47662" y="190463"/>
                </a:lnTo>
                <a:cubicBezTo>
                  <a:pt x="34528" y="190463"/>
                  <a:pt x="23850" y="179784"/>
                  <a:pt x="23850" y="166650"/>
                </a:cubicBezTo>
                <a:lnTo>
                  <a:pt x="23850" y="23775"/>
                </a:lnTo>
                <a:close/>
                <a:moveTo>
                  <a:pt x="101240" y="21766"/>
                </a:moveTo>
                <a:lnTo>
                  <a:pt x="101240" y="56555"/>
                </a:lnTo>
                <a:cubicBezTo>
                  <a:pt x="101240" y="61503"/>
                  <a:pt x="105221" y="65484"/>
                  <a:pt x="110170" y="65484"/>
                </a:cubicBezTo>
                <a:lnTo>
                  <a:pt x="144959" y="65484"/>
                </a:lnTo>
                <a:lnTo>
                  <a:pt x="101240" y="21766"/>
                </a:lnTo>
                <a:close/>
                <a:moveTo>
                  <a:pt x="123639" y="173720"/>
                </a:moveTo>
                <a:cubicBezTo>
                  <a:pt x="124569" y="169106"/>
                  <a:pt x="126839" y="164864"/>
                  <a:pt x="130150" y="161553"/>
                </a:cubicBezTo>
                <a:lnTo>
                  <a:pt x="174389" y="117314"/>
                </a:lnTo>
                <a:lnTo>
                  <a:pt x="204155" y="147079"/>
                </a:lnTo>
                <a:lnTo>
                  <a:pt x="159916" y="191319"/>
                </a:lnTo>
                <a:cubicBezTo>
                  <a:pt x="156604" y="194630"/>
                  <a:pt x="152363" y="196900"/>
                  <a:pt x="147749" y="197830"/>
                </a:cubicBezTo>
                <a:lnTo>
                  <a:pt x="125574" y="202257"/>
                </a:lnTo>
                <a:cubicBezTo>
                  <a:pt x="125239" y="202332"/>
                  <a:pt x="124867" y="202369"/>
                  <a:pt x="124495" y="202369"/>
                </a:cubicBezTo>
                <a:cubicBezTo>
                  <a:pt x="121518" y="202369"/>
                  <a:pt x="119063" y="199951"/>
                  <a:pt x="119063" y="196937"/>
                </a:cubicBezTo>
                <a:cubicBezTo>
                  <a:pt x="119063" y="196565"/>
                  <a:pt x="119100" y="196230"/>
                  <a:pt x="119174" y="195858"/>
                </a:cubicBezTo>
                <a:lnTo>
                  <a:pt x="123602" y="173682"/>
                </a:lnTo>
                <a:close/>
                <a:moveTo>
                  <a:pt x="223279" y="127955"/>
                </a:moveTo>
                <a:lnTo>
                  <a:pt x="212564" y="138671"/>
                </a:lnTo>
                <a:lnTo>
                  <a:pt x="182798" y="108905"/>
                </a:lnTo>
                <a:lnTo>
                  <a:pt x="193514" y="98189"/>
                </a:lnTo>
                <a:cubicBezTo>
                  <a:pt x="201737" y="89967"/>
                  <a:pt x="215057" y="89967"/>
                  <a:pt x="223279" y="98189"/>
                </a:cubicBezTo>
                <a:cubicBezTo>
                  <a:pt x="231502" y="106412"/>
                  <a:pt x="231502" y="119732"/>
                  <a:pt x="223279" y="12795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8872181" y="1576864"/>
            <a:ext cx="25431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Intelligent Document Processing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00681" y="2026920"/>
            <a:ext cx="339090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Amazon Textract OCR extracts form fields, explains them in simple language, auto-fills from user profiles with 90%+ accuracy, and validates before submission.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19731" y="343090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25" name="Text 23"/>
          <p:cNvSpPr/>
          <p:nvPr/>
        </p:nvSpPr>
        <p:spPr>
          <a:xfrm>
            <a:off x="8543568" y="3402330"/>
            <a:ext cx="2305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Reduces form completion time by 70%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84810" y="3947160"/>
            <a:ext cx="3703320" cy="2522220"/>
          </a:xfrm>
          <a:custGeom>
            <a:avLst/>
            <a:gdLst/>
            <a:ahLst/>
            <a:cxnLst/>
            <a:rect l="l" t="t" r="r" b="b"/>
            <a:pathLst>
              <a:path w="3703320" h="2522220">
                <a:moveTo>
                  <a:pt x="152393" y="0"/>
                </a:moveTo>
                <a:lnTo>
                  <a:pt x="3550927" y="0"/>
                </a:lnTo>
                <a:cubicBezTo>
                  <a:pt x="3635092" y="0"/>
                  <a:pt x="3703320" y="68228"/>
                  <a:pt x="3703320" y="152393"/>
                </a:cubicBezTo>
                <a:lnTo>
                  <a:pt x="3703320" y="2369827"/>
                </a:lnTo>
                <a:cubicBezTo>
                  <a:pt x="3703320" y="2453992"/>
                  <a:pt x="3635092" y="2522220"/>
                  <a:pt x="3550927" y="2522220"/>
                </a:cubicBezTo>
                <a:lnTo>
                  <a:pt x="152393" y="2522220"/>
                </a:lnTo>
                <a:cubicBezTo>
                  <a:pt x="68228" y="2522220"/>
                  <a:pt x="0" y="2453992"/>
                  <a:pt x="0" y="2369827"/>
                </a:cubicBezTo>
                <a:lnTo>
                  <a:pt x="0" y="152393"/>
                </a:lnTo>
                <a:cubicBezTo>
                  <a:pt x="0" y="68228"/>
                  <a:pt x="68228" y="0"/>
                  <a:pt x="152393" y="0"/>
                </a:cubicBezTo>
                <a:close/>
              </a:path>
            </a:pathLst>
          </a:custGeom>
          <a:gradFill flip="none" rotWithShape="1">
            <a:gsLst>
              <a:gs pos="0">
                <a:srgbClr val="232F3E">
                  <a:alpha val="80000"/>
                </a:srgbClr>
              </a:gs>
              <a:gs pos="100000">
                <a:srgbClr val="232F3E">
                  <a:alpha val="40000"/>
                </a:srgbClr>
              </a:gs>
            </a:gsLst>
            <a:lin ang="2700000" scaled="1"/>
          </a:gradFill>
          <a:ln w="10160">
            <a:solidFill>
              <a:srgbClr val="00A8E1">
                <a:alpha val="3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9120" y="414147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A8E1"/>
              </a:gs>
              <a:gs pos="100000">
                <a:srgbClr val="00A8E1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28" name="Shape 26"/>
          <p:cNvSpPr/>
          <p:nvPr/>
        </p:nvSpPr>
        <p:spPr>
          <a:xfrm>
            <a:off x="736283" y="427482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71438" y="0"/>
                </a:moveTo>
                <a:cubicBezTo>
                  <a:pt x="51718" y="0"/>
                  <a:pt x="35719" y="15999"/>
                  <a:pt x="35719" y="35719"/>
                </a:cubicBezTo>
                <a:lnTo>
                  <a:pt x="35719" y="83344"/>
                </a:lnTo>
                <a:cubicBezTo>
                  <a:pt x="35719" y="103063"/>
                  <a:pt x="51718" y="119063"/>
                  <a:pt x="71438" y="119063"/>
                </a:cubicBezTo>
                <a:cubicBezTo>
                  <a:pt x="91157" y="119063"/>
                  <a:pt x="107156" y="103063"/>
                  <a:pt x="107156" y="83344"/>
                </a:cubicBezTo>
                <a:lnTo>
                  <a:pt x="107156" y="35719"/>
                </a:lnTo>
                <a:cubicBezTo>
                  <a:pt x="107156" y="15999"/>
                  <a:pt x="91157" y="0"/>
                  <a:pt x="71438" y="0"/>
                </a:cubicBezTo>
                <a:close/>
                <a:moveTo>
                  <a:pt x="17859" y="68461"/>
                </a:moveTo>
                <a:cubicBezTo>
                  <a:pt x="17859" y="63512"/>
                  <a:pt x="13878" y="59531"/>
                  <a:pt x="8930" y="59531"/>
                </a:cubicBezTo>
                <a:cubicBezTo>
                  <a:pt x="3981" y="59531"/>
                  <a:pt x="0" y="63512"/>
                  <a:pt x="0" y="68461"/>
                </a:cubicBezTo>
                <a:lnTo>
                  <a:pt x="0" y="83344"/>
                </a:lnTo>
                <a:cubicBezTo>
                  <a:pt x="0" y="119769"/>
                  <a:pt x="27273" y="149833"/>
                  <a:pt x="62508" y="154223"/>
                </a:cubicBezTo>
                <a:lnTo>
                  <a:pt x="62508" y="172641"/>
                </a:lnTo>
                <a:lnTo>
                  <a:pt x="44648" y="172641"/>
                </a:lnTo>
                <a:cubicBezTo>
                  <a:pt x="39700" y="172641"/>
                  <a:pt x="35719" y="176622"/>
                  <a:pt x="35719" y="181570"/>
                </a:cubicBezTo>
                <a:cubicBezTo>
                  <a:pt x="35719" y="186519"/>
                  <a:pt x="39700" y="190500"/>
                  <a:pt x="44648" y="190500"/>
                </a:cubicBezTo>
                <a:lnTo>
                  <a:pt x="98227" y="190500"/>
                </a:lnTo>
                <a:cubicBezTo>
                  <a:pt x="103175" y="190500"/>
                  <a:pt x="107156" y="186519"/>
                  <a:pt x="107156" y="181570"/>
                </a:cubicBezTo>
                <a:cubicBezTo>
                  <a:pt x="107156" y="176622"/>
                  <a:pt x="103175" y="172641"/>
                  <a:pt x="98227" y="172641"/>
                </a:cubicBezTo>
                <a:lnTo>
                  <a:pt x="80367" y="172641"/>
                </a:lnTo>
                <a:lnTo>
                  <a:pt x="80367" y="154223"/>
                </a:lnTo>
                <a:cubicBezTo>
                  <a:pt x="115602" y="149833"/>
                  <a:pt x="142875" y="119769"/>
                  <a:pt x="142875" y="83344"/>
                </a:cubicBezTo>
                <a:lnTo>
                  <a:pt x="142875" y="68461"/>
                </a:lnTo>
                <a:cubicBezTo>
                  <a:pt x="142875" y="63512"/>
                  <a:pt x="138894" y="59531"/>
                  <a:pt x="133945" y="59531"/>
                </a:cubicBezTo>
                <a:cubicBezTo>
                  <a:pt x="128997" y="59531"/>
                  <a:pt x="125016" y="63512"/>
                  <a:pt x="125016" y="68461"/>
                </a:cubicBezTo>
                <a:lnTo>
                  <a:pt x="125016" y="83344"/>
                </a:lnTo>
                <a:cubicBezTo>
                  <a:pt x="125016" y="112923"/>
                  <a:pt x="101017" y="136922"/>
                  <a:pt x="71438" y="136922"/>
                </a:cubicBezTo>
                <a:cubicBezTo>
                  <a:pt x="41858" y="136922"/>
                  <a:pt x="17859" y="112923"/>
                  <a:pt x="17859" y="83344"/>
                </a:cubicBezTo>
                <a:lnTo>
                  <a:pt x="17859" y="6846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1150620" y="4262914"/>
            <a:ext cx="1714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Voice Interface for All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79120" y="4712970"/>
            <a:ext cx="339090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Amazon Transcribe and Polly enable voice-based interactions for low-literacy users, supporting 10 languages with adjustable speech rates for better comprehension.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98170" y="611695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0A8E1"/>
          </a:solidFill>
          <a:ln/>
        </p:spPr>
      </p:sp>
      <p:sp>
        <p:nvSpPr>
          <p:cNvPr id="32" name="Text 30"/>
          <p:cNvSpPr/>
          <p:nvPr/>
        </p:nvSpPr>
        <p:spPr>
          <a:xfrm>
            <a:off x="822008" y="6088380"/>
            <a:ext cx="147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A8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Accessibility-first design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245531" y="3947160"/>
            <a:ext cx="3703320" cy="2522220"/>
          </a:xfrm>
          <a:custGeom>
            <a:avLst/>
            <a:gdLst/>
            <a:ahLst/>
            <a:cxnLst/>
            <a:rect l="l" t="t" r="r" b="b"/>
            <a:pathLst>
              <a:path w="3703320" h="2522220">
                <a:moveTo>
                  <a:pt x="152393" y="0"/>
                </a:moveTo>
                <a:lnTo>
                  <a:pt x="3550927" y="0"/>
                </a:lnTo>
                <a:cubicBezTo>
                  <a:pt x="3635092" y="0"/>
                  <a:pt x="3703320" y="68228"/>
                  <a:pt x="3703320" y="152393"/>
                </a:cubicBezTo>
                <a:lnTo>
                  <a:pt x="3703320" y="2369827"/>
                </a:lnTo>
                <a:cubicBezTo>
                  <a:pt x="3703320" y="2453992"/>
                  <a:pt x="3635092" y="2522220"/>
                  <a:pt x="3550927" y="2522220"/>
                </a:cubicBezTo>
                <a:lnTo>
                  <a:pt x="152393" y="2522220"/>
                </a:lnTo>
                <a:cubicBezTo>
                  <a:pt x="68228" y="2522220"/>
                  <a:pt x="0" y="2453992"/>
                  <a:pt x="0" y="2369827"/>
                </a:cubicBezTo>
                <a:lnTo>
                  <a:pt x="0" y="152393"/>
                </a:lnTo>
                <a:cubicBezTo>
                  <a:pt x="0" y="68228"/>
                  <a:pt x="68228" y="0"/>
                  <a:pt x="152393" y="0"/>
                </a:cubicBezTo>
                <a:close/>
              </a:path>
            </a:pathLst>
          </a:custGeom>
          <a:gradFill flip="none" rotWithShape="1">
            <a:gsLst>
              <a:gs pos="0">
                <a:srgbClr val="232F3E">
                  <a:alpha val="80000"/>
                </a:srgbClr>
              </a:gs>
              <a:gs pos="100000">
                <a:srgbClr val="232F3E">
                  <a:alpha val="40000"/>
                </a:srgbClr>
              </a:gs>
            </a:gsLst>
            <a:lin ang="2700000" scaled="1"/>
          </a:gradFill>
          <a:ln w="10160">
            <a:solidFill>
              <a:srgbClr val="FF99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4" name="Shape 32"/>
          <p:cNvSpPr/>
          <p:nvPr/>
        </p:nvSpPr>
        <p:spPr>
          <a:xfrm>
            <a:off x="4439841" y="414147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9900"/>
              </a:gs>
              <a:gs pos="100000">
                <a:srgbClr val="FF9900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35" name="Shape 33"/>
          <p:cNvSpPr/>
          <p:nvPr/>
        </p:nvSpPr>
        <p:spPr>
          <a:xfrm>
            <a:off x="4561284" y="427482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56083" y="35719"/>
                </a:moveTo>
                <a:cubicBezTo>
                  <a:pt x="149907" y="35719"/>
                  <a:pt x="143917" y="37393"/>
                  <a:pt x="138671" y="40444"/>
                </a:cubicBezTo>
                <a:cubicBezTo>
                  <a:pt x="132792" y="34491"/>
                  <a:pt x="125946" y="29505"/>
                  <a:pt x="118393" y="25747"/>
                </a:cubicBezTo>
                <a:cubicBezTo>
                  <a:pt x="128885" y="16818"/>
                  <a:pt x="142242" y="11906"/>
                  <a:pt x="156083" y="11906"/>
                </a:cubicBezTo>
                <a:cubicBezTo>
                  <a:pt x="188230" y="11906"/>
                  <a:pt x="214313" y="37951"/>
                  <a:pt x="214313" y="70135"/>
                </a:cubicBezTo>
                <a:cubicBezTo>
                  <a:pt x="214313" y="85576"/>
                  <a:pt x="208173" y="100385"/>
                  <a:pt x="197272" y="111286"/>
                </a:cubicBezTo>
                <a:lnTo>
                  <a:pt x="170817" y="137740"/>
                </a:lnTo>
                <a:cubicBezTo>
                  <a:pt x="159916" y="148642"/>
                  <a:pt x="145107" y="154781"/>
                  <a:pt x="129667" y="154781"/>
                </a:cubicBezTo>
                <a:cubicBezTo>
                  <a:pt x="97520" y="154781"/>
                  <a:pt x="71438" y="128736"/>
                  <a:pt x="71438" y="96552"/>
                </a:cubicBezTo>
                <a:cubicBezTo>
                  <a:pt x="71438" y="95994"/>
                  <a:pt x="71438" y="95436"/>
                  <a:pt x="71475" y="94878"/>
                </a:cubicBezTo>
                <a:cubicBezTo>
                  <a:pt x="71661" y="88292"/>
                  <a:pt x="77130" y="83121"/>
                  <a:pt x="83716" y="83307"/>
                </a:cubicBezTo>
                <a:cubicBezTo>
                  <a:pt x="90301" y="83493"/>
                  <a:pt x="95473" y="88962"/>
                  <a:pt x="95287" y="95548"/>
                </a:cubicBezTo>
                <a:cubicBezTo>
                  <a:pt x="95287" y="95883"/>
                  <a:pt x="95287" y="96217"/>
                  <a:pt x="95287" y="96515"/>
                </a:cubicBezTo>
                <a:cubicBezTo>
                  <a:pt x="95287" y="115528"/>
                  <a:pt x="110691" y="130932"/>
                  <a:pt x="129704" y="130932"/>
                </a:cubicBezTo>
                <a:cubicBezTo>
                  <a:pt x="138819" y="130932"/>
                  <a:pt x="147563" y="127322"/>
                  <a:pt x="154037" y="120848"/>
                </a:cubicBezTo>
                <a:lnTo>
                  <a:pt x="180491" y="94394"/>
                </a:lnTo>
                <a:cubicBezTo>
                  <a:pt x="186928" y="87957"/>
                  <a:pt x="190574" y="79177"/>
                  <a:pt x="190574" y="70061"/>
                </a:cubicBezTo>
                <a:cubicBezTo>
                  <a:pt x="190574" y="51048"/>
                  <a:pt x="175171" y="35644"/>
                  <a:pt x="156158" y="35644"/>
                </a:cubicBezTo>
                <a:close/>
                <a:moveTo>
                  <a:pt x="102394" y="64480"/>
                </a:moveTo>
                <a:cubicBezTo>
                  <a:pt x="101687" y="64182"/>
                  <a:pt x="100980" y="63773"/>
                  <a:pt x="100347" y="63326"/>
                </a:cubicBezTo>
                <a:cubicBezTo>
                  <a:pt x="95659" y="60908"/>
                  <a:pt x="90301" y="59531"/>
                  <a:pt x="84683" y="59531"/>
                </a:cubicBezTo>
                <a:cubicBezTo>
                  <a:pt x="75567" y="59531"/>
                  <a:pt x="66824" y="63140"/>
                  <a:pt x="60350" y="69614"/>
                </a:cubicBezTo>
                <a:lnTo>
                  <a:pt x="33896" y="96069"/>
                </a:lnTo>
                <a:cubicBezTo>
                  <a:pt x="27459" y="102505"/>
                  <a:pt x="23812" y="111286"/>
                  <a:pt x="23812" y="120402"/>
                </a:cubicBezTo>
                <a:cubicBezTo>
                  <a:pt x="23812" y="139415"/>
                  <a:pt x="39216" y="154818"/>
                  <a:pt x="58229" y="154818"/>
                </a:cubicBezTo>
                <a:cubicBezTo>
                  <a:pt x="64368" y="154818"/>
                  <a:pt x="70358" y="153181"/>
                  <a:pt x="75605" y="150130"/>
                </a:cubicBezTo>
                <a:cubicBezTo>
                  <a:pt x="81483" y="156083"/>
                  <a:pt x="88329" y="161069"/>
                  <a:pt x="95920" y="164827"/>
                </a:cubicBezTo>
                <a:cubicBezTo>
                  <a:pt x="85427" y="173720"/>
                  <a:pt x="72107" y="178668"/>
                  <a:pt x="58229" y="178668"/>
                </a:cubicBezTo>
                <a:cubicBezTo>
                  <a:pt x="26082" y="178668"/>
                  <a:pt x="0" y="152623"/>
                  <a:pt x="0" y="120439"/>
                </a:cubicBezTo>
                <a:cubicBezTo>
                  <a:pt x="0" y="104998"/>
                  <a:pt x="6139" y="90190"/>
                  <a:pt x="17041" y="79288"/>
                </a:cubicBezTo>
                <a:lnTo>
                  <a:pt x="43495" y="52834"/>
                </a:lnTo>
                <a:cubicBezTo>
                  <a:pt x="54397" y="41932"/>
                  <a:pt x="69205" y="35793"/>
                  <a:pt x="84646" y="35793"/>
                </a:cubicBezTo>
                <a:cubicBezTo>
                  <a:pt x="116867" y="35793"/>
                  <a:pt x="142875" y="62061"/>
                  <a:pt x="142875" y="94171"/>
                </a:cubicBezTo>
                <a:cubicBezTo>
                  <a:pt x="142875" y="94655"/>
                  <a:pt x="142875" y="95138"/>
                  <a:pt x="142875" y="95622"/>
                </a:cubicBezTo>
                <a:cubicBezTo>
                  <a:pt x="142726" y="102208"/>
                  <a:pt x="137257" y="107379"/>
                  <a:pt x="130671" y="107231"/>
                </a:cubicBezTo>
                <a:cubicBezTo>
                  <a:pt x="124085" y="107082"/>
                  <a:pt x="118914" y="101612"/>
                  <a:pt x="119063" y="95027"/>
                </a:cubicBezTo>
                <a:cubicBezTo>
                  <a:pt x="119063" y="94729"/>
                  <a:pt x="119063" y="94469"/>
                  <a:pt x="119063" y="94171"/>
                </a:cubicBezTo>
                <a:cubicBezTo>
                  <a:pt x="119063" y="81632"/>
                  <a:pt x="112365" y="70619"/>
                  <a:pt x="102394" y="6455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5011341" y="4262914"/>
            <a:ext cx="19716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Unified Portal Integration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439841" y="4712970"/>
            <a:ext cx="339090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Seamless integration with 100+ government portals, providing direct application links with pre-filled data and tracking application status across multiple systems.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458891" y="611695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39" name="Text 37"/>
          <p:cNvSpPr/>
          <p:nvPr/>
        </p:nvSpPr>
        <p:spPr>
          <a:xfrm>
            <a:off x="4682728" y="6088380"/>
            <a:ext cx="157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platform, all schemes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106371" y="3947160"/>
            <a:ext cx="3703320" cy="2522220"/>
          </a:xfrm>
          <a:custGeom>
            <a:avLst/>
            <a:gdLst/>
            <a:ahLst/>
            <a:cxnLst/>
            <a:rect l="l" t="t" r="r" b="b"/>
            <a:pathLst>
              <a:path w="3703320" h="2522220">
                <a:moveTo>
                  <a:pt x="152393" y="0"/>
                </a:moveTo>
                <a:lnTo>
                  <a:pt x="3550927" y="0"/>
                </a:lnTo>
                <a:cubicBezTo>
                  <a:pt x="3635092" y="0"/>
                  <a:pt x="3703320" y="68228"/>
                  <a:pt x="3703320" y="152393"/>
                </a:cubicBezTo>
                <a:lnTo>
                  <a:pt x="3703320" y="2369827"/>
                </a:lnTo>
                <a:cubicBezTo>
                  <a:pt x="3703320" y="2453992"/>
                  <a:pt x="3635092" y="2522220"/>
                  <a:pt x="3550927" y="2522220"/>
                </a:cubicBezTo>
                <a:lnTo>
                  <a:pt x="152393" y="2522220"/>
                </a:lnTo>
                <a:cubicBezTo>
                  <a:pt x="68228" y="2522220"/>
                  <a:pt x="0" y="2453992"/>
                  <a:pt x="0" y="2369827"/>
                </a:cubicBezTo>
                <a:lnTo>
                  <a:pt x="0" y="152393"/>
                </a:lnTo>
                <a:cubicBezTo>
                  <a:pt x="0" y="68228"/>
                  <a:pt x="68228" y="0"/>
                  <a:pt x="152393" y="0"/>
                </a:cubicBezTo>
                <a:close/>
              </a:path>
            </a:pathLst>
          </a:custGeom>
          <a:gradFill flip="none" rotWithShape="1">
            <a:gsLst>
              <a:gs pos="0">
                <a:srgbClr val="232F3E">
                  <a:alpha val="80000"/>
                </a:srgbClr>
              </a:gs>
              <a:gs pos="100000">
                <a:srgbClr val="232F3E">
                  <a:alpha val="40000"/>
                </a:srgbClr>
              </a:gs>
            </a:gsLst>
            <a:lin ang="2700000" scaled="1"/>
          </a:gradFill>
          <a:ln w="10160">
            <a:solidFill>
              <a:srgbClr val="00A8E1">
                <a:alpha val="30196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00681" y="414147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A8E1"/>
              </a:gs>
              <a:gs pos="100000">
                <a:srgbClr val="00A8E1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42" name="Shape 40"/>
          <p:cNvSpPr/>
          <p:nvPr/>
        </p:nvSpPr>
        <p:spPr>
          <a:xfrm>
            <a:off x="8434031" y="427482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8872181" y="4262914"/>
            <a:ext cx="20478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Enterprise-Grade Security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300681" y="4712970"/>
            <a:ext cx="339090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End-to-end encryption with AWS KMS, DPDPA 2023 compliance, RBAC access control, comprehensive audit logging, and user data export/deletion rights.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319731" y="611695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0A8E1"/>
          </a:solidFill>
          <a:ln/>
        </p:spPr>
      </p:sp>
      <p:sp>
        <p:nvSpPr>
          <p:cNvPr id="46" name="Text 44"/>
          <p:cNvSpPr/>
          <p:nvPr/>
        </p:nvSpPr>
        <p:spPr>
          <a:xfrm>
            <a:off x="8543568" y="6088380"/>
            <a:ext cx="107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A8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Privacy by design</a:t>
            </a:r>
            <a:endParaRPr lang="en-US" sz="1600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FB80DE35-21AF-2AFD-5E61-911052443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334" y="-14536"/>
            <a:ext cx="12192000" cy="66300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33400" y="685800"/>
            <a:ext cx="21336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400" y="958215"/>
            <a:ext cx="11363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Six core capabilities powering the platform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261110"/>
            <a:ext cx="3703320" cy="2522220"/>
          </a:xfrm>
          <a:custGeom>
            <a:avLst/>
            <a:gdLst/>
            <a:ahLst/>
            <a:cxnLst/>
            <a:rect l="l" t="t" r="r" b="b"/>
            <a:pathLst>
              <a:path w="3703320" h="2522220">
                <a:moveTo>
                  <a:pt x="152393" y="0"/>
                </a:moveTo>
                <a:lnTo>
                  <a:pt x="3550927" y="0"/>
                </a:lnTo>
                <a:cubicBezTo>
                  <a:pt x="3635092" y="0"/>
                  <a:pt x="3703320" y="68228"/>
                  <a:pt x="3703320" y="152393"/>
                </a:cubicBezTo>
                <a:lnTo>
                  <a:pt x="3703320" y="2369827"/>
                </a:lnTo>
                <a:cubicBezTo>
                  <a:pt x="3703320" y="2453992"/>
                  <a:pt x="3635092" y="2522220"/>
                  <a:pt x="3550927" y="2522220"/>
                </a:cubicBezTo>
                <a:lnTo>
                  <a:pt x="152393" y="2522220"/>
                </a:lnTo>
                <a:cubicBezTo>
                  <a:pt x="68228" y="2522220"/>
                  <a:pt x="0" y="2453992"/>
                  <a:pt x="0" y="2369827"/>
                </a:cubicBezTo>
                <a:lnTo>
                  <a:pt x="0" y="152393"/>
                </a:lnTo>
                <a:cubicBezTo>
                  <a:pt x="0" y="68228"/>
                  <a:pt x="68228" y="0"/>
                  <a:pt x="152393" y="0"/>
                </a:cubicBezTo>
                <a:close/>
              </a:path>
            </a:pathLst>
          </a:custGeom>
          <a:gradFill flip="none" rotWithShape="1">
            <a:gsLst>
              <a:gs pos="0">
                <a:srgbClr val="FF9900">
                  <a:alpha val="20000"/>
                </a:srgbClr>
              </a:gs>
              <a:gs pos="100000">
                <a:srgbClr val="FF9900">
                  <a:alpha val="5000"/>
                </a:srgbClr>
              </a:gs>
            </a:gsLst>
            <a:lin ang="2700000" scaled="1"/>
          </a:gradFill>
          <a:ln w="10160">
            <a:solidFill>
              <a:srgbClr val="FF990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9120" y="145542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FF9900"/>
              </a:gs>
              <a:gs pos="100000">
                <a:srgbClr val="FF9900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7" name="Shape 5"/>
          <p:cNvSpPr/>
          <p:nvPr/>
        </p:nvSpPr>
        <p:spPr>
          <a:xfrm>
            <a:off x="702945" y="160782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14345" y="110728"/>
                </a:moveTo>
                <a:cubicBezTo>
                  <a:pt x="143915" y="110728"/>
                  <a:pt x="167923" y="86721"/>
                  <a:pt x="167923" y="57150"/>
                </a:cubicBezTo>
                <a:cubicBezTo>
                  <a:pt x="167923" y="27579"/>
                  <a:pt x="143915" y="3572"/>
                  <a:pt x="114345" y="3572"/>
                </a:cubicBezTo>
                <a:cubicBezTo>
                  <a:pt x="84774" y="3572"/>
                  <a:pt x="60767" y="27579"/>
                  <a:pt x="60767" y="57150"/>
                </a:cubicBezTo>
                <a:cubicBezTo>
                  <a:pt x="60767" y="86721"/>
                  <a:pt x="84774" y="110728"/>
                  <a:pt x="114345" y="110728"/>
                </a:cubicBezTo>
                <a:close/>
                <a:moveTo>
                  <a:pt x="101084" y="135731"/>
                </a:moveTo>
                <a:cubicBezTo>
                  <a:pt x="57105" y="135731"/>
                  <a:pt x="21476" y="171361"/>
                  <a:pt x="21476" y="215339"/>
                </a:cubicBezTo>
                <a:cubicBezTo>
                  <a:pt x="21476" y="222662"/>
                  <a:pt x="27414" y="228600"/>
                  <a:pt x="34736" y="228600"/>
                </a:cubicBezTo>
                <a:lnTo>
                  <a:pt x="122471" y="228600"/>
                </a:lnTo>
                <a:lnTo>
                  <a:pt x="127337" y="204267"/>
                </a:lnTo>
                <a:cubicBezTo>
                  <a:pt x="129257" y="194578"/>
                  <a:pt x="134035" y="185693"/>
                  <a:pt x="141000" y="178728"/>
                </a:cubicBezTo>
                <a:lnTo>
                  <a:pt x="171048" y="148679"/>
                </a:lnTo>
                <a:cubicBezTo>
                  <a:pt x="158547" y="140509"/>
                  <a:pt x="143634" y="135776"/>
                  <a:pt x="127561" y="135776"/>
                </a:cubicBezTo>
                <a:lnTo>
                  <a:pt x="101039" y="135776"/>
                </a:lnTo>
                <a:close/>
                <a:moveTo>
                  <a:pt x="148367" y="208464"/>
                </a:moveTo>
                <a:lnTo>
                  <a:pt x="143054" y="235074"/>
                </a:lnTo>
                <a:cubicBezTo>
                  <a:pt x="142964" y="235476"/>
                  <a:pt x="142920" y="235922"/>
                  <a:pt x="142920" y="236369"/>
                </a:cubicBezTo>
                <a:cubicBezTo>
                  <a:pt x="142920" y="239941"/>
                  <a:pt x="145822" y="242888"/>
                  <a:pt x="149438" y="242888"/>
                </a:cubicBezTo>
                <a:cubicBezTo>
                  <a:pt x="149885" y="242888"/>
                  <a:pt x="150287" y="242843"/>
                  <a:pt x="150733" y="242754"/>
                </a:cubicBezTo>
                <a:lnTo>
                  <a:pt x="177344" y="237440"/>
                </a:lnTo>
                <a:cubicBezTo>
                  <a:pt x="182880" y="236324"/>
                  <a:pt x="187970" y="233601"/>
                  <a:pt x="191944" y="229627"/>
                </a:cubicBezTo>
                <a:lnTo>
                  <a:pt x="245031" y="176540"/>
                </a:lnTo>
                <a:lnTo>
                  <a:pt x="209312" y="140821"/>
                </a:lnTo>
                <a:lnTo>
                  <a:pt x="156225" y="193908"/>
                </a:lnTo>
                <a:cubicBezTo>
                  <a:pt x="152251" y="197882"/>
                  <a:pt x="149528" y="202972"/>
                  <a:pt x="148411" y="208508"/>
                </a:cubicBezTo>
                <a:close/>
                <a:moveTo>
                  <a:pt x="267935" y="153546"/>
                </a:moveTo>
                <a:cubicBezTo>
                  <a:pt x="277803" y="143679"/>
                  <a:pt x="277803" y="127695"/>
                  <a:pt x="267935" y="117827"/>
                </a:cubicBezTo>
                <a:cubicBezTo>
                  <a:pt x="258068" y="107960"/>
                  <a:pt x="242084" y="107960"/>
                  <a:pt x="232217" y="117827"/>
                </a:cubicBezTo>
                <a:lnTo>
                  <a:pt x="219358" y="130686"/>
                </a:lnTo>
                <a:lnTo>
                  <a:pt x="255077" y="166405"/>
                </a:lnTo>
                <a:lnTo>
                  <a:pt x="267935" y="15354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226820" y="1588770"/>
            <a:ext cx="1819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Profile Builder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9120" y="2103120"/>
            <a:ext cx="33909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Progressive questionnaire capturing demographics, location, education, employment, income, and family details with real-time completion tracking.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9120" y="3326130"/>
            <a:ext cx="895350" cy="266700"/>
          </a:xfrm>
          <a:custGeom>
            <a:avLst/>
            <a:gdLst/>
            <a:ahLst/>
            <a:cxnLst/>
            <a:rect l="l" t="t" r="r" b="b"/>
            <a:pathLst>
              <a:path w="895350" h="266700">
                <a:moveTo>
                  <a:pt x="133350" y="0"/>
                </a:moveTo>
                <a:lnTo>
                  <a:pt x="762000" y="0"/>
                </a:lnTo>
                <a:cubicBezTo>
                  <a:pt x="835598" y="0"/>
                  <a:pt x="895350" y="59752"/>
                  <a:pt x="895350" y="133350"/>
                </a:cubicBezTo>
                <a:lnTo>
                  <a:pt x="895350" y="133350"/>
                </a:lnTo>
                <a:cubicBezTo>
                  <a:pt x="895350" y="206948"/>
                  <a:pt x="835598" y="266700"/>
                  <a:pt x="7620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79120" y="3326130"/>
            <a:ext cx="9620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Progressive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547336" y="3326130"/>
            <a:ext cx="828675" cy="266700"/>
          </a:xfrm>
          <a:custGeom>
            <a:avLst/>
            <a:gdLst/>
            <a:ahLst/>
            <a:cxnLst/>
            <a:rect l="l" t="t" r="r" b="b"/>
            <a:pathLst>
              <a:path w="828675" h="266700">
                <a:moveTo>
                  <a:pt x="133350" y="0"/>
                </a:moveTo>
                <a:lnTo>
                  <a:pt x="695325" y="0"/>
                </a:lnTo>
                <a:cubicBezTo>
                  <a:pt x="768923" y="0"/>
                  <a:pt x="828675" y="59752"/>
                  <a:pt x="828675" y="133350"/>
                </a:cubicBezTo>
                <a:lnTo>
                  <a:pt x="828675" y="133350"/>
                </a:lnTo>
                <a:cubicBezTo>
                  <a:pt x="828675" y="206948"/>
                  <a:pt x="768923" y="266700"/>
                  <a:pt x="6953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547336" y="3326130"/>
            <a:ext cx="8953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Auto-save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45531" y="1261110"/>
            <a:ext cx="3703320" cy="2522220"/>
          </a:xfrm>
          <a:custGeom>
            <a:avLst/>
            <a:gdLst/>
            <a:ahLst/>
            <a:cxnLst/>
            <a:rect l="l" t="t" r="r" b="b"/>
            <a:pathLst>
              <a:path w="3703320" h="2522220">
                <a:moveTo>
                  <a:pt x="152393" y="0"/>
                </a:moveTo>
                <a:lnTo>
                  <a:pt x="3550927" y="0"/>
                </a:lnTo>
                <a:cubicBezTo>
                  <a:pt x="3635092" y="0"/>
                  <a:pt x="3703320" y="68228"/>
                  <a:pt x="3703320" y="152393"/>
                </a:cubicBezTo>
                <a:lnTo>
                  <a:pt x="3703320" y="2369827"/>
                </a:lnTo>
                <a:cubicBezTo>
                  <a:pt x="3703320" y="2453992"/>
                  <a:pt x="3635092" y="2522220"/>
                  <a:pt x="3550927" y="2522220"/>
                </a:cubicBezTo>
                <a:lnTo>
                  <a:pt x="152393" y="2522220"/>
                </a:lnTo>
                <a:cubicBezTo>
                  <a:pt x="68228" y="2522220"/>
                  <a:pt x="0" y="2453992"/>
                  <a:pt x="0" y="2369827"/>
                </a:cubicBezTo>
                <a:lnTo>
                  <a:pt x="0" y="152393"/>
                </a:lnTo>
                <a:cubicBezTo>
                  <a:pt x="0" y="68228"/>
                  <a:pt x="68228" y="0"/>
                  <a:pt x="152393" y="0"/>
                </a:cubicBezTo>
                <a:close/>
              </a:path>
            </a:pathLst>
          </a:custGeom>
          <a:gradFill flip="none" rotWithShape="1">
            <a:gsLst>
              <a:gs pos="0">
                <a:srgbClr val="00A8E1">
                  <a:alpha val="20000"/>
                </a:srgbClr>
              </a:gs>
              <a:gs pos="100000">
                <a:srgbClr val="00A8E1">
                  <a:alpha val="5000"/>
                </a:srgbClr>
              </a:gs>
            </a:gsLst>
            <a:lin ang="2700000" scaled="1"/>
          </a:gradFill>
          <a:ln w="10160">
            <a:solidFill>
              <a:srgbClr val="00A8E1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39841" y="145542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00A8E1"/>
              </a:gs>
              <a:gs pos="100000">
                <a:srgbClr val="00A8E1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16" name="Shape 14"/>
          <p:cNvSpPr/>
          <p:nvPr/>
        </p:nvSpPr>
        <p:spPr>
          <a:xfrm>
            <a:off x="4563666" y="160782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57163" y="0"/>
                </a:moveTo>
                <a:cubicBezTo>
                  <a:pt x="157163" y="-7903"/>
                  <a:pt x="150778" y="-14287"/>
                  <a:pt x="142875" y="-14287"/>
                </a:cubicBezTo>
                <a:cubicBezTo>
                  <a:pt x="134972" y="-14287"/>
                  <a:pt x="128588" y="-7903"/>
                  <a:pt x="128588" y="0"/>
                </a:cubicBezTo>
                <a:lnTo>
                  <a:pt x="128588" y="28575"/>
                </a:lnTo>
                <a:lnTo>
                  <a:pt x="85725" y="28575"/>
                </a:lnTo>
                <a:cubicBezTo>
                  <a:pt x="62061" y="28575"/>
                  <a:pt x="42863" y="47774"/>
                  <a:pt x="42863" y="71438"/>
                </a:cubicBezTo>
                <a:lnTo>
                  <a:pt x="42863" y="171450"/>
                </a:lnTo>
                <a:cubicBezTo>
                  <a:pt x="42863" y="195114"/>
                  <a:pt x="62061" y="214313"/>
                  <a:pt x="85725" y="214313"/>
                </a:cubicBezTo>
                <a:lnTo>
                  <a:pt x="200025" y="214313"/>
                </a:lnTo>
                <a:cubicBezTo>
                  <a:pt x="223689" y="214313"/>
                  <a:pt x="242888" y="195114"/>
                  <a:pt x="242888" y="171450"/>
                </a:cubicBezTo>
                <a:lnTo>
                  <a:pt x="242888" y="71438"/>
                </a:lnTo>
                <a:cubicBezTo>
                  <a:pt x="242888" y="47774"/>
                  <a:pt x="223689" y="28575"/>
                  <a:pt x="200025" y="28575"/>
                </a:cubicBezTo>
                <a:lnTo>
                  <a:pt x="157163" y="28575"/>
                </a:lnTo>
                <a:lnTo>
                  <a:pt x="157163" y="0"/>
                </a:lnTo>
                <a:close/>
                <a:moveTo>
                  <a:pt x="71438" y="164306"/>
                </a:moveTo>
                <a:cubicBezTo>
                  <a:pt x="71438" y="158368"/>
                  <a:pt x="76215" y="153591"/>
                  <a:pt x="82153" y="153591"/>
                </a:cubicBezTo>
                <a:lnTo>
                  <a:pt x="96441" y="153591"/>
                </a:lnTo>
                <a:cubicBezTo>
                  <a:pt x="102379" y="153591"/>
                  <a:pt x="107156" y="158368"/>
                  <a:pt x="107156" y="164306"/>
                </a:cubicBezTo>
                <a:cubicBezTo>
                  <a:pt x="107156" y="170244"/>
                  <a:pt x="102379" y="175022"/>
                  <a:pt x="96441" y="175022"/>
                </a:cubicBezTo>
                <a:lnTo>
                  <a:pt x="82153" y="175022"/>
                </a:lnTo>
                <a:cubicBezTo>
                  <a:pt x="76215" y="175022"/>
                  <a:pt x="71438" y="170244"/>
                  <a:pt x="71438" y="164306"/>
                </a:cubicBezTo>
                <a:close/>
                <a:moveTo>
                  <a:pt x="125016" y="164306"/>
                </a:moveTo>
                <a:cubicBezTo>
                  <a:pt x="125016" y="158368"/>
                  <a:pt x="129793" y="153591"/>
                  <a:pt x="135731" y="153591"/>
                </a:cubicBezTo>
                <a:lnTo>
                  <a:pt x="150019" y="153591"/>
                </a:lnTo>
                <a:cubicBezTo>
                  <a:pt x="155957" y="153591"/>
                  <a:pt x="160734" y="158368"/>
                  <a:pt x="160734" y="164306"/>
                </a:cubicBezTo>
                <a:cubicBezTo>
                  <a:pt x="160734" y="170244"/>
                  <a:pt x="155957" y="175022"/>
                  <a:pt x="150019" y="175022"/>
                </a:cubicBezTo>
                <a:lnTo>
                  <a:pt x="135731" y="175022"/>
                </a:lnTo>
                <a:cubicBezTo>
                  <a:pt x="129793" y="175022"/>
                  <a:pt x="125016" y="170244"/>
                  <a:pt x="125016" y="164306"/>
                </a:cubicBezTo>
                <a:close/>
                <a:moveTo>
                  <a:pt x="178594" y="164306"/>
                </a:moveTo>
                <a:cubicBezTo>
                  <a:pt x="178594" y="158368"/>
                  <a:pt x="183371" y="153591"/>
                  <a:pt x="189309" y="153591"/>
                </a:cubicBezTo>
                <a:lnTo>
                  <a:pt x="203597" y="153591"/>
                </a:lnTo>
                <a:cubicBezTo>
                  <a:pt x="209535" y="153591"/>
                  <a:pt x="214313" y="158368"/>
                  <a:pt x="214313" y="164306"/>
                </a:cubicBezTo>
                <a:cubicBezTo>
                  <a:pt x="214313" y="170244"/>
                  <a:pt x="209535" y="175022"/>
                  <a:pt x="203597" y="175022"/>
                </a:cubicBezTo>
                <a:lnTo>
                  <a:pt x="189309" y="175022"/>
                </a:lnTo>
                <a:cubicBezTo>
                  <a:pt x="183371" y="175022"/>
                  <a:pt x="178594" y="170244"/>
                  <a:pt x="178594" y="164306"/>
                </a:cubicBezTo>
                <a:close/>
                <a:moveTo>
                  <a:pt x="100013" y="78581"/>
                </a:moveTo>
                <a:cubicBezTo>
                  <a:pt x="111841" y="78581"/>
                  <a:pt x="121444" y="88184"/>
                  <a:pt x="121444" y="100013"/>
                </a:cubicBezTo>
                <a:cubicBezTo>
                  <a:pt x="121444" y="111841"/>
                  <a:pt x="111841" y="121444"/>
                  <a:pt x="100013" y="121444"/>
                </a:cubicBezTo>
                <a:cubicBezTo>
                  <a:pt x="88184" y="121444"/>
                  <a:pt x="78581" y="111841"/>
                  <a:pt x="78581" y="100013"/>
                </a:cubicBezTo>
                <a:cubicBezTo>
                  <a:pt x="78581" y="88184"/>
                  <a:pt x="88184" y="78581"/>
                  <a:pt x="100013" y="78581"/>
                </a:cubicBezTo>
                <a:close/>
                <a:moveTo>
                  <a:pt x="164306" y="100013"/>
                </a:moveTo>
                <a:cubicBezTo>
                  <a:pt x="164306" y="88184"/>
                  <a:pt x="173909" y="78581"/>
                  <a:pt x="185738" y="78581"/>
                </a:cubicBezTo>
                <a:cubicBezTo>
                  <a:pt x="197566" y="78581"/>
                  <a:pt x="207169" y="88184"/>
                  <a:pt x="207169" y="100013"/>
                </a:cubicBezTo>
                <a:cubicBezTo>
                  <a:pt x="207169" y="111841"/>
                  <a:pt x="197566" y="121444"/>
                  <a:pt x="185738" y="121444"/>
                </a:cubicBezTo>
                <a:cubicBezTo>
                  <a:pt x="173909" y="121444"/>
                  <a:pt x="164306" y="111841"/>
                  <a:pt x="164306" y="100013"/>
                </a:cubicBezTo>
                <a:close/>
                <a:moveTo>
                  <a:pt x="28575" y="100013"/>
                </a:move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142875"/>
                </a:lnTo>
                <a:cubicBezTo>
                  <a:pt x="0" y="150778"/>
                  <a:pt x="6385" y="157163"/>
                  <a:pt x="14288" y="157163"/>
                </a:cubicBezTo>
                <a:cubicBezTo>
                  <a:pt x="22190" y="157163"/>
                  <a:pt x="28575" y="150778"/>
                  <a:pt x="28575" y="142875"/>
                </a:cubicBezTo>
                <a:lnTo>
                  <a:pt x="28575" y="100013"/>
                </a:lnTo>
                <a:close/>
                <a:moveTo>
                  <a:pt x="271463" y="85725"/>
                </a:moveTo>
                <a:cubicBezTo>
                  <a:pt x="263560" y="85725"/>
                  <a:pt x="257175" y="92110"/>
                  <a:pt x="257175" y="100013"/>
                </a:cubicBezTo>
                <a:lnTo>
                  <a:pt x="257175" y="142875"/>
                </a:lnTo>
                <a:cubicBezTo>
                  <a:pt x="257175" y="150778"/>
                  <a:pt x="263560" y="157163"/>
                  <a:pt x="271463" y="157163"/>
                </a:cubicBezTo>
                <a:cubicBezTo>
                  <a:pt x="279365" y="157163"/>
                  <a:pt x="285750" y="150778"/>
                  <a:pt x="285750" y="142875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087541" y="1588770"/>
            <a:ext cx="1800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Chatbot with RAG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39841" y="2103120"/>
            <a:ext cx="33909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Conversational AI powered by Amazon Bedrock Claude 3 Sonnet with RAG pipeline for accurate, contextual responses about schemes and processes.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39841" y="3326130"/>
            <a:ext cx="1000125" cy="266700"/>
          </a:xfrm>
          <a:custGeom>
            <a:avLst/>
            <a:gdLst/>
            <a:ahLst/>
            <a:cxnLst/>
            <a:rect l="l" t="t" r="r" b="b"/>
            <a:pathLst>
              <a:path w="1000125" h="266700">
                <a:moveTo>
                  <a:pt x="133350" y="0"/>
                </a:moveTo>
                <a:lnTo>
                  <a:pt x="866775" y="0"/>
                </a:lnTo>
                <a:cubicBezTo>
                  <a:pt x="940373" y="0"/>
                  <a:pt x="1000125" y="59752"/>
                  <a:pt x="1000125" y="133350"/>
                </a:cubicBezTo>
                <a:lnTo>
                  <a:pt x="1000125" y="133350"/>
                </a:lnTo>
                <a:cubicBezTo>
                  <a:pt x="1000125" y="206948"/>
                  <a:pt x="940373" y="266700"/>
                  <a:pt x="8667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00A8E1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439841" y="3326130"/>
            <a:ext cx="10668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A8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Languages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512237" y="3326130"/>
            <a:ext cx="485775" cy="266700"/>
          </a:xfrm>
          <a:custGeom>
            <a:avLst/>
            <a:gdLst/>
            <a:ahLst/>
            <a:cxnLst/>
            <a:rect l="l" t="t" r="r" b="b"/>
            <a:pathLst>
              <a:path w="485775" h="266700">
                <a:moveTo>
                  <a:pt x="133350" y="0"/>
                </a:moveTo>
                <a:lnTo>
                  <a:pt x="352425" y="0"/>
                </a:lnTo>
                <a:cubicBezTo>
                  <a:pt x="426023" y="0"/>
                  <a:pt x="485775" y="59752"/>
                  <a:pt x="485775" y="133350"/>
                </a:cubicBezTo>
                <a:lnTo>
                  <a:pt x="485775" y="133350"/>
                </a:lnTo>
                <a:cubicBezTo>
                  <a:pt x="485775" y="206948"/>
                  <a:pt x="426023" y="266700"/>
                  <a:pt x="3524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00A8E1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512237" y="3326130"/>
            <a:ext cx="5524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A8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RAG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106371" y="1261110"/>
            <a:ext cx="3703320" cy="2522220"/>
          </a:xfrm>
          <a:custGeom>
            <a:avLst/>
            <a:gdLst/>
            <a:ahLst/>
            <a:cxnLst/>
            <a:rect l="l" t="t" r="r" b="b"/>
            <a:pathLst>
              <a:path w="3703320" h="2522220">
                <a:moveTo>
                  <a:pt x="152393" y="0"/>
                </a:moveTo>
                <a:lnTo>
                  <a:pt x="3550927" y="0"/>
                </a:lnTo>
                <a:cubicBezTo>
                  <a:pt x="3635092" y="0"/>
                  <a:pt x="3703320" y="68228"/>
                  <a:pt x="3703320" y="152393"/>
                </a:cubicBezTo>
                <a:lnTo>
                  <a:pt x="3703320" y="2369827"/>
                </a:lnTo>
                <a:cubicBezTo>
                  <a:pt x="3703320" y="2453992"/>
                  <a:pt x="3635092" y="2522220"/>
                  <a:pt x="3550927" y="2522220"/>
                </a:cubicBezTo>
                <a:lnTo>
                  <a:pt x="152393" y="2522220"/>
                </a:lnTo>
                <a:cubicBezTo>
                  <a:pt x="68228" y="2522220"/>
                  <a:pt x="0" y="2453992"/>
                  <a:pt x="0" y="2369827"/>
                </a:cubicBezTo>
                <a:lnTo>
                  <a:pt x="0" y="152393"/>
                </a:lnTo>
                <a:cubicBezTo>
                  <a:pt x="0" y="68228"/>
                  <a:pt x="68228" y="0"/>
                  <a:pt x="152393" y="0"/>
                </a:cubicBezTo>
                <a:close/>
              </a:path>
            </a:pathLst>
          </a:custGeom>
          <a:gradFill flip="none" rotWithShape="1">
            <a:gsLst>
              <a:gs pos="0">
                <a:srgbClr val="FF9900">
                  <a:alpha val="20000"/>
                </a:srgbClr>
              </a:gs>
              <a:gs pos="100000">
                <a:srgbClr val="FF9900">
                  <a:alpha val="5000"/>
                </a:srgbClr>
              </a:gs>
            </a:gsLst>
            <a:lin ang="2700000" scaled="1"/>
          </a:gradFill>
          <a:ln w="10160">
            <a:solidFill>
              <a:srgbClr val="FF9900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00681" y="145542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FF9900"/>
              </a:gs>
              <a:gs pos="100000">
                <a:srgbClr val="FF9900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25" name="Shape 23"/>
          <p:cNvSpPr/>
          <p:nvPr/>
        </p:nvSpPr>
        <p:spPr>
          <a:xfrm>
            <a:off x="8453081" y="160782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8948381" y="1588770"/>
            <a:ext cx="1476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Eligibility Engine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00681" y="2103120"/>
            <a:ext cx="33909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AI-driven scoring algorithm matching user profiles against scheme criteria with 0-100 scores, ranking by eligibility × benefit × urgency.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300681" y="3326130"/>
            <a:ext cx="962025" cy="266700"/>
          </a:xfrm>
          <a:custGeom>
            <a:avLst/>
            <a:gdLst/>
            <a:ahLst/>
            <a:cxnLst/>
            <a:rect l="l" t="t" r="r" b="b"/>
            <a:pathLst>
              <a:path w="962025" h="266700">
                <a:moveTo>
                  <a:pt x="133350" y="0"/>
                </a:moveTo>
                <a:lnTo>
                  <a:pt x="828675" y="0"/>
                </a:lnTo>
                <a:cubicBezTo>
                  <a:pt x="902273" y="0"/>
                  <a:pt x="962025" y="59752"/>
                  <a:pt x="962025" y="133350"/>
                </a:cubicBezTo>
                <a:lnTo>
                  <a:pt x="962025" y="133350"/>
                </a:lnTo>
                <a:cubicBezTo>
                  <a:pt x="962025" y="206948"/>
                  <a:pt x="902273" y="266700"/>
                  <a:pt x="8286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8300681" y="3326130"/>
            <a:ext cx="10287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0-100 Score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336405" y="3326130"/>
            <a:ext cx="790575" cy="266700"/>
          </a:xfrm>
          <a:custGeom>
            <a:avLst/>
            <a:gdLst/>
            <a:ahLst/>
            <a:cxnLst/>
            <a:rect l="l" t="t" r="r" b="b"/>
            <a:pathLst>
              <a:path w="790575" h="266700">
                <a:moveTo>
                  <a:pt x="133350" y="0"/>
                </a:moveTo>
                <a:lnTo>
                  <a:pt x="657225" y="0"/>
                </a:lnTo>
                <a:cubicBezTo>
                  <a:pt x="730823" y="0"/>
                  <a:pt x="790575" y="59752"/>
                  <a:pt x="790575" y="133350"/>
                </a:cubicBezTo>
                <a:lnTo>
                  <a:pt x="790575" y="133350"/>
                </a:lnTo>
                <a:cubicBezTo>
                  <a:pt x="790575" y="206948"/>
                  <a:pt x="730823" y="266700"/>
                  <a:pt x="6572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9336405" y="3326130"/>
            <a:ext cx="8572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84810" y="3947160"/>
            <a:ext cx="3703320" cy="2522220"/>
          </a:xfrm>
          <a:custGeom>
            <a:avLst/>
            <a:gdLst/>
            <a:ahLst/>
            <a:cxnLst/>
            <a:rect l="l" t="t" r="r" b="b"/>
            <a:pathLst>
              <a:path w="3703320" h="2522220">
                <a:moveTo>
                  <a:pt x="152393" y="0"/>
                </a:moveTo>
                <a:lnTo>
                  <a:pt x="3550927" y="0"/>
                </a:lnTo>
                <a:cubicBezTo>
                  <a:pt x="3635092" y="0"/>
                  <a:pt x="3703320" y="68228"/>
                  <a:pt x="3703320" y="152393"/>
                </a:cubicBezTo>
                <a:lnTo>
                  <a:pt x="3703320" y="2369827"/>
                </a:lnTo>
                <a:cubicBezTo>
                  <a:pt x="3703320" y="2453992"/>
                  <a:pt x="3635092" y="2522220"/>
                  <a:pt x="3550927" y="2522220"/>
                </a:cubicBezTo>
                <a:lnTo>
                  <a:pt x="152393" y="2522220"/>
                </a:lnTo>
                <a:cubicBezTo>
                  <a:pt x="68228" y="2522220"/>
                  <a:pt x="0" y="2453992"/>
                  <a:pt x="0" y="2369827"/>
                </a:cubicBezTo>
                <a:lnTo>
                  <a:pt x="0" y="152393"/>
                </a:lnTo>
                <a:cubicBezTo>
                  <a:pt x="0" y="68228"/>
                  <a:pt x="68228" y="0"/>
                  <a:pt x="152393" y="0"/>
                </a:cubicBezTo>
                <a:close/>
              </a:path>
            </a:pathLst>
          </a:custGeom>
          <a:gradFill flip="none" rotWithShape="1">
            <a:gsLst>
              <a:gs pos="0">
                <a:srgbClr val="00A8E1">
                  <a:alpha val="20000"/>
                </a:srgbClr>
              </a:gs>
              <a:gs pos="100000">
                <a:srgbClr val="00A8E1">
                  <a:alpha val="5000"/>
                </a:srgbClr>
              </a:gs>
            </a:gsLst>
            <a:lin ang="2700000" scaled="1"/>
          </a:gradFill>
          <a:ln w="10160">
            <a:solidFill>
              <a:srgbClr val="00A8E1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79120" y="414147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00A8E1"/>
              </a:gs>
              <a:gs pos="100000">
                <a:srgbClr val="00A8E1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34" name="Shape 32"/>
          <p:cNvSpPr/>
          <p:nvPr/>
        </p:nvSpPr>
        <p:spPr>
          <a:xfrm>
            <a:off x="760095" y="429387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28575"/>
                </a:moveTo>
                <a:cubicBezTo>
                  <a:pt x="0" y="12814"/>
                  <a:pt x="12814" y="0"/>
                  <a:pt x="28575" y="0"/>
                </a:cubicBezTo>
                <a:lnTo>
                  <a:pt x="95324" y="0"/>
                </a:lnTo>
                <a:cubicBezTo>
                  <a:pt x="102915" y="0"/>
                  <a:pt x="110192" y="2991"/>
                  <a:pt x="115550" y="8349"/>
                </a:cubicBezTo>
                <a:lnTo>
                  <a:pt x="163101" y="55944"/>
                </a:lnTo>
                <a:cubicBezTo>
                  <a:pt x="168459" y="61302"/>
                  <a:pt x="171450" y="68580"/>
                  <a:pt x="171450" y="76170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28575"/>
                </a:lnTo>
                <a:close/>
                <a:moveTo>
                  <a:pt x="92869" y="26119"/>
                </a:moveTo>
                <a:lnTo>
                  <a:pt x="92869" y="67866"/>
                </a:lnTo>
                <a:cubicBezTo>
                  <a:pt x="92869" y="73804"/>
                  <a:pt x="97646" y="78581"/>
                  <a:pt x="103584" y="78581"/>
                </a:cubicBezTo>
                <a:lnTo>
                  <a:pt x="145331" y="78581"/>
                </a:lnTo>
                <a:lnTo>
                  <a:pt x="92869" y="26119"/>
                </a:lnTo>
                <a:close/>
                <a:moveTo>
                  <a:pt x="53578" y="114300"/>
                </a:moveTo>
                <a:cubicBezTo>
                  <a:pt x="47640" y="114300"/>
                  <a:pt x="42863" y="119077"/>
                  <a:pt x="42863" y="125016"/>
                </a:cubicBezTo>
                <a:cubicBezTo>
                  <a:pt x="42863" y="130954"/>
                  <a:pt x="47640" y="135731"/>
                  <a:pt x="53578" y="135731"/>
                </a:cubicBezTo>
                <a:lnTo>
                  <a:pt x="117872" y="135731"/>
                </a:lnTo>
                <a:cubicBezTo>
                  <a:pt x="123810" y="135731"/>
                  <a:pt x="128588" y="130954"/>
                  <a:pt x="128588" y="125016"/>
                </a:cubicBezTo>
                <a:cubicBezTo>
                  <a:pt x="128588" y="119077"/>
                  <a:pt x="123810" y="114300"/>
                  <a:pt x="117872" y="114300"/>
                </a:cubicBezTo>
                <a:lnTo>
                  <a:pt x="53578" y="114300"/>
                </a:lnTo>
                <a:close/>
                <a:moveTo>
                  <a:pt x="53578" y="157163"/>
                </a:moveTo>
                <a:cubicBezTo>
                  <a:pt x="47640" y="157163"/>
                  <a:pt x="42863" y="161940"/>
                  <a:pt x="42863" y="167878"/>
                </a:cubicBezTo>
                <a:cubicBezTo>
                  <a:pt x="42863" y="173816"/>
                  <a:pt x="47640" y="178594"/>
                  <a:pt x="53578" y="178594"/>
                </a:cubicBezTo>
                <a:lnTo>
                  <a:pt x="117872" y="178594"/>
                </a:lnTo>
                <a:cubicBezTo>
                  <a:pt x="123810" y="178594"/>
                  <a:pt x="128588" y="173816"/>
                  <a:pt x="128588" y="167878"/>
                </a:cubicBezTo>
                <a:cubicBezTo>
                  <a:pt x="128588" y="161940"/>
                  <a:pt x="123810" y="157163"/>
                  <a:pt x="117872" y="157163"/>
                </a:cubicBezTo>
                <a:lnTo>
                  <a:pt x="53578" y="15716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1226820" y="4274820"/>
            <a:ext cx="1981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 Intelligence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79120" y="4789170"/>
            <a:ext cx="33909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Amazon Textract OCR extracts text from forms, explains fields in simple language, auto-fills from profiles, and validates submissions.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79120" y="6012180"/>
            <a:ext cx="495300" cy="266700"/>
          </a:xfrm>
          <a:custGeom>
            <a:avLst/>
            <a:gdLst/>
            <a:ahLst/>
            <a:cxnLst/>
            <a:rect l="l" t="t" r="r" b="b"/>
            <a:pathLst>
              <a:path w="495300" h="266700">
                <a:moveTo>
                  <a:pt x="133350" y="0"/>
                </a:moveTo>
                <a:lnTo>
                  <a:pt x="361950" y="0"/>
                </a:lnTo>
                <a:cubicBezTo>
                  <a:pt x="435548" y="0"/>
                  <a:pt x="495300" y="59752"/>
                  <a:pt x="495300" y="133350"/>
                </a:cubicBezTo>
                <a:lnTo>
                  <a:pt x="495300" y="133350"/>
                </a:lnTo>
                <a:cubicBezTo>
                  <a:pt x="495300" y="206948"/>
                  <a:pt x="435548" y="266700"/>
                  <a:pt x="3619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00A8E1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579120" y="6012180"/>
            <a:ext cx="5619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A8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OCR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149787" y="6012180"/>
            <a:ext cx="704850" cy="266700"/>
          </a:xfrm>
          <a:custGeom>
            <a:avLst/>
            <a:gdLst/>
            <a:ahLst/>
            <a:cxnLst/>
            <a:rect l="l" t="t" r="r" b="b"/>
            <a:pathLst>
              <a:path w="704850" h="266700">
                <a:moveTo>
                  <a:pt x="133350" y="0"/>
                </a:moveTo>
                <a:lnTo>
                  <a:pt x="571500" y="0"/>
                </a:lnTo>
                <a:cubicBezTo>
                  <a:pt x="645098" y="0"/>
                  <a:pt x="704850" y="59752"/>
                  <a:pt x="704850" y="133350"/>
                </a:cubicBezTo>
                <a:lnTo>
                  <a:pt x="704850" y="133350"/>
                </a:lnTo>
                <a:cubicBezTo>
                  <a:pt x="704850" y="206948"/>
                  <a:pt x="645098" y="266700"/>
                  <a:pt x="5715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00A8E1">
              <a:alpha val="2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1149787" y="6012180"/>
            <a:ext cx="7715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A8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Auto-fill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245531" y="3947160"/>
            <a:ext cx="3703320" cy="2522220"/>
          </a:xfrm>
          <a:custGeom>
            <a:avLst/>
            <a:gdLst/>
            <a:ahLst/>
            <a:cxnLst/>
            <a:rect l="l" t="t" r="r" b="b"/>
            <a:pathLst>
              <a:path w="3703320" h="2522220">
                <a:moveTo>
                  <a:pt x="152393" y="0"/>
                </a:moveTo>
                <a:lnTo>
                  <a:pt x="3550927" y="0"/>
                </a:lnTo>
                <a:cubicBezTo>
                  <a:pt x="3635092" y="0"/>
                  <a:pt x="3703320" y="68228"/>
                  <a:pt x="3703320" y="152393"/>
                </a:cubicBezTo>
                <a:lnTo>
                  <a:pt x="3703320" y="2369827"/>
                </a:lnTo>
                <a:cubicBezTo>
                  <a:pt x="3703320" y="2453992"/>
                  <a:pt x="3635092" y="2522220"/>
                  <a:pt x="3550927" y="2522220"/>
                </a:cubicBezTo>
                <a:lnTo>
                  <a:pt x="152393" y="2522220"/>
                </a:lnTo>
                <a:cubicBezTo>
                  <a:pt x="68228" y="2522220"/>
                  <a:pt x="0" y="2453992"/>
                  <a:pt x="0" y="2369827"/>
                </a:cubicBezTo>
                <a:lnTo>
                  <a:pt x="0" y="152393"/>
                </a:lnTo>
                <a:cubicBezTo>
                  <a:pt x="0" y="68228"/>
                  <a:pt x="68228" y="0"/>
                  <a:pt x="152393" y="0"/>
                </a:cubicBezTo>
                <a:close/>
              </a:path>
            </a:pathLst>
          </a:custGeom>
          <a:gradFill flip="none" rotWithShape="1">
            <a:gsLst>
              <a:gs pos="0">
                <a:srgbClr val="FF9900">
                  <a:alpha val="20000"/>
                </a:srgbClr>
              </a:gs>
              <a:gs pos="100000">
                <a:srgbClr val="FF9900">
                  <a:alpha val="5000"/>
                </a:srgbClr>
              </a:gs>
            </a:gsLst>
            <a:lin ang="2700000" scaled="1"/>
          </a:gradFill>
          <a:ln w="10160">
            <a:solidFill>
              <a:srgbClr val="FF9900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39841" y="414147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FF9900"/>
              </a:gs>
              <a:gs pos="100000">
                <a:srgbClr val="FF9900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43" name="Shape 41"/>
          <p:cNvSpPr/>
          <p:nvPr/>
        </p:nvSpPr>
        <p:spPr>
          <a:xfrm>
            <a:off x="4606528" y="429387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71450" y="42863"/>
                </a:moveTo>
                <a:lnTo>
                  <a:pt x="114300" y="42863"/>
                </a:lnTo>
                <a:lnTo>
                  <a:pt x="114300" y="100013"/>
                </a:lnTo>
                <a:lnTo>
                  <a:pt x="171450" y="100013"/>
                </a:lnTo>
                <a:lnTo>
                  <a:pt x="171450" y="42863"/>
                </a:lnTo>
                <a:close/>
                <a:moveTo>
                  <a:pt x="200025" y="100013"/>
                </a:move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42863"/>
                </a:lnTo>
                <a:cubicBezTo>
                  <a:pt x="0" y="27102"/>
                  <a:pt x="12814" y="14288"/>
                  <a:pt x="28575" y="14288"/>
                </a:cubicBezTo>
                <a:lnTo>
                  <a:pt x="171450" y="14288"/>
                </a:lnTo>
                <a:cubicBezTo>
                  <a:pt x="187211" y="14288"/>
                  <a:pt x="200025" y="27102"/>
                  <a:pt x="200025" y="42863"/>
                </a:cubicBezTo>
                <a:lnTo>
                  <a:pt x="200025" y="100013"/>
                </a:lnTo>
                <a:close/>
                <a:moveTo>
                  <a:pt x="28575" y="128588"/>
                </a:moveTo>
                <a:lnTo>
                  <a:pt x="28575" y="185738"/>
                </a:lnTo>
                <a:lnTo>
                  <a:pt x="85725" y="185738"/>
                </a:lnTo>
                <a:lnTo>
                  <a:pt x="85725" y="128588"/>
                </a:lnTo>
                <a:lnTo>
                  <a:pt x="28575" y="128588"/>
                </a:lnTo>
                <a:close/>
                <a:moveTo>
                  <a:pt x="85725" y="100013"/>
                </a:moveTo>
                <a:lnTo>
                  <a:pt x="85725" y="42863"/>
                </a:lnTo>
                <a:lnTo>
                  <a:pt x="28575" y="42863"/>
                </a:lnTo>
                <a:lnTo>
                  <a:pt x="28575" y="100013"/>
                </a:lnTo>
                <a:lnTo>
                  <a:pt x="85725" y="100013"/>
                </a:lnTo>
                <a:close/>
                <a:moveTo>
                  <a:pt x="114300" y="128588"/>
                </a:moveTo>
                <a:lnTo>
                  <a:pt x="114300" y="185738"/>
                </a:lnTo>
                <a:lnTo>
                  <a:pt x="171450" y="185738"/>
                </a:lnTo>
                <a:lnTo>
                  <a:pt x="171450" y="128588"/>
                </a:lnTo>
                <a:lnTo>
                  <a:pt x="114300" y="12858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5087541" y="4274820"/>
            <a:ext cx="2124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Personalized Dashboard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439841" y="4789170"/>
            <a:ext cx="33909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Curated scheme recommendations ranked by relevance, AI-generated insights, urgent deadline alerts, and application status tracking.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439841" y="6012180"/>
            <a:ext cx="819150" cy="266700"/>
          </a:xfrm>
          <a:custGeom>
            <a:avLst/>
            <a:gdLst/>
            <a:ahLst/>
            <a:cxnLst/>
            <a:rect l="l" t="t" r="r" b="b"/>
            <a:pathLst>
              <a:path w="819150" h="266700">
                <a:moveTo>
                  <a:pt x="133350" y="0"/>
                </a:moveTo>
                <a:lnTo>
                  <a:pt x="685800" y="0"/>
                </a:lnTo>
                <a:cubicBezTo>
                  <a:pt x="759398" y="0"/>
                  <a:pt x="819150" y="59752"/>
                  <a:pt x="819150" y="133350"/>
                </a:cubicBezTo>
                <a:lnTo>
                  <a:pt x="819150" y="133350"/>
                </a:lnTo>
                <a:cubicBezTo>
                  <a:pt x="819150" y="206948"/>
                  <a:pt x="759398" y="266700"/>
                  <a:pt x="6858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4439841" y="6012180"/>
            <a:ext cx="8858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Insights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338406" y="6012180"/>
            <a:ext cx="714375" cy="266700"/>
          </a:xfrm>
          <a:custGeom>
            <a:avLst/>
            <a:gdLst/>
            <a:ahLst/>
            <a:cxnLst/>
            <a:rect l="l" t="t" r="r" b="b"/>
            <a:pathLst>
              <a:path w="714375" h="266700">
                <a:moveTo>
                  <a:pt x="133350" y="0"/>
                </a:moveTo>
                <a:lnTo>
                  <a:pt x="581025" y="0"/>
                </a:lnTo>
                <a:cubicBezTo>
                  <a:pt x="654623" y="0"/>
                  <a:pt x="714375" y="59752"/>
                  <a:pt x="714375" y="133350"/>
                </a:cubicBezTo>
                <a:lnTo>
                  <a:pt x="714375" y="133350"/>
                </a:lnTo>
                <a:cubicBezTo>
                  <a:pt x="714375" y="206948"/>
                  <a:pt x="654623" y="266700"/>
                  <a:pt x="5810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5338406" y="6012180"/>
            <a:ext cx="7810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Tracking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106371" y="3947160"/>
            <a:ext cx="3703320" cy="2522220"/>
          </a:xfrm>
          <a:custGeom>
            <a:avLst/>
            <a:gdLst/>
            <a:ahLst/>
            <a:cxnLst/>
            <a:rect l="l" t="t" r="r" b="b"/>
            <a:pathLst>
              <a:path w="3703320" h="2522220">
                <a:moveTo>
                  <a:pt x="152393" y="0"/>
                </a:moveTo>
                <a:lnTo>
                  <a:pt x="3550927" y="0"/>
                </a:lnTo>
                <a:cubicBezTo>
                  <a:pt x="3635092" y="0"/>
                  <a:pt x="3703320" y="68228"/>
                  <a:pt x="3703320" y="152393"/>
                </a:cubicBezTo>
                <a:lnTo>
                  <a:pt x="3703320" y="2369827"/>
                </a:lnTo>
                <a:cubicBezTo>
                  <a:pt x="3703320" y="2453992"/>
                  <a:pt x="3635092" y="2522220"/>
                  <a:pt x="3550927" y="2522220"/>
                </a:cubicBezTo>
                <a:lnTo>
                  <a:pt x="152393" y="2522220"/>
                </a:lnTo>
                <a:cubicBezTo>
                  <a:pt x="68228" y="2522220"/>
                  <a:pt x="0" y="2453992"/>
                  <a:pt x="0" y="2369827"/>
                </a:cubicBezTo>
                <a:lnTo>
                  <a:pt x="0" y="152393"/>
                </a:lnTo>
                <a:cubicBezTo>
                  <a:pt x="0" y="68228"/>
                  <a:pt x="68228" y="0"/>
                  <a:pt x="152393" y="0"/>
                </a:cubicBezTo>
                <a:close/>
              </a:path>
            </a:pathLst>
          </a:custGeom>
          <a:gradFill flip="none" rotWithShape="1">
            <a:gsLst>
              <a:gs pos="0">
                <a:srgbClr val="00A8E1">
                  <a:alpha val="20000"/>
                </a:srgbClr>
              </a:gs>
              <a:gs pos="100000">
                <a:srgbClr val="00A8E1">
                  <a:alpha val="5000"/>
                </a:srgbClr>
              </a:gs>
            </a:gsLst>
            <a:lin ang="2700000" scaled="1"/>
          </a:gradFill>
          <a:ln w="10160">
            <a:solidFill>
              <a:srgbClr val="00A8E1">
                <a:alpha val="4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300681" y="414147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00A8E1"/>
              </a:gs>
              <a:gs pos="100000">
                <a:srgbClr val="00A8E1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52" name="Shape 50"/>
          <p:cNvSpPr/>
          <p:nvPr/>
        </p:nvSpPr>
        <p:spPr>
          <a:xfrm>
            <a:off x="8481656" y="429387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85725" y="0"/>
                </a:moveTo>
                <a:cubicBezTo>
                  <a:pt x="62061" y="0"/>
                  <a:pt x="42863" y="19199"/>
                  <a:pt x="42863" y="42863"/>
                </a:cubicBezTo>
                <a:lnTo>
                  <a:pt x="42863" y="100013"/>
                </a:lnTo>
                <a:cubicBezTo>
                  <a:pt x="42863" y="123676"/>
                  <a:pt x="62061" y="142875"/>
                  <a:pt x="85725" y="142875"/>
                </a:cubicBezTo>
                <a:cubicBezTo>
                  <a:pt x="109389" y="142875"/>
                  <a:pt x="128588" y="123676"/>
                  <a:pt x="128588" y="100013"/>
                </a:cubicBezTo>
                <a:lnTo>
                  <a:pt x="128588" y="42863"/>
                </a:lnTo>
                <a:cubicBezTo>
                  <a:pt x="128588" y="19199"/>
                  <a:pt x="109389" y="0"/>
                  <a:pt x="85725" y="0"/>
                </a:cubicBezTo>
                <a:close/>
                <a:moveTo>
                  <a:pt x="21431" y="82153"/>
                </a:moveTo>
                <a:cubicBezTo>
                  <a:pt x="21431" y="76215"/>
                  <a:pt x="16654" y="71438"/>
                  <a:pt x="10716" y="71438"/>
                </a:cubicBezTo>
                <a:cubicBezTo>
                  <a:pt x="4777" y="71438"/>
                  <a:pt x="0" y="76215"/>
                  <a:pt x="0" y="82153"/>
                </a:cubicBezTo>
                <a:lnTo>
                  <a:pt x="0" y="100013"/>
                </a:lnTo>
                <a:cubicBezTo>
                  <a:pt x="0" y="143723"/>
                  <a:pt x="32727" y="179799"/>
                  <a:pt x="75009" y="185068"/>
                </a:cubicBezTo>
                <a:lnTo>
                  <a:pt x="75009" y="207169"/>
                </a:lnTo>
                <a:lnTo>
                  <a:pt x="53578" y="207169"/>
                </a:lnTo>
                <a:cubicBezTo>
                  <a:pt x="47640" y="207169"/>
                  <a:pt x="42863" y="211946"/>
                  <a:pt x="42863" y="217884"/>
                </a:cubicBezTo>
                <a:cubicBezTo>
                  <a:pt x="42863" y="223823"/>
                  <a:pt x="47640" y="228600"/>
                  <a:pt x="53578" y="228600"/>
                </a:cubicBezTo>
                <a:lnTo>
                  <a:pt x="117872" y="228600"/>
                </a:lnTo>
                <a:cubicBezTo>
                  <a:pt x="123810" y="228600"/>
                  <a:pt x="128588" y="223823"/>
                  <a:pt x="128588" y="217884"/>
                </a:cubicBezTo>
                <a:cubicBezTo>
                  <a:pt x="128588" y="211946"/>
                  <a:pt x="123810" y="207169"/>
                  <a:pt x="117872" y="207169"/>
                </a:cubicBezTo>
                <a:lnTo>
                  <a:pt x="96441" y="207169"/>
                </a:lnTo>
                <a:lnTo>
                  <a:pt x="96441" y="185068"/>
                </a:lnTo>
                <a:cubicBezTo>
                  <a:pt x="138723" y="179799"/>
                  <a:pt x="171450" y="143723"/>
                  <a:pt x="171450" y="100013"/>
                </a:cubicBezTo>
                <a:lnTo>
                  <a:pt x="171450" y="82153"/>
                </a:lnTo>
                <a:cubicBezTo>
                  <a:pt x="171450" y="76215"/>
                  <a:pt x="166673" y="71438"/>
                  <a:pt x="160734" y="71438"/>
                </a:cubicBezTo>
                <a:cubicBezTo>
                  <a:pt x="154796" y="71438"/>
                  <a:pt x="150019" y="76215"/>
                  <a:pt x="150019" y="82153"/>
                </a:cubicBezTo>
                <a:lnTo>
                  <a:pt x="150019" y="100013"/>
                </a:lnTo>
                <a:cubicBezTo>
                  <a:pt x="150019" y="135508"/>
                  <a:pt x="121221" y="164306"/>
                  <a:pt x="85725" y="164306"/>
                </a:cubicBezTo>
                <a:cubicBezTo>
                  <a:pt x="50229" y="164306"/>
                  <a:pt x="21431" y="135508"/>
                  <a:pt x="21431" y="100013"/>
                </a:cubicBezTo>
                <a:lnTo>
                  <a:pt x="21431" y="8215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8948381" y="4274820"/>
            <a:ext cx="137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Voice Interface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300681" y="4789170"/>
            <a:ext cx="33909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Amazon Transcribe and Polly enable voice-based interactions for low-literacy users with adjustable speech rates in 10 languages.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300681" y="6012180"/>
            <a:ext cx="1152525" cy="266700"/>
          </a:xfrm>
          <a:custGeom>
            <a:avLst/>
            <a:gdLst/>
            <a:ahLst/>
            <a:cxnLst/>
            <a:rect l="l" t="t" r="r" b="b"/>
            <a:pathLst>
              <a:path w="1152525" h="266700">
                <a:moveTo>
                  <a:pt x="133350" y="0"/>
                </a:moveTo>
                <a:lnTo>
                  <a:pt x="1019175" y="0"/>
                </a:lnTo>
                <a:cubicBezTo>
                  <a:pt x="1092773" y="0"/>
                  <a:pt x="1152525" y="59752"/>
                  <a:pt x="1152525" y="133350"/>
                </a:cubicBezTo>
                <a:lnTo>
                  <a:pt x="1152525" y="133350"/>
                </a:lnTo>
                <a:cubicBezTo>
                  <a:pt x="1152525" y="206948"/>
                  <a:pt x="1092773" y="266700"/>
                  <a:pt x="10191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00A8E1">
              <a:alpha val="2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8300681" y="6012180"/>
            <a:ext cx="12192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A8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Speech-to-Text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9529763" y="6012180"/>
            <a:ext cx="1152525" cy="266700"/>
          </a:xfrm>
          <a:custGeom>
            <a:avLst/>
            <a:gdLst/>
            <a:ahLst/>
            <a:cxnLst/>
            <a:rect l="l" t="t" r="r" b="b"/>
            <a:pathLst>
              <a:path w="1152525" h="266700">
                <a:moveTo>
                  <a:pt x="133350" y="0"/>
                </a:moveTo>
                <a:lnTo>
                  <a:pt x="1019175" y="0"/>
                </a:lnTo>
                <a:cubicBezTo>
                  <a:pt x="1092773" y="0"/>
                  <a:pt x="1152525" y="59752"/>
                  <a:pt x="1152525" y="133350"/>
                </a:cubicBezTo>
                <a:lnTo>
                  <a:pt x="1152525" y="133350"/>
                </a:lnTo>
                <a:cubicBezTo>
                  <a:pt x="1152525" y="206948"/>
                  <a:pt x="1092773" y="266700"/>
                  <a:pt x="10191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00A8E1">
              <a:alpha val="2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9529763" y="6012180"/>
            <a:ext cx="12192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A8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Text-to-Speech</a:t>
            </a:r>
            <a:endParaRPr lang="en-US" sz="1600" dirty="0"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4B4D9236-494D-E7D1-0FFB-701763FC32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313"/>
            <a:ext cx="12192000" cy="66300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33400" y="918272"/>
            <a:ext cx="2971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Journey Flow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28518" y="1299272"/>
            <a:ext cx="11363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End-to-end experience from registration to application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7246" y="264033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9900"/>
              </a:gs>
              <a:gs pos="100000">
                <a:srgbClr val="FF9900">
                  <a:alpha val="70000"/>
                </a:srgbClr>
              </a:gs>
            </a:gsLst>
            <a:lin ang="2700000" scaled="1"/>
          </a:gra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89171" y="2830832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60722" y="57150"/>
                </a:moveTo>
                <a:cubicBezTo>
                  <a:pt x="60722" y="27579"/>
                  <a:pt x="84729" y="3572"/>
                  <a:pt x="114300" y="3572"/>
                </a:cubicBezTo>
                <a:cubicBezTo>
                  <a:pt x="143871" y="3572"/>
                  <a:pt x="167878" y="27579"/>
                  <a:pt x="167878" y="57150"/>
                </a:cubicBezTo>
                <a:cubicBezTo>
                  <a:pt x="167878" y="86721"/>
                  <a:pt x="143871" y="110728"/>
                  <a:pt x="114300" y="110728"/>
                </a:cubicBezTo>
                <a:cubicBezTo>
                  <a:pt x="84729" y="110728"/>
                  <a:pt x="60722" y="86721"/>
                  <a:pt x="60722" y="57150"/>
                </a:cubicBezTo>
                <a:close/>
                <a:moveTo>
                  <a:pt x="21431" y="215339"/>
                </a:moveTo>
                <a:cubicBezTo>
                  <a:pt x="21431" y="171361"/>
                  <a:pt x="57061" y="135731"/>
                  <a:pt x="101039" y="135731"/>
                </a:cubicBezTo>
                <a:lnTo>
                  <a:pt x="127561" y="135731"/>
                </a:lnTo>
                <a:cubicBezTo>
                  <a:pt x="171539" y="135731"/>
                  <a:pt x="207169" y="171361"/>
                  <a:pt x="207169" y="215339"/>
                </a:cubicBezTo>
                <a:cubicBezTo>
                  <a:pt x="207169" y="222662"/>
                  <a:pt x="201231" y="228600"/>
                  <a:pt x="193908" y="228600"/>
                </a:cubicBezTo>
                <a:lnTo>
                  <a:pt x="34692" y="228600"/>
                </a:lnTo>
                <a:cubicBezTo>
                  <a:pt x="27369" y="228600"/>
                  <a:pt x="21431" y="222662"/>
                  <a:pt x="21431" y="215339"/>
                </a:cubicBezTo>
                <a:close/>
                <a:moveTo>
                  <a:pt x="242888" y="42863"/>
                </a:moveTo>
                <a:cubicBezTo>
                  <a:pt x="248826" y="42863"/>
                  <a:pt x="253603" y="47640"/>
                  <a:pt x="253603" y="53578"/>
                </a:cubicBezTo>
                <a:lnTo>
                  <a:pt x="253603" y="75009"/>
                </a:lnTo>
                <a:lnTo>
                  <a:pt x="275034" y="75009"/>
                </a:lnTo>
                <a:cubicBezTo>
                  <a:pt x="280973" y="75009"/>
                  <a:pt x="285750" y="79787"/>
                  <a:pt x="285750" y="85725"/>
                </a:cubicBezTo>
                <a:cubicBezTo>
                  <a:pt x="285750" y="91663"/>
                  <a:pt x="280973" y="96441"/>
                  <a:pt x="275034" y="96441"/>
                </a:cubicBezTo>
                <a:lnTo>
                  <a:pt x="253603" y="96441"/>
                </a:lnTo>
                <a:lnTo>
                  <a:pt x="253603" y="117872"/>
                </a:lnTo>
                <a:cubicBezTo>
                  <a:pt x="253603" y="123810"/>
                  <a:pt x="248826" y="128588"/>
                  <a:pt x="242888" y="128588"/>
                </a:cubicBezTo>
                <a:cubicBezTo>
                  <a:pt x="236949" y="128588"/>
                  <a:pt x="232172" y="123810"/>
                  <a:pt x="232172" y="117872"/>
                </a:cubicBezTo>
                <a:lnTo>
                  <a:pt x="232172" y="96441"/>
                </a:lnTo>
                <a:lnTo>
                  <a:pt x="210741" y="96441"/>
                </a:lnTo>
                <a:cubicBezTo>
                  <a:pt x="204802" y="96441"/>
                  <a:pt x="200025" y="91663"/>
                  <a:pt x="200025" y="85725"/>
                </a:cubicBezTo>
                <a:cubicBezTo>
                  <a:pt x="200025" y="79787"/>
                  <a:pt x="204802" y="75009"/>
                  <a:pt x="210741" y="75009"/>
                </a:cubicBezTo>
                <a:lnTo>
                  <a:pt x="232172" y="75009"/>
                </a:lnTo>
                <a:lnTo>
                  <a:pt x="232172" y="53578"/>
                </a:lnTo>
                <a:cubicBezTo>
                  <a:pt x="232172" y="47640"/>
                  <a:pt x="236949" y="42863"/>
                  <a:pt x="242888" y="4286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87467" y="3364232"/>
            <a:ext cx="885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Registration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80812" y="3630932"/>
            <a:ext cx="704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0F2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Cognito Auth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959412" y="3192661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0"/>
                </a:lnTo>
                <a:lnTo>
                  <a:pt x="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F9900"/>
              </a:gs>
              <a:gs pos="100000">
                <a:srgbClr val="00A8E1"/>
              </a:gs>
            </a:gsLst>
            <a:lin ang="0" scaled="1"/>
          </a:gradFill>
          <a:ln/>
        </p:spPr>
      </p:sp>
      <p:sp>
        <p:nvSpPr>
          <p:cNvPr id="10" name="Shape 8"/>
          <p:cNvSpPr/>
          <p:nvPr/>
        </p:nvSpPr>
        <p:spPr>
          <a:xfrm>
            <a:off x="2481858" y="264033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A8E1"/>
              </a:gs>
              <a:gs pos="100000">
                <a:srgbClr val="00A8E1">
                  <a:alpha val="70000"/>
                </a:srgbClr>
              </a:gs>
            </a:gsLst>
            <a:lin ang="2700000" scaled="1"/>
          </a:gra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58070" y="2830832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0" y="42863"/>
                </a:moveTo>
                <a:cubicBezTo>
                  <a:pt x="0" y="27102"/>
                  <a:pt x="12814" y="14288"/>
                  <a:pt x="28575" y="14288"/>
                </a:cubicBezTo>
                <a:lnTo>
                  <a:pt x="228600" y="14288"/>
                </a:lnTo>
                <a:cubicBezTo>
                  <a:pt x="244361" y="14288"/>
                  <a:pt x="257175" y="27102"/>
                  <a:pt x="257175" y="42863"/>
                </a:cubicBezTo>
                <a:lnTo>
                  <a:pt x="0" y="42863"/>
                </a:lnTo>
                <a:close/>
                <a:moveTo>
                  <a:pt x="0" y="64294"/>
                </a:moveTo>
                <a:lnTo>
                  <a:pt x="257175" y="64294"/>
                </a:lnTo>
                <a:lnTo>
                  <a:pt x="257175" y="185738"/>
                </a:lnTo>
                <a:cubicBezTo>
                  <a:pt x="257175" y="201498"/>
                  <a:pt x="244361" y="214313"/>
                  <a:pt x="22860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64294"/>
                </a:lnTo>
                <a:close/>
                <a:moveTo>
                  <a:pt x="110416" y="185738"/>
                </a:moveTo>
                <a:cubicBezTo>
                  <a:pt x="119435" y="185738"/>
                  <a:pt x="126176" y="177076"/>
                  <a:pt x="120417" y="170111"/>
                </a:cubicBezTo>
                <a:cubicBezTo>
                  <a:pt x="113854" y="162208"/>
                  <a:pt x="103942" y="157163"/>
                  <a:pt x="92869" y="157163"/>
                </a:cubicBezTo>
                <a:lnTo>
                  <a:pt x="64294" y="157163"/>
                </a:lnTo>
                <a:cubicBezTo>
                  <a:pt x="53221" y="157163"/>
                  <a:pt x="43309" y="162208"/>
                  <a:pt x="36746" y="170111"/>
                </a:cubicBezTo>
                <a:cubicBezTo>
                  <a:pt x="30986" y="177076"/>
                  <a:pt x="37728" y="185738"/>
                  <a:pt x="46747" y="185738"/>
                </a:cubicBezTo>
                <a:lnTo>
                  <a:pt x="110371" y="185738"/>
                </a:lnTo>
                <a:close/>
                <a:moveTo>
                  <a:pt x="78581" y="139303"/>
                </a:moveTo>
                <a:cubicBezTo>
                  <a:pt x="92381" y="139303"/>
                  <a:pt x="103584" y="128100"/>
                  <a:pt x="103584" y="114300"/>
                </a:cubicBezTo>
                <a:cubicBezTo>
                  <a:pt x="103584" y="100500"/>
                  <a:pt x="92381" y="89297"/>
                  <a:pt x="78581" y="89297"/>
                </a:cubicBezTo>
                <a:cubicBezTo>
                  <a:pt x="64782" y="89297"/>
                  <a:pt x="53578" y="100500"/>
                  <a:pt x="53578" y="114300"/>
                </a:cubicBezTo>
                <a:cubicBezTo>
                  <a:pt x="53578" y="128100"/>
                  <a:pt x="64782" y="139303"/>
                  <a:pt x="78581" y="139303"/>
                </a:cubicBezTo>
                <a:close/>
                <a:moveTo>
                  <a:pt x="160734" y="92869"/>
                </a:moveTo>
                <a:cubicBezTo>
                  <a:pt x="154796" y="92869"/>
                  <a:pt x="150019" y="97646"/>
                  <a:pt x="150019" y="103584"/>
                </a:cubicBezTo>
                <a:cubicBezTo>
                  <a:pt x="150019" y="109523"/>
                  <a:pt x="154796" y="114300"/>
                  <a:pt x="160734" y="114300"/>
                </a:cubicBezTo>
                <a:lnTo>
                  <a:pt x="210741" y="114300"/>
                </a:lnTo>
                <a:cubicBezTo>
                  <a:pt x="216679" y="114300"/>
                  <a:pt x="221456" y="109523"/>
                  <a:pt x="221456" y="103584"/>
                </a:cubicBezTo>
                <a:cubicBezTo>
                  <a:pt x="221456" y="97646"/>
                  <a:pt x="216679" y="92869"/>
                  <a:pt x="210741" y="92869"/>
                </a:cubicBezTo>
                <a:lnTo>
                  <a:pt x="160734" y="92869"/>
                </a:lnTo>
                <a:close/>
                <a:moveTo>
                  <a:pt x="160734" y="135731"/>
                </a:moveTo>
                <a:cubicBezTo>
                  <a:pt x="154796" y="135731"/>
                  <a:pt x="150019" y="140509"/>
                  <a:pt x="150019" y="146447"/>
                </a:cubicBezTo>
                <a:cubicBezTo>
                  <a:pt x="150019" y="152385"/>
                  <a:pt x="154796" y="157163"/>
                  <a:pt x="160734" y="157163"/>
                </a:cubicBezTo>
                <a:lnTo>
                  <a:pt x="210741" y="157163"/>
                </a:lnTo>
                <a:cubicBezTo>
                  <a:pt x="216679" y="157163"/>
                  <a:pt x="221456" y="152385"/>
                  <a:pt x="221456" y="146447"/>
                </a:cubicBezTo>
                <a:cubicBezTo>
                  <a:pt x="221456" y="140509"/>
                  <a:pt x="216679" y="135731"/>
                  <a:pt x="210741" y="135731"/>
                </a:cubicBezTo>
                <a:lnTo>
                  <a:pt x="160734" y="13573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2529840" y="3364232"/>
            <a:ext cx="514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Profile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475190" y="3630932"/>
            <a:ext cx="619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0F2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DynamoDB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14023" y="3192661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0"/>
                </a:lnTo>
                <a:lnTo>
                  <a:pt x="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A8E1"/>
              </a:gs>
              <a:gs pos="100000">
                <a:srgbClr val="FF9900"/>
              </a:gs>
            </a:gsLst>
            <a:lin ang="0" scaled="1"/>
          </a:gradFill>
          <a:ln/>
        </p:spPr>
      </p:sp>
      <p:sp>
        <p:nvSpPr>
          <p:cNvPr id="15" name="Shape 13"/>
          <p:cNvSpPr/>
          <p:nvPr/>
        </p:nvSpPr>
        <p:spPr>
          <a:xfrm>
            <a:off x="4136469" y="264033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9900"/>
              </a:gs>
              <a:gs pos="100000">
                <a:srgbClr val="FF9900">
                  <a:alpha val="70000"/>
                </a:srgbClr>
              </a:gs>
            </a:gsLst>
            <a:lin ang="2700000" scaled="1"/>
          </a:gra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26969" y="283083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85738" y="92869"/>
                </a:moveTo>
                <a:cubicBezTo>
                  <a:pt x="185738" y="113362"/>
                  <a:pt x="179085" y="132293"/>
                  <a:pt x="167878" y="147652"/>
                </a:cubicBezTo>
                <a:lnTo>
                  <a:pt x="224403" y="204222"/>
                </a:lnTo>
                <a:cubicBezTo>
                  <a:pt x="229984" y="209803"/>
                  <a:pt x="229984" y="218867"/>
                  <a:pt x="224403" y="224448"/>
                </a:cubicBezTo>
                <a:cubicBezTo>
                  <a:pt x="218822" y="230029"/>
                  <a:pt x="209758" y="230029"/>
                  <a:pt x="204177" y="224448"/>
                </a:cubicBezTo>
                <a:lnTo>
                  <a:pt x="147652" y="167878"/>
                </a:lnTo>
                <a:cubicBezTo>
                  <a:pt x="132293" y="179085"/>
                  <a:pt x="113362" y="185738"/>
                  <a:pt x="92869" y="185738"/>
                </a:cubicBezTo>
                <a:cubicBezTo>
                  <a:pt x="41568" y="185738"/>
                  <a:pt x="0" y="144170"/>
                  <a:pt x="0" y="92869"/>
                </a:cubicBezTo>
                <a:cubicBezTo>
                  <a:pt x="0" y="41568"/>
                  <a:pt x="41568" y="0"/>
                  <a:pt x="92869" y="0"/>
                </a:cubicBezTo>
                <a:cubicBezTo>
                  <a:pt x="144170" y="0"/>
                  <a:pt x="185738" y="41568"/>
                  <a:pt x="185738" y="92869"/>
                </a:cubicBezTo>
                <a:close/>
                <a:moveTo>
                  <a:pt x="92869" y="157163"/>
                </a:moveTo>
                <a:cubicBezTo>
                  <a:pt x="128353" y="157163"/>
                  <a:pt x="157163" y="128353"/>
                  <a:pt x="157163" y="92869"/>
                </a:cubicBezTo>
                <a:cubicBezTo>
                  <a:pt x="157163" y="57384"/>
                  <a:pt x="128353" y="28575"/>
                  <a:pt x="92869" y="28575"/>
                </a:cubicBezTo>
                <a:cubicBezTo>
                  <a:pt x="57384" y="28575"/>
                  <a:pt x="28575" y="57384"/>
                  <a:pt x="28575" y="92869"/>
                </a:cubicBezTo>
                <a:cubicBezTo>
                  <a:pt x="28575" y="128353"/>
                  <a:pt x="57384" y="157163"/>
                  <a:pt x="92869" y="15716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066937" y="3364232"/>
            <a:ext cx="752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Discovery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149447" y="3630932"/>
            <a:ext cx="581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0F2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Chatbot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268635" y="3192661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0"/>
                </a:lnTo>
                <a:lnTo>
                  <a:pt x="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F9900"/>
              </a:gs>
              <a:gs pos="100000">
                <a:srgbClr val="00A8E1"/>
              </a:gs>
            </a:gsLst>
            <a:lin ang="0" scaled="1"/>
          </a:gradFill>
          <a:ln/>
        </p:spPr>
      </p:sp>
      <p:sp>
        <p:nvSpPr>
          <p:cNvPr id="20" name="Shape 18"/>
          <p:cNvSpPr/>
          <p:nvPr/>
        </p:nvSpPr>
        <p:spPr>
          <a:xfrm>
            <a:off x="5791081" y="264033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A8E1"/>
              </a:gs>
              <a:gs pos="100000">
                <a:srgbClr val="00A8E1">
                  <a:alpha val="70000"/>
                </a:srgbClr>
              </a:gs>
            </a:gsLst>
            <a:lin ang="2700000" scaled="1"/>
          </a:gra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81581" y="283083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5750719" y="336423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Eligibility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881688" y="3630932"/>
            <a:ext cx="4286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0F2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Scoring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923247" y="3192661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0"/>
                </a:lnTo>
                <a:lnTo>
                  <a:pt x="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A8E1"/>
              </a:gs>
              <a:gs pos="100000">
                <a:srgbClr val="FF9900"/>
              </a:gs>
            </a:gsLst>
            <a:lin ang="0" scaled="1"/>
          </a:gradFill>
          <a:ln/>
        </p:spPr>
      </p:sp>
      <p:sp>
        <p:nvSpPr>
          <p:cNvPr id="25" name="Shape 23"/>
          <p:cNvSpPr/>
          <p:nvPr/>
        </p:nvSpPr>
        <p:spPr>
          <a:xfrm>
            <a:off x="7445693" y="264033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9900"/>
              </a:gs>
              <a:gs pos="100000">
                <a:srgbClr val="FF9900">
                  <a:alpha val="70000"/>
                </a:srgbClr>
              </a:gs>
            </a:gsLst>
            <a:lin ang="2700000" scaled="1"/>
          </a:gra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607618" y="2830832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28620" y="28575"/>
                </a:moveTo>
                <a:cubicBezTo>
                  <a:pt x="28620" y="12814"/>
                  <a:pt x="41434" y="0"/>
                  <a:pt x="57195" y="0"/>
                </a:cubicBezTo>
                <a:lnTo>
                  <a:pt x="123944" y="0"/>
                </a:lnTo>
                <a:cubicBezTo>
                  <a:pt x="131534" y="0"/>
                  <a:pt x="138812" y="2991"/>
                  <a:pt x="144170" y="8349"/>
                </a:cubicBezTo>
                <a:lnTo>
                  <a:pt x="191676" y="55944"/>
                </a:lnTo>
                <a:cubicBezTo>
                  <a:pt x="197034" y="61302"/>
                  <a:pt x="200025" y="68580"/>
                  <a:pt x="200025" y="76170"/>
                </a:cubicBezTo>
                <a:lnTo>
                  <a:pt x="200025" y="119702"/>
                </a:lnTo>
                <a:lnTo>
                  <a:pt x="141089" y="178638"/>
                </a:lnTo>
                <a:lnTo>
                  <a:pt x="122292" y="178638"/>
                </a:lnTo>
                <a:lnTo>
                  <a:pt x="115104" y="154707"/>
                </a:lnTo>
                <a:cubicBezTo>
                  <a:pt x="113005" y="147697"/>
                  <a:pt x="106576" y="142920"/>
                  <a:pt x="99253" y="142920"/>
                </a:cubicBezTo>
                <a:cubicBezTo>
                  <a:pt x="94208" y="142920"/>
                  <a:pt x="89475" y="145197"/>
                  <a:pt x="86350" y="149126"/>
                </a:cubicBezTo>
                <a:lnTo>
                  <a:pt x="59516" y="182612"/>
                </a:lnTo>
                <a:cubicBezTo>
                  <a:pt x="55811" y="187211"/>
                  <a:pt x="56570" y="193997"/>
                  <a:pt x="61168" y="197659"/>
                </a:cubicBezTo>
                <a:cubicBezTo>
                  <a:pt x="65767" y="201320"/>
                  <a:pt x="72554" y="200605"/>
                  <a:pt x="76215" y="195962"/>
                </a:cubicBezTo>
                <a:lnTo>
                  <a:pt x="97244" y="169709"/>
                </a:lnTo>
                <a:lnTo>
                  <a:pt x="104031" y="192345"/>
                </a:lnTo>
                <a:cubicBezTo>
                  <a:pt x="105370" y="196900"/>
                  <a:pt x="109567" y="199980"/>
                  <a:pt x="114300" y="199980"/>
                </a:cubicBezTo>
                <a:lnTo>
                  <a:pt x="128364" y="199980"/>
                </a:lnTo>
                <a:cubicBezTo>
                  <a:pt x="127962" y="201364"/>
                  <a:pt x="127605" y="202793"/>
                  <a:pt x="127337" y="204222"/>
                </a:cubicBezTo>
                <a:lnTo>
                  <a:pt x="122471" y="228555"/>
                </a:lnTo>
                <a:lnTo>
                  <a:pt x="57195" y="228555"/>
                </a:lnTo>
                <a:cubicBezTo>
                  <a:pt x="41434" y="228555"/>
                  <a:pt x="28620" y="215741"/>
                  <a:pt x="28620" y="199980"/>
                </a:cubicBezTo>
                <a:lnTo>
                  <a:pt x="28620" y="28530"/>
                </a:lnTo>
                <a:close/>
                <a:moveTo>
                  <a:pt x="121488" y="26119"/>
                </a:moveTo>
                <a:lnTo>
                  <a:pt x="121488" y="67866"/>
                </a:lnTo>
                <a:cubicBezTo>
                  <a:pt x="121488" y="73804"/>
                  <a:pt x="126266" y="78581"/>
                  <a:pt x="132204" y="78581"/>
                </a:cubicBezTo>
                <a:lnTo>
                  <a:pt x="173950" y="78581"/>
                </a:lnTo>
                <a:lnTo>
                  <a:pt x="121488" y="26119"/>
                </a:lnTo>
                <a:close/>
                <a:moveTo>
                  <a:pt x="148367" y="208464"/>
                </a:moveTo>
                <a:cubicBezTo>
                  <a:pt x="149483" y="202927"/>
                  <a:pt x="152207" y="197837"/>
                  <a:pt x="156180" y="193864"/>
                </a:cubicBezTo>
                <a:lnTo>
                  <a:pt x="209267" y="140777"/>
                </a:lnTo>
                <a:lnTo>
                  <a:pt x="244986" y="176495"/>
                </a:lnTo>
                <a:lnTo>
                  <a:pt x="191899" y="229582"/>
                </a:lnTo>
                <a:cubicBezTo>
                  <a:pt x="187925" y="233556"/>
                  <a:pt x="182835" y="236280"/>
                  <a:pt x="177299" y="237396"/>
                </a:cubicBezTo>
                <a:lnTo>
                  <a:pt x="150688" y="242709"/>
                </a:lnTo>
                <a:cubicBezTo>
                  <a:pt x="150287" y="242798"/>
                  <a:pt x="149840" y="242843"/>
                  <a:pt x="149394" y="242843"/>
                </a:cubicBezTo>
                <a:cubicBezTo>
                  <a:pt x="145822" y="242843"/>
                  <a:pt x="142875" y="239941"/>
                  <a:pt x="142875" y="236324"/>
                </a:cubicBezTo>
                <a:cubicBezTo>
                  <a:pt x="142875" y="235878"/>
                  <a:pt x="142920" y="235476"/>
                  <a:pt x="143009" y="235029"/>
                </a:cubicBezTo>
                <a:lnTo>
                  <a:pt x="148322" y="208419"/>
                </a:lnTo>
                <a:close/>
                <a:moveTo>
                  <a:pt x="267935" y="153546"/>
                </a:moveTo>
                <a:lnTo>
                  <a:pt x="255077" y="166405"/>
                </a:lnTo>
                <a:lnTo>
                  <a:pt x="219358" y="130686"/>
                </a:lnTo>
                <a:lnTo>
                  <a:pt x="232217" y="117827"/>
                </a:lnTo>
                <a:cubicBezTo>
                  <a:pt x="242084" y="107960"/>
                  <a:pt x="258068" y="107960"/>
                  <a:pt x="267935" y="117827"/>
                </a:cubicBezTo>
                <a:cubicBezTo>
                  <a:pt x="277803" y="127695"/>
                  <a:pt x="277803" y="143679"/>
                  <a:pt x="267935" y="15354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7324368" y="3364232"/>
            <a:ext cx="847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484031" y="3630932"/>
            <a:ext cx="533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0F2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OCR + Fill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577858" y="3192661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0"/>
                </a:lnTo>
                <a:lnTo>
                  <a:pt x="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F9900"/>
              </a:gs>
              <a:gs pos="100000">
                <a:srgbClr val="00A8E1"/>
              </a:gs>
            </a:gsLst>
            <a:lin ang="0" scaled="1"/>
          </a:gradFill>
          <a:ln/>
        </p:spPr>
      </p:sp>
      <p:sp>
        <p:nvSpPr>
          <p:cNvPr id="30" name="Shape 28"/>
          <p:cNvSpPr/>
          <p:nvPr/>
        </p:nvSpPr>
        <p:spPr>
          <a:xfrm>
            <a:off x="9100304" y="264033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A8E1"/>
              </a:gs>
              <a:gs pos="100000">
                <a:srgbClr val="00A8E1">
                  <a:alpha val="70000"/>
                </a:srgbClr>
              </a:gs>
            </a:gsLst>
            <a:lin ang="2700000" scaled="1"/>
          </a:gra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276517" y="2830832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39494" y="-11743"/>
                </a:moveTo>
                <a:cubicBezTo>
                  <a:pt x="243870" y="-13305"/>
                  <a:pt x="248692" y="-12189"/>
                  <a:pt x="251996" y="-8930"/>
                </a:cubicBezTo>
                <a:cubicBezTo>
                  <a:pt x="255300" y="-5670"/>
                  <a:pt x="256371" y="-804"/>
                  <a:pt x="254809" y="3572"/>
                </a:cubicBezTo>
                <a:lnTo>
                  <a:pt x="175334" y="225430"/>
                </a:lnTo>
                <a:cubicBezTo>
                  <a:pt x="173102" y="231636"/>
                  <a:pt x="167253" y="235744"/>
                  <a:pt x="160690" y="235744"/>
                </a:cubicBezTo>
                <a:cubicBezTo>
                  <a:pt x="154350" y="235744"/>
                  <a:pt x="148635" y="231904"/>
                  <a:pt x="146268" y="226055"/>
                </a:cubicBezTo>
                <a:lnTo>
                  <a:pt x="117604" y="155511"/>
                </a:lnTo>
                <a:cubicBezTo>
                  <a:pt x="115595" y="150599"/>
                  <a:pt x="116488" y="144973"/>
                  <a:pt x="119926" y="140955"/>
                </a:cubicBezTo>
                <a:lnTo>
                  <a:pt x="162118" y="90770"/>
                </a:lnTo>
                <a:cubicBezTo>
                  <a:pt x="164396" y="88047"/>
                  <a:pt x="164217" y="84073"/>
                  <a:pt x="161717" y="81573"/>
                </a:cubicBezTo>
                <a:cubicBezTo>
                  <a:pt x="159216" y="79072"/>
                  <a:pt x="155198" y="78894"/>
                  <a:pt x="152519" y="81171"/>
                </a:cubicBezTo>
                <a:lnTo>
                  <a:pt x="102334" y="123274"/>
                </a:lnTo>
                <a:cubicBezTo>
                  <a:pt x="98271" y="126668"/>
                  <a:pt x="92690" y="127561"/>
                  <a:pt x="87779" y="125596"/>
                </a:cubicBezTo>
                <a:lnTo>
                  <a:pt x="17011" y="96798"/>
                </a:lnTo>
                <a:cubicBezTo>
                  <a:pt x="11162" y="94431"/>
                  <a:pt x="7322" y="88716"/>
                  <a:pt x="7322" y="82376"/>
                </a:cubicBezTo>
                <a:cubicBezTo>
                  <a:pt x="7322" y="75813"/>
                  <a:pt x="11430" y="69964"/>
                  <a:pt x="17636" y="67732"/>
                </a:cubicBezTo>
                <a:lnTo>
                  <a:pt x="239494" y="-1174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9170670" y="3364232"/>
            <a:ext cx="466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Apply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120902" y="3630932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0F2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Portal Link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0232470" y="3192661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0"/>
                </a:lnTo>
                <a:lnTo>
                  <a:pt x="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A8E1"/>
              </a:gs>
              <a:gs pos="100000">
                <a:srgbClr val="FF9900"/>
              </a:gs>
            </a:gsLst>
            <a:lin ang="0" scaled="1"/>
          </a:gradFill>
          <a:ln/>
        </p:spPr>
      </p:sp>
      <p:sp>
        <p:nvSpPr>
          <p:cNvPr id="35" name="Shape 33"/>
          <p:cNvSpPr/>
          <p:nvPr/>
        </p:nvSpPr>
        <p:spPr>
          <a:xfrm>
            <a:off x="10754916" y="264033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9900"/>
              </a:gs>
              <a:gs pos="100000">
                <a:srgbClr val="FF9900">
                  <a:alpha val="70000"/>
                </a:srgbClr>
              </a:gs>
            </a:gsLst>
            <a:lin ang="2700000" scaled="1"/>
          </a:gra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0945416" y="283083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10831592" y="3364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Track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879098" y="3630932"/>
            <a:ext cx="361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0F2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Status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84810" y="4091821"/>
            <a:ext cx="3703320" cy="998220"/>
          </a:xfrm>
          <a:custGeom>
            <a:avLst/>
            <a:gdLst/>
            <a:ahLst/>
            <a:cxnLst/>
            <a:rect l="l" t="t" r="r" b="b"/>
            <a:pathLst>
              <a:path w="3703320" h="998220">
                <a:moveTo>
                  <a:pt x="114296" y="0"/>
                </a:moveTo>
                <a:lnTo>
                  <a:pt x="3589024" y="0"/>
                </a:lnTo>
                <a:cubicBezTo>
                  <a:pt x="3652148" y="0"/>
                  <a:pt x="3703320" y="51172"/>
                  <a:pt x="3703320" y="114296"/>
                </a:cubicBezTo>
                <a:lnTo>
                  <a:pt x="3703320" y="883924"/>
                </a:lnTo>
                <a:cubicBezTo>
                  <a:pt x="3703320" y="947048"/>
                  <a:pt x="3652148" y="998220"/>
                  <a:pt x="3589024" y="998220"/>
                </a:cubicBezTo>
                <a:lnTo>
                  <a:pt x="114296" y="998220"/>
                </a:lnTo>
                <a:cubicBezTo>
                  <a:pt x="51172" y="998220"/>
                  <a:pt x="0" y="947048"/>
                  <a:pt x="0" y="88392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232F3E">
              <a:alpha val="60000"/>
            </a:srgbClr>
          </a:solidFill>
          <a:ln w="10160">
            <a:solidFill>
              <a:srgbClr val="FF9900">
                <a:alpha val="30196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60070" y="428613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ubicBezTo>
                  <a:pt x="0" y="34144"/>
                  <a:pt x="34144" y="0"/>
                  <a:pt x="76200" y="0"/>
                </a:cubicBezTo>
                <a:close/>
                <a:moveTo>
                  <a:pt x="69056" y="35719"/>
                </a:moveTo>
                <a:lnTo>
                  <a:pt x="69056" y="76200"/>
                </a:lnTo>
                <a:cubicBezTo>
                  <a:pt x="69056" y="78581"/>
                  <a:pt x="70247" y="80814"/>
                  <a:pt x="72241" y="82153"/>
                </a:cubicBezTo>
                <a:lnTo>
                  <a:pt x="100816" y="101203"/>
                </a:lnTo>
                <a:cubicBezTo>
                  <a:pt x="104090" y="103406"/>
                  <a:pt x="108525" y="102513"/>
                  <a:pt x="110728" y="99209"/>
                </a:cubicBezTo>
                <a:cubicBezTo>
                  <a:pt x="112931" y="95905"/>
                  <a:pt x="112038" y="91500"/>
                  <a:pt x="108734" y="89297"/>
                </a:cubicBezTo>
                <a:lnTo>
                  <a:pt x="83344" y="72390"/>
                </a:lnTo>
                <a:lnTo>
                  <a:pt x="83344" y="35719"/>
                </a:lnTo>
                <a:cubicBezTo>
                  <a:pt x="83344" y="31760"/>
                  <a:pt x="80159" y="28575"/>
                  <a:pt x="76200" y="28575"/>
                </a:cubicBezTo>
                <a:cubicBezTo>
                  <a:pt x="72241" y="28575"/>
                  <a:pt x="69056" y="31760"/>
                  <a:pt x="69056" y="35719"/>
                </a:cubicBez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41" name="Text 39"/>
          <p:cNvSpPr/>
          <p:nvPr/>
        </p:nvSpPr>
        <p:spPr>
          <a:xfrm>
            <a:off x="807720" y="4248034"/>
            <a:ext cx="149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 to First Scheme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41020" y="4552834"/>
            <a:ext cx="3457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Users see personalized recommendations within </a:t>
            </a:r>
            <a:r>
              <a:rPr lang="en-US" sz="1050" b="1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seconds</a:t>
            </a: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profile completion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245531" y="4091821"/>
            <a:ext cx="3703320" cy="998220"/>
          </a:xfrm>
          <a:custGeom>
            <a:avLst/>
            <a:gdLst/>
            <a:ahLst/>
            <a:cxnLst/>
            <a:rect l="l" t="t" r="r" b="b"/>
            <a:pathLst>
              <a:path w="3703320" h="998220">
                <a:moveTo>
                  <a:pt x="114296" y="0"/>
                </a:moveTo>
                <a:lnTo>
                  <a:pt x="3589024" y="0"/>
                </a:lnTo>
                <a:cubicBezTo>
                  <a:pt x="3652148" y="0"/>
                  <a:pt x="3703320" y="51172"/>
                  <a:pt x="3703320" y="114296"/>
                </a:cubicBezTo>
                <a:lnTo>
                  <a:pt x="3703320" y="883924"/>
                </a:lnTo>
                <a:cubicBezTo>
                  <a:pt x="3703320" y="947048"/>
                  <a:pt x="3652148" y="998220"/>
                  <a:pt x="3589024" y="998220"/>
                </a:cubicBezTo>
                <a:lnTo>
                  <a:pt x="114296" y="998220"/>
                </a:lnTo>
                <a:cubicBezTo>
                  <a:pt x="51172" y="998220"/>
                  <a:pt x="0" y="947048"/>
                  <a:pt x="0" y="88392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232F3E">
              <a:alpha val="60000"/>
            </a:srgbClr>
          </a:solidFill>
          <a:ln w="10160">
            <a:solidFill>
              <a:srgbClr val="00A8E1">
                <a:alpha val="30196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430316" y="4286134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57150" y="38100"/>
                </a:moveTo>
                <a:cubicBezTo>
                  <a:pt x="57150" y="22329"/>
                  <a:pt x="44346" y="9525"/>
                  <a:pt x="28575" y="9525"/>
                </a:cubicBezTo>
                <a:cubicBezTo>
                  <a:pt x="12804" y="9525"/>
                  <a:pt x="0" y="22329"/>
                  <a:pt x="0" y="38100"/>
                </a:cubicBezTo>
                <a:cubicBezTo>
                  <a:pt x="0" y="53871"/>
                  <a:pt x="12804" y="66675"/>
                  <a:pt x="28575" y="66675"/>
                </a:cubicBezTo>
                <a:cubicBezTo>
                  <a:pt x="44346" y="66675"/>
                  <a:pt x="57150" y="53871"/>
                  <a:pt x="57150" y="38100"/>
                </a:cubicBezTo>
                <a:close/>
                <a:moveTo>
                  <a:pt x="133350" y="114300"/>
                </a:moveTo>
                <a:cubicBezTo>
                  <a:pt x="133350" y="98529"/>
                  <a:pt x="120546" y="85725"/>
                  <a:pt x="104775" y="85725"/>
                </a:cubicBezTo>
                <a:cubicBezTo>
                  <a:pt x="89004" y="85725"/>
                  <a:pt x="76200" y="98529"/>
                  <a:pt x="76200" y="114300"/>
                </a:cubicBezTo>
                <a:cubicBezTo>
                  <a:pt x="76200" y="130071"/>
                  <a:pt x="89004" y="142875"/>
                  <a:pt x="104775" y="142875"/>
                </a:cubicBezTo>
                <a:cubicBezTo>
                  <a:pt x="120546" y="142875"/>
                  <a:pt x="133350" y="130071"/>
                  <a:pt x="133350" y="114300"/>
                </a:cubicBezTo>
                <a:close/>
                <a:moveTo>
                  <a:pt x="130552" y="25777"/>
                </a:moveTo>
                <a:cubicBezTo>
                  <a:pt x="134273" y="22056"/>
                  <a:pt x="134273" y="16014"/>
                  <a:pt x="130552" y="12293"/>
                </a:cubicBezTo>
                <a:cubicBezTo>
                  <a:pt x="126831" y="8573"/>
                  <a:pt x="120789" y="8573"/>
                  <a:pt x="117068" y="12293"/>
                </a:cubicBezTo>
                <a:lnTo>
                  <a:pt x="2768" y="126593"/>
                </a:lnTo>
                <a:cubicBezTo>
                  <a:pt x="-952" y="130314"/>
                  <a:pt x="-952" y="136356"/>
                  <a:pt x="2768" y="140077"/>
                </a:cubicBezTo>
                <a:cubicBezTo>
                  <a:pt x="6489" y="143798"/>
                  <a:pt x="12531" y="143798"/>
                  <a:pt x="16252" y="140077"/>
                </a:cubicBezTo>
                <a:lnTo>
                  <a:pt x="130552" y="25777"/>
                </a:lnTo>
                <a:close/>
              </a:path>
            </a:pathLst>
          </a:custGeom>
          <a:solidFill>
            <a:srgbClr val="00A8E1"/>
          </a:solidFill>
          <a:ln/>
        </p:spPr>
      </p:sp>
      <p:sp>
        <p:nvSpPr>
          <p:cNvPr id="45" name="Text 43"/>
          <p:cNvSpPr/>
          <p:nvPr/>
        </p:nvSpPr>
        <p:spPr>
          <a:xfrm>
            <a:off x="4668441" y="4248034"/>
            <a:ext cx="1781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 Success Rate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401741" y="4552834"/>
            <a:ext cx="3457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 assistance and validation improve completion rates from </a:t>
            </a:r>
            <a:r>
              <a:rPr lang="en-US" sz="1050" b="1" dirty="0">
                <a:solidFill>
                  <a:srgbClr val="00A8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30% to 85%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106371" y="4091821"/>
            <a:ext cx="3703320" cy="998220"/>
          </a:xfrm>
          <a:custGeom>
            <a:avLst/>
            <a:gdLst/>
            <a:ahLst/>
            <a:cxnLst/>
            <a:rect l="l" t="t" r="r" b="b"/>
            <a:pathLst>
              <a:path w="3703320" h="998220">
                <a:moveTo>
                  <a:pt x="114296" y="0"/>
                </a:moveTo>
                <a:lnTo>
                  <a:pt x="3589024" y="0"/>
                </a:lnTo>
                <a:cubicBezTo>
                  <a:pt x="3652148" y="0"/>
                  <a:pt x="3703320" y="51172"/>
                  <a:pt x="3703320" y="114296"/>
                </a:cubicBezTo>
                <a:lnTo>
                  <a:pt x="3703320" y="883924"/>
                </a:lnTo>
                <a:cubicBezTo>
                  <a:pt x="3703320" y="947048"/>
                  <a:pt x="3652148" y="998220"/>
                  <a:pt x="3589024" y="998220"/>
                </a:cubicBezTo>
                <a:lnTo>
                  <a:pt x="114296" y="998220"/>
                </a:lnTo>
                <a:cubicBezTo>
                  <a:pt x="51172" y="998220"/>
                  <a:pt x="0" y="947048"/>
                  <a:pt x="0" y="88392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232F3E">
              <a:alpha val="60000"/>
            </a:srgbClr>
          </a:solidFill>
          <a:ln w="10160">
            <a:solidFill>
              <a:srgbClr val="FF9900">
                <a:alpha val="30196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281631" y="428613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29986" y="22235"/>
                </a:moveTo>
                <a:lnTo>
                  <a:pt x="133350" y="25420"/>
                </a:lnTo>
                <a:lnTo>
                  <a:pt x="133350" y="9525"/>
                </a:lnTo>
                <a:cubicBezTo>
                  <a:pt x="133350" y="4256"/>
                  <a:pt x="137606" y="0"/>
                  <a:pt x="142875" y="0"/>
                </a:cubicBezTo>
                <a:cubicBezTo>
                  <a:pt x="148144" y="0"/>
                  <a:pt x="152400" y="4256"/>
                  <a:pt x="152400" y="9525"/>
                </a:cubicBezTo>
                <a:lnTo>
                  <a:pt x="152400" y="47625"/>
                </a:lnTo>
                <a:cubicBezTo>
                  <a:pt x="152400" y="52894"/>
                  <a:pt x="148144" y="57150"/>
                  <a:pt x="142875" y="57150"/>
                </a:cubicBezTo>
                <a:lnTo>
                  <a:pt x="104775" y="57150"/>
                </a:lnTo>
                <a:cubicBezTo>
                  <a:pt x="99506" y="57150"/>
                  <a:pt x="95250" y="52894"/>
                  <a:pt x="95250" y="47625"/>
                </a:cubicBezTo>
                <a:cubicBezTo>
                  <a:pt x="95250" y="42356"/>
                  <a:pt x="99506" y="38100"/>
                  <a:pt x="104775" y="38100"/>
                </a:cubicBezTo>
                <a:lnTo>
                  <a:pt x="119033" y="38100"/>
                </a:lnTo>
                <a:lnTo>
                  <a:pt x="116771" y="35957"/>
                </a:lnTo>
                <a:cubicBezTo>
                  <a:pt x="116711" y="35897"/>
                  <a:pt x="116651" y="35838"/>
                  <a:pt x="116592" y="35778"/>
                </a:cubicBezTo>
                <a:cubicBezTo>
                  <a:pt x="94268" y="13454"/>
                  <a:pt x="58102" y="13454"/>
                  <a:pt x="35778" y="35778"/>
                </a:cubicBezTo>
                <a:cubicBezTo>
                  <a:pt x="13454" y="58103"/>
                  <a:pt x="13454" y="94268"/>
                  <a:pt x="35778" y="116592"/>
                </a:cubicBezTo>
                <a:cubicBezTo>
                  <a:pt x="58102" y="138916"/>
                  <a:pt x="94268" y="138916"/>
                  <a:pt x="116592" y="116592"/>
                </a:cubicBezTo>
                <a:cubicBezTo>
                  <a:pt x="119033" y="114151"/>
                  <a:pt x="121206" y="111562"/>
                  <a:pt x="123111" y="108823"/>
                </a:cubicBezTo>
                <a:cubicBezTo>
                  <a:pt x="126117" y="104507"/>
                  <a:pt x="132070" y="103465"/>
                  <a:pt x="136386" y="106472"/>
                </a:cubicBezTo>
                <a:cubicBezTo>
                  <a:pt x="140702" y="109478"/>
                  <a:pt x="141744" y="115431"/>
                  <a:pt x="138738" y="119747"/>
                </a:cubicBezTo>
                <a:cubicBezTo>
                  <a:pt x="136207" y="123379"/>
                  <a:pt x="133320" y="126831"/>
                  <a:pt x="130076" y="130076"/>
                </a:cubicBezTo>
                <a:cubicBezTo>
                  <a:pt x="100310" y="159841"/>
                  <a:pt x="52060" y="159841"/>
                  <a:pt x="22324" y="130076"/>
                </a:cubicBezTo>
                <a:cubicBezTo>
                  <a:pt x="-7412" y="100310"/>
                  <a:pt x="-7441" y="52090"/>
                  <a:pt x="22324" y="22324"/>
                </a:cubicBezTo>
                <a:cubicBezTo>
                  <a:pt x="52060" y="-7412"/>
                  <a:pt x="100221" y="-7441"/>
                  <a:pt x="129986" y="22235"/>
                </a:cubicBez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49" name="Text 47"/>
          <p:cNvSpPr/>
          <p:nvPr/>
        </p:nvSpPr>
        <p:spPr>
          <a:xfrm>
            <a:off x="8529281" y="4248034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Continuous Updates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262581" y="4552834"/>
            <a:ext cx="3457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Eligibility scores auto-recalculate when profile changes or new schemes launch</a:t>
            </a:r>
            <a:endParaRPr lang="en-US" sz="1600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CF87693D-1EB5-FF2C-499B-5D1F88A99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1437"/>
            <a:ext cx="12192000" cy="66300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33400" y="723900"/>
            <a:ext cx="3276600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261110"/>
            <a:ext cx="6884670" cy="5474970"/>
          </a:xfrm>
          <a:custGeom>
            <a:avLst/>
            <a:gdLst/>
            <a:ahLst/>
            <a:cxnLst/>
            <a:rect l="l" t="t" r="r" b="b"/>
            <a:pathLst>
              <a:path w="6884670" h="5474970">
                <a:moveTo>
                  <a:pt x="152423" y="0"/>
                </a:moveTo>
                <a:lnTo>
                  <a:pt x="6732247" y="0"/>
                </a:lnTo>
                <a:cubicBezTo>
                  <a:pt x="6816428" y="0"/>
                  <a:pt x="6884670" y="68242"/>
                  <a:pt x="6884670" y="152423"/>
                </a:cubicBezTo>
                <a:lnTo>
                  <a:pt x="6884670" y="5322547"/>
                </a:lnTo>
                <a:cubicBezTo>
                  <a:pt x="6884670" y="5406728"/>
                  <a:pt x="6816428" y="5474970"/>
                  <a:pt x="6732247" y="5474970"/>
                </a:cubicBezTo>
                <a:lnTo>
                  <a:pt x="152423" y="5474970"/>
                </a:lnTo>
                <a:cubicBezTo>
                  <a:pt x="68299" y="5474970"/>
                  <a:pt x="0" y="5406671"/>
                  <a:pt x="0" y="5322547"/>
                </a:cubicBezTo>
                <a:lnTo>
                  <a:pt x="0" y="152423"/>
                </a:lnTo>
                <a:cubicBezTo>
                  <a:pt x="0" y="68299"/>
                  <a:pt x="68299" y="0"/>
                  <a:pt x="152423" y="0"/>
                </a:cubicBezTo>
                <a:close/>
              </a:path>
            </a:pathLst>
          </a:custGeom>
          <a:solidFill>
            <a:srgbClr val="232F3E">
              <a:alpha val="40000"/>
            </a:srgbClr>
          </a:solidFill>
          <a:ln w="10160">
            <a:solidFill>
              <a:srgbClr val="FF9900">
                <a:alpha val="20000"/>
              </a:srgbClr>
            </a:solidFill>
            <a:prstDash val="solid"/>
          </a:ln>
        </p:spPr>
      </p:sp>
      <p:pic>
        <p:nvPicPr>
          <p:cNvPr id="6" name="Image 0" descr="https://kimi-img.moonshot.cn/pub/slides/26-02-15-17:47:58-d68pcjgu8ldc2t733e6g.png"/>
          <p:cNvPicPr>
            <a:picLocks noChangeAspect="1"/>
          </p:cNvPicPr>
          <p:nvPr/>
        </p:nvPicPr>
        <p:blipFill>
          <a:blip r:embed="rId3"/>
          <a:srcRect l="8" r="8"/>
          <a:stretch/>
        </p:blipFill>
        <p:spPr>
          <a:xfrm>
            <a:off x="541020" y="1645923"/>
            <a:ext cx="6572250" cy="4933950"/>
          </a:xfrm>
          <a:prstGeom prst="roundRect">
            <a:avLst>
              <a:gd name="adj" fmla="val 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7431762" y="1417322"/>
            <a:ext cx="4379595" cy="842007"/>
          </a:xfrm>
          <a:custGeom>
            <a:avLst/>
            <a:gdLst/>
            <a:ahLst/>
            <a:cxnLst/>
            <a:rect l="l" t="t" r="r" b="b"/>
            <a:pathLst>
              <a:path w="4379595" h="998220">
                <a:moveTo>
                  <a:pt x="114296" y="0"/>
                </a:moveTo>
                <a:lnTo>
                  <a:pt x="4265299" y="0"/>
                </a:lnTo>
                <a:cubicBezTo>
                  <a:pt x="4328423" y="0"/>
                  <a:pt x="4379595" y="51172"/>
                  <a:pt x="4379595" y="114296"/>
                </a:cubicBezTo>
                <a:lnTo>
                  <a:pt x="4379595" y="883924"/>
                </a:lnTo>
                <a:cubicBezTo>
                  <a:pt x="4379595" y="947048"/>
                  <a:pt x="4328423" y="998220"/>
                  <a:pt x="4265299" y="998220"/>
                </a:cubicBezTo>
                <a:lnTo>
                  <a:pt x="114296" y="998220"/>
                </a:lnTo>
                <a:cubicBezTo>
                  <a:pt x="51172" y="998220"/>
                  <a:pt x="0" y="947048"/>
                  <a:pt x="0" y="88392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gradFill flip="none" rotWithShape="1">
            <a:gsLst>
              <a:gs pos="0">
                <a:srgbClr val="FF9900">
                  <a:alpha val="20000"/>
                </a:srgbClr>
              </a:gs>
              <a:gs pos="100000">
                <a:srgbClr val="FF9900">
                  <a:alpha val="5000"/>
                </a:srgbClr>
              </a:gs>
            </a:gsLst>
            <a:lin ang="0" scaled="1"/>
          </a:gradFill>
          <a:ln w="10160">
            <a:solidFill>
              <a:srgbClr val="FF9900">
                <a:alpha val="4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11785" y="144589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7856" y="1741"/>
                </a:moveTo>
                <a:cubicBezTo>
                  <a:pt x="82845" y="-569"/>
                  <a:pt x="88605" y="-569"/>
                  <a:pt x="93594" y="1741"/>
                </a:cubicBezTo>
                <a:lnTo>
                  <a:pt x="166795" y="35562"/>
                </a:lnTo>
                <a:cubicBezTo>
                  <a:pt x="169642" y="36868"/>
                  <a:pt x="171450" y="39715"/>
                  <a:pt x="171450" y="42863"/>
                </a:cubicBezTo>
                <a:cubicBezTo>
                  <a:pt x="171450" y="46010"/>
                  <a:pt x="169642" y="48857"/>
                  <a:pt x="166795" y="50163"/>
                </a:cubicBezTo>
                <a:lnTo>
                  <a:pt x="93594" y="83984"/>
                </a:lnTo>
                <a:cubicBezTo>
                  <a:pt x="88605" y="86294"/>
                  <a:pt x="82845" y="86294"/>
                  <a:pt x="77856" y="83984"/>
                </a:cubicBezTo>
                <a:lnTo>
                  <a:pt x="4655" y="50163"/>
                </a:lnTo>
                <a:cubicBezTo>
                  <a:pt x="1808" y="48823"/>
                  <a:pt x="0" y="45977"/>
                  <a:pt x="0" y="42863"/>
                </a:cubicBezTo>
                <a:cubicBezTo>
                  <a:pt x="0" y="39748"/>
                  <a:pt x="1808" y="36868"/>
                  <a:pt x="4655" y="35562"/>
                </a:cubicBezTo>
                <a:lnTo>
                  <a:pt x="77856" y="1741"/>
                </a:lnTo>
                <a:close/>
                <a:moveTo>
                  <a:pt x="16107" y="73134"/>
                </a:moveTo>
                <a:lnTo>
                  <a:pt x="71125" y="98550"/>
                </a:lnTo>
                <a:cubicBezTo>
                  <a:pt x="80401" y="102837"/>
                  <a:pt x="91083" y="102837"/>
                  <a:pt x="100359" y="98550"/>
                </a:cubicBezTo>
                <a:lnTo>
                  <a:pt x="155377" y="73134"/>
                </a:lnTo>
                <a:lnTo>
                  <a:pt x="166795" y="78425"/>
                </a:lnTo>
                <a:cubicBezTo>
                  <a:pt x="169642" y="79731"/>
                  <a:pt x="171450" y="82577"/>
                  <a:pt x="171450" y="85725"/>
                </a:cubicBezTo>
                <a:cubicBezTo>
                  <a:pt x="171450" y="88873"/>
                  <a:pt x="169642" y="91719"/>
                  <a:pt x="166795" y="93025"/>
                </a:cubicBezTo>
                <a:lnTo>
                  <a:pt x="93594" y="126846"/>
                </a:lnTo>
                <a:cubicBezTo>
                  <a:pt x="88605" y="129157"/>
                  <a:pt x="82845" y="129157"/>
                  <a:pt x="77856" y="126846"/>
                </a:cubicBezTo>
                <a:lnTo>
                  <a:pt x="4655" y="93025"/>
                </a:lnTo>
                <a:cubicBezTo>
                  <a:pt x="1808" y="91686"/>
                  <a:pt x="0" y="88839"/>
                  <a:pt x="0" y="85725"/>
                </a:cubicBezTo>
                <a:cubicBezTo>
                  <a:pt x="0" y="82611"/>
                  <a:pt x="1808" y="79731"/>
                  <a:pt x="4655" y="78425"/>
                </a:cubicBezTo>
                <a:lnTo>
                  <a:pt x="16073" y="73134"/>
                </a:lnTo>
                <a:close/>
                <a:moveTo>
                  <a:pt x="4655" y="121287"/>
                </a:moveTo>
                <a:lnTo>
                  <a:pt x="16073" y="115997"/>
                </a:lnTo>
                <a:lnTo>
                  <a:pt x="71091" y="141413"/>
                </a:lnTo>
                <a:cubicBezTo>
                  <a:pt x="80367" y="145699"/>
                  <a:pt x="91049" y="145699"/>
                  <a:pt x="100325" y="141413"/>
                </a:cubicBezTo>
                <a:lnTo>
                  <a:pt x="155343" y="115997"/>
                </a:lnTo>
                <a:lnTo>
                  <a:pt x="166762" y="121287"/>
                </a:lnTo>
                <a:cubicBezTo>
                  <a:pt x="169608" y="122593"/>
                  <a:pt x="171417" y="125440"/>
                  <a:pt x="171417" y="128588"/>
                </a:cubicBezTo>
                <a:cubicBezTo>
                  <a:pt x="171417" y="131735"/>
                  <a:pt x="169608" y="134582"/>
                  <a:pt x="166762" y="135888"/>
                </a:cubicBezTo>
                <a:lnTo>
                  <a:pt x="93561" y="169709"/>
                </a:lnTo>
                <a:cubicBezTo>
                  <a:pt x="88571" y="172019"/>
                  <a:pt x="82812" y="172019"/>
                  <a:pt x="77822" y="169709"/>
                </a:cubicBezTo>
                <a:lnTo>
                  <a:pt x="4655" y="135888"/>
                </a:lnTo>
                <a:cubicBezTo>
                  <a:pt x="1808" y="134548"/>
                  <a:pt x="0" y="131702"/>
                  <a:pt x="0" y="128588"/>
                </a:cubicBezTo>
                <a:cubicBezTo>
                  <a:pt x="0" y="125473"/>
                  <a:pt x="1808" y="122593"/>
                  <a:pt x="4655" y="121287"/>
                </a:cubicBez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9" name="Text 6"/>
          <p:cNvSpPr/>
          <p:nvPr/>
        </p:nvSpPr>
        <p:spPr>
          <a:xfrm>
            <a:off x="7878485" y="1417323"/>
            <a:ext cx="876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Client Layer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587972" y="1722123"/>
            <a:ext cx="41338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 Web App, React Native Mobile, Voice Interface via CloudFront CDN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431762" y="2381251"/>
            <a:ext cx="4379595" cy="998220"/>
          </a:xfrm>
          <a:custGeom>
            <a:avLst/>
            <a:gdLst/>
            <a:ahLst/>
            <a:cxnLst/>
            <a:rect l="l" t="t" r="r" b="b"/>
            <a:pathLst>
              <a:path w="4379595" h="998220">
                <a:moveTo>
                  <a:pt x="114296" y="0"/>
                </a:moveTo>
                <a:lnTo>
                  <a:pt x="4265299" y="0"/>
                </a:lnTo>
                <a:cubicBezTo>
                  <a:pt x="4328423" y="0"/>
                  <a:pt x="4379595" y="51172"/>
                  <a:pt x="4379595" y="114296"/>
                </a:cubicBezTo>
                <a:lnTo>
                  <a:pt x="4379595" y="883924"/>
                </a:lnTo>
                <a:cubicBezTo>
                  <a:pt x="4379595" y="947048"/>
                  <a:pt x="4328423" y="998220"/>
                  <a:pt x="4265299" y="998220"/>
                </a:cubicBezTo>
                <a:lnTo>
                  <a:pt x="114296" y="998220"/>
                </a:lnTo>
                <a:cubicBezTo>
                  <a:pt x="51172" y="998220"/>
                  <a:pt x="0" y="947048"/>
                  <a:pt x="0" y="88392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gradFill flip="none" rotWithShape="1">
            <a:gsLst>
              <a:gs pos="0">
                <a:srgbClr val="00A8E1">
                  <a:alpha val="20000"/>
                </a:srgbClr>
              </a:gs>
              <a:gs pos="100000">
                <a:srgbClr val="00A8E1">
                  <a:alpha val="5000"/>
                </a:srgbClr>
              </a:gs>
            </a:gsLst>
            <a:lin ang="0" scaled="1"/>
          </a:gradFill>
          <a:ln w="10160">
            <a:solidFill>
              <a:srgbClr val="00A8E1">
                <a:alpha val="4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611785" y="2566034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87265" y="0"/>
                  <a:pt x="88806" y="335"/>
                  <a:pt x="90212" y="971"/>
                </a:cubicBezTo>
                <a:lnTo>
                  <a:pt x="153300" y="27727"/>
                </a:lnTo>
                <a:cubicBezTo>
                  <a:pt x="160667" y="30841"/>
                  <a:pt x="166159" y="38107"/>
                  <a:pt x="166126" y="46881"/>
                </a:cubicBezTo>
                <a:cubicBezTo>
                  <a:pt x="165958" y="80099"/>
                  <a:pt x="152296" y="140877"/>
                  <a:pt x="94599" y="168503"/>
                </a:cubicBezTo>
                <a:cubicBezTo>
                  <a:pt x="89007" y="171182"/>
                  <a:pt x="82510" y="171182"/>
                  <a:pt x="76918" y="168503"/>
                </a:cubicBezTo>
                <a:cubicBezTo>
                  <a:pt x="19188" y="140877"/>
                  <a:pt x="5559" y="80099"/>
                  <a:pt x="5391" y="46881"/>
                </a:cubicBezTo>
                <a:cubicBezTo>
                  <a:pt x="5358" y="38107"/>
                  <a:pt x="10850" y="30841"/>
                  <a:pt x="18217" y="27727"/>
                </a:cubicBezTo>
                <a:lnTo>
                  <a:pt x="81271" y="971"/>
                </a:lnTo>
                <a:cubicBezTo>
                  <a:pt x="82678" y="335"/>
                  <a:pt x="84185" y="0"/>
                  <a:pt x="85725" y="0"/>
                </a:cubicBezTo>
                <a:close/>
                <a:moveTo>
                  <a:pt x="85725" y="22369"/>
                </a:moveTo>
                <a:lnTo>
                  <a:pt x="85725" y="148981"/>
                </a:lnTo>
                <a:cubicBezTo>
                  <a:pt x="131936" y="126612"/>
                  <a:pt x="144360" y="77052"/>
                  <a:pt x="144661" y="47383"/>
                </a:cubicBezTo>
                <a:lnTo>
                  <a:pt x="85725" y="22402"/>
                </a:lnTo>
                <a:lnTo>
                  <a:pt x="85725" y="22402"/>
                </a:lnTo>
                <a:close/>
              </a:path>
            </a:pathLst>
          </a:custGeom>
          <a:solidFill>
            <a:srgbClr val="00A8E1"/>
          </a:solidFill>
          <a:ln/>
        </p:spPr>
      </p:sp>
      <p:sp>
        <p:nvSpPr>
          <p:cNvPr id="13" name="Text 10"/>
          <p:cNvSpPr/>
          <p:nvPr/>
        </p:nvSpPr>
        <p:spPr>
          <a:xfrm>
            <a:off x="7878485" y="2537459"/>
            <a:ext cx="104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&amp; Security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587972" y="2842259"/>
            <a:ext cx="41338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Gateway (REST + WebSocket), AWS Cognito Auth, RBAC, WAF protection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431762" y="3501392"/>
            <a:ext cx="4379595" cy="998220"/>
          </a:xfrm>
          <a:custGeom>
            <a:avLst/>
            <a:gdLst/>
            <a:ahLst/>
            <a:cxnLst/>
            <a:rect l="l" t="t" r="r" b="b"/>
            <a:pathLst>
              <a:path w="4379595" h="998220">
                <a:moveTo>
                  <a:pt x="114296" y="0"/>
                </a:moveTo>
                <a:lnTo>
                  <a:pt x="4265299" y="0"/>
                </a:lnTo>
                <a:cubicBezTo>
                  <a:pt x="4328423" y="0"/>
                  <a:pt x="4379595" y="51172"/>
                  <a:pt x="4379595" y="114296"/>
                </a:cubicBezTo>
                <a:lnTo>
                  <a:pt x="4379595" y="883924"/>
                </a:lnTo>
                <a:cubicBezTo>
                  <a:pt x="4379595" y="947048"/>
                  <a:pt x="4328423" y="998220"/>
                  <a:pt x="4265299" y="998220"/>
                </a:cubicBezTo>
                <a:lnTo>
                  <a:pt x="114296" y="998220"/>
                </a:lnTo>
                <a:cubicBezTo>
                  <a:pt x="51172" y="998220"/>
                  <a:pt x="0" y="947048"/>
                  <a:pt x="0" y="88392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gradFill flip="none" rotWithShape="1">
            <a:gsLst>
              <a:gs pos="0">
                <a:srgbClr val="FF9900">
                  <a:alpha val="20000"/>
                </a:srgbClr>
              </a:gs>
              <a:gs pos="100000">
                <a:srgbClr val="FF9900">
                  <a:alpha val="5000"/>
                </a:srgbClr>
              </a:gs>
            </a:gsLst>
            <a:lin ang="0" scaled="1"/>
          </a:gradFill>
          <a:ln w="10160">
            <a:solidFill>
              <a:srgbClr val="FF9900">
                <a:alpha val="4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590354" y="3779523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39270" y="70489"/>
                </a:moveTo>
                <a:cubicBezTo>
                  <a:pt x="143355" y="69384"/>
                  <a:pt x="147641" y="71326"/>
                  <a:pt x="149483" y="75110"/>
                </a:cubicBezTo>
                <a:lnTo>
                  <a:pt x="155711" y="87701"/>
                </a:lnTo>
                <a:cubicBezTo>
                  <a:pt x="159161" y="88170"/>
                  <a:pt x="162543" y="89107"/>
                  <a:pt x="165724" y="90413"/>
                </a:cubicBezTo>
                <a:lnTo>
                  <a:pt x="177444" y="82611"/>
                </a:lnTo>
                <a:cubicBezTo>
                  <a:pt x="180960" y="80267"/>
                  <a:pt x="185615" y="80736"/>
                  <a:pt x="188595" y="83716"/>
                </a:cubicBezTo>
                <a:lnTo>
                  <a:pt x="195024" y="90145"/>
                </a:lnTo>
                <a:cubicBezTo>
                  <a:pt x="198005" y="93125"/>
                  <a:pt x="198473" y="97814"/>
                  <a:pt x="196129" y="101296"/>
                </a:cubicBezTo>
                <a:lnTo>
                  <a:pt x="188327" y="112983"/>
                </a:lnTo>
                <a:cubicBezTo>
                  <a:pt x="188963" y="114557"/>
                  <a:pt x="189533" y="116198"/>
                  <a:pt x="190001" y="117905"/>
                </a:cubicBezTo>
                <a:cubicBezTo>
                  <a:pt x="190470" y="119613"/>
                  <a:pt x="190772" y="121287"/>
                  <a:pt x="191006" y="122995"/>
                </a:cubicBezTo>
                <a:lnTo>
                  <a:pt x="203630" y="129224"/>
                </a:lnTo>
                <a:cubicBezTo>
                  <a:pt x="207414" y="131099"/>
                  <a:pt x="209357" y="135385"/>
                  <a:pt x="208251" y="139437"/>
                </a:cubicBezTo>
                <a:lnTo>
                  <a:pt x="205907" y="148210"/>
                </a:lnTo>
                <a:cubicBezTo>
                  <a:pt x="204802" y="152262"/>
                  <a:pt x="201018" y="155008"/>
                  <a:pt x="196799" y="154740"/>
                </a:cubicBezTo>
                <a:lnTo>
                  <a:pt x="182735" y="153836"/>
                </a:lnTo>
                <a:cubicBezTo>
                  <a:pt x="180625" y="156549"/>
                  <a:pt x="178181" y="159060"/>
                  <a:pt x="175401" y="161203"/>
                </a:cubicBezTo>
                <a:lnTo>
                  <a:pt x="176306" y="175234"/>
                </a:lnTo>
                <a:cubicBezTo>
                  <a:pt x="176573" y="179453"/>
                  <a:pt x="173828" y="183271"/>
                  <a:pt x="169776" y="184342"/>
                </a:cubicBezTo>
                <a:lnTo>
                  <a:pt x="161002" y="186686"/>
                </a:lnTo>
                <a:cubicBezTo>
                  <a:pt x="156917" y="187791"/>
                  <a:pt x="152664" y="185849"/>
                  <a:pt x="150789" y="182065"/>
                </a:cubicBezTo>
                <a:lnTo>
                  <a:pt x="144560" y="169474"/>
                </a:lnTo>
                <a:cubicBezTo>
                  <a:pt x="141111" y="169005"/>
                  <a:pt x="137729" y="168068"/>
                  <a:pt x="134548" y="166762"/>
                </a:cubicBezTo>
                <a:lnTo>
                  <a:pt x="122828" y="174564"/>
                </a:lnTo>
                <a:cubicBezTo>
                  <a:pt x="119312" y="176908"/>
                  <a:pt x="114657" y="176439"/>
                  <a:pt x="111677" y="173459"/>
                </a:cubicBezTo>
                <a:lnTo>
                  <a:pt x="105248" y="167030"/>
                </a:lnTo>
                <a:cubicBezTo>
                  <a:pt x="102267" y="164050"/>
                  <a:pt x="101798" y="159395"/>
                  <a:pt x="104142" y="155879"/>
                </a:cubicBezTo>
                <a:lnTo>
                  <a:pt x="111945" y="144159"/>
                </a:lnTo>
                <a:cubicBezTo>
                  <a:pt x="111309" y="142585"/>
                  <a:pt x="110739" y="140944"/>
                  <a:pt x="110270" y="139236"/>
                </a:cubicBezTo>
                <a:cubicBezTo>
                  <a:pt x="109802" y="137528"/>
                  <a:pt x="109500" y="135821"/>
                  <a:pt x="109266" y="134146"/>
                </a:cubicBezTo>
                <a:lnTo>
                  <a:pt x="96642" y="127918"/>
                </a:lnTo>
                <a:cubicBezTo>
                  <a:pt x="92858" y="126043"/>
                  <a:pt x="90949" y="121756"/>
                  <a:pt x="92020" y="117704"/>
                </a:cubicBezTo>
                <a:lnTo>
                  <a:pt x="94364" y="108931"/>
                </a:lnTo>
                <a:cubicBezTo>
                  <a:pt x="95470" y="104879"/>
                  <a:pt x="99253" y="102133"/>
                  <a:pt x="103473" y="102401"/>
                </a:cubicBezTo>
                <a:lnTo>
                  <a:pt x="117504" y="103305"/>
                </a:lnTo>
                <a:cubicBezTo>
                  <a:pt x="119613" y="100593"/>
                  <a:pt x="122058" y="98081"/>
                  <a:pt x="124837" y="95938"/>
                </a:cubicBezTo>
                <a:lnTo>
                  <a:pt x="123933" y="81941"/>
                </a:lnTo>
                <a:cubicBezTo>
                  <a:pt x="123665" y="77722"/>
                  <a:pt x="126411" y="73904"/>
                  <a:pt x="130463" y="72833"/>
                </a:cubicBezTo>
                <a:lnTo>
                  <a:pt x="139236" y="70489"/>
                </a:lnTo>
                <a:close/>
                <a:moveTo>
                  <a:pt x="150153" y="113854"/>
                </a:moveTo>
                <a:cubicBezTo>
                  <a:pt x="142021" y="113863"/>
                  <a:pt x="135426" y="120472"/>
                  <a:pt x="135435" y="128604"/>
                </a:cubicBezTo>
                <a:cubicBezTo>
                  <a:pt x="135445" y="136736"/>
                  <a:pt x="142054" y="143331"/>
                  <a:pt x="150186" y="143321"/>
                </a:cubicBezTo>
                <a:cubicBezTo>
                  <a:pt x="158318" y="143312"/>
                  <a:pt x="164913" y="136703"/>
                  <a:pt x="164903" y="128571"/>
                </a:cubicBezTo>
                <a:cubicBezTo>
                  <a:pt x="164894" y="120439"/>
                  <a:pt x="158285" y="113844"/>
                  <a:pt x="150153" y="113854"/>
                </a:cubicBezTo>
                <a:close/>
                <a:moveTo>
                  <a:pt x="75311" y="-15236"/>
                </a:moveTo>
                <a:lnTo>
                  <a:pt x="84084" y="-12892"/>
                </a:lnTo>
                <a:cubicBezTo>
                  <a:pt x="88136" y="-11787"/>
                  <a:pt x="90882" y="-7970"/>
                  <a:pt x="90614" y="-3784"/>
                </a:cubicBezTo>
                <a:lnTo>
                  <a:pt x="89710" y="10213"/>
                </a:lnTo>
                <a:cubicBezTo>
                  <a:pt x="92489" y="12356"/>
                  <a:pt x="94934" y="14834"/>
                  <a:pt x="97043" y="17580"/>
                </a:cubicBezTo>
                <a:lnTo>
                  <a:pt x="111108" y="16676"/>
                </a:lnTo>
                <a:cubicBezTo>
                  <a:pt x="115293" y="16408"/>
                  <a:pt x="119111" y="19154"/>
                  <a:pt x="120216" y="23206"/>
                </a:cubicBezTo>
                <a:lnTo>
                  <a:pt x="122560" y="31979"/>
                </a:lnTo>
                <a:cubicBezTo>
                  <a:pt x="123632" y="36031"/>
                  <a:pt x="121723" y="40318"/>
                  <a:pt x="117939" y="42193"/>
                </a:cubicBezTo>
                <a:lnTo>
                  <a:pt x="105315" y="48421"/>
                </a:lnTo>
                <a:cubicBezTo>
                  <a:pt x="105080" y="50129"/>
                  <a:pt x="104745" y="51837"/>
                  <a:pt x="104310" y="53511"/>
                </a:cubicBezTo>
                <a:cubicBezTo>
                  <a:pt x="103875" y="55185"/>
                  <a:pt x="103272" y="56860"/>
                  <a:pt x="102636" y="58434"/>
                </a:cubicBezTo>
                <a:lnTo>
                  <a:pt x="110438" y="70154"/>
                </a:lnTo>
                <a:cubicBezTo>
                  <a:pt x="112782" y="73670"/>
                  <a:pt x="112313" y="78325"/>
                  <a:pt x="109333" y="81305"/>
                </a:cubicBezTo>
                <a:lnTo>
                  <a:pt x="102903" y="87734"/>
                </a:lnTo>
                <a:cubicBezTo>
                  <a:pt x="99923" y="90714"/>
                  <a:pt x="95269" y="91183"/>
                  <a:pt x="91753" y="88839"/>
                </a:cubicBezTo>
                <a:lnTo>
                  <a:pt x="80032" y="81037"/>
                </a:lnTo>
                <a:cubicBezTo>
                  <a:pt x="76851" y="82343"/>
                  <a:pt x="73469" y="83280"/>
                  <a:pt x="70020" y="83749"/>
                </a:cubicBezTo>
                <a:lnTo>
                  <a:pt x="63791" y="96340"/>
                </a:lnTo>
                <a:cubicBezTo>
                  <a:pt x="61916" y="100124"/>
                  <a:pt x="57630" y="102033"/>
                  <a:pt x="53578" y="100961"/>
                </a:cubicBezTo>
                <a:lnTo>
                  <a:pt x="44805" y="98617"/>
                </a:lnTo>
                <a:cubicBezTo>
                  <a:pt x="40719" y="97512"/>
                  <a:pt x="38007" y="93695"/>
                  <a:pt x="38275" y="89509"/>
                </a:cubicBezTo>
                <a:lnTo>
                  <a:pt x="39179" y="75478"/>
                </a:lnTo>
                <a:cubicBezTo>
                  <a:pt x="36400" y="73335"/>
                  <a:pt x="33955" y="70857"/>
                  <a:pt x="31845" y="68111"/>
                </a:cubicBezTo>
                <a:lnTo>
                  <a:pt x="17781" y="69015"/>
                </a:lnTo>
                <a:cubicBezTo>
                  <a:pt x="13595" y="69283"/>
                  <a:pt x="9778" y="66537"/>
                  <a:pt x="8673" y="62485"/>
                </a:cubicBezTo>
                <a:lnTo>
                  <a:pt x="6329" y="53712"/>
                </a:lnTo>
                <a:cubicBezTo>
                  <a:pt x="5257" y="49660"/>
                  <a:pt x="7166" y="45374"/>
                  <a:pt x="10950" y="43499"/>
                </a:cubicBezTo>
                <a:lnTo>
                  <a:pt x="23574" y="37270"/>
                </a:lnTo>
                <a:cubicBezTo>
                  <a:pt x="23809" y="35562"/>
                  <a:pt x="24144" y="33888"/>
                  <a:pt x="24579" y="32180"/>
                </a:cubicBezTo>
                <a:cubicBezTo>
                  <a:pt x="25048" y="30473"/>
                  <a:pt x="25584" y="28832"/>
                  <a:pt x="26253" y="27258"/>
                </a:cubicBezTo>
                <a:lnTo>
                  <a:pt x="18451" y="15571"/>
                </a:lnTo>
                <a:cubicBezTo>
                  <a:pt x="16107" y="12055"/>
                  <a:pt x="16576" y="7400"/>
                  <a:pt x="19556" y="4420"/>
                </a:cubicBezTo>
                <a:lnTo>
                  <a:pt x="25985" y="-2009"/>
                </a:lnTo>
                <a:cubicBezTo>
                  <a:pt x="28966" y="-4989"/>
                  <a:pt x="33620" y="-5458"/>
                  <a:pt x="37136" y="-3114"/>
                </a:cubicBezTo>
                <a:lnTo>
                  <a:pt x="48857" y="4688"/>
                </a:lnTo>
                <a:cubicBezTo>
                  <a:pt x="52038" y="3382"/>
                  <a:pt x="55420" y="2445"/>
                  <a:pt x="58869" y="1976"/>
                </a:cubicBezTo>
                <a:lnTo>
                  <a:pt x="65097" y="-10615"/>
                </a:lnTo>
                <a:cubicBezTo>
                  <a:pt x="66973" y="-14399"/>
                  <a:pt x="71225" y="-16308"/>
                  <a:pt x="75311" y="-15236"/>
                </a:cubicBezTo>
                <a:close/>
                <a:moveTo>
                  <a:pt x="64428" y="28129"/>
                </a:moveTo>
                <a:cubicBezTo>
                  <a:pt x="56296" y="28129"/>
                  <a:pt x="49694" y="34731"/>
                  <a:pt x="49694" y="42863"/>
                </a:cubicBezTo>
                <a:cubicBezTo>
                  <a:pt x="49694" y="50994"/>
                  <a:pt x="56296" y="57596"/>
                  <a:pt x="64428" y="57596"/>
                </a:cubicBezTo>
                <a:cubicBezTo>
                  <a:pt x="72560" y="57596"/>
                  <a:pt x="79162" y="50994"/>
                  <a:pt x="79162" y="42863"/>
                </a:cubicBezTo>
                <a:cubicBezTo>
                  <a:pt x="79162" y="34731"/>
                  <a:pt x="72560" y="28129"/>
                  <a:pt x="64428" y="28129"/>
                </a:cubicBez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17" name="Text 14"/>
          <p:cNvSpPr/>
          <p:nvPr/>
        </p:nvSpPr>
        <p:spPr>
          <a:xfrm>
            <a:off x="7878485" y="3750948"/>
            <a:ext cx="1228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Lambda Services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587972" y="4055748"/>
            <a:ext cx="4133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Profile, Eligibility, Chat, Document, Search, Notification microservices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431762" y="4617719"/>
            <a:ext cx="4379595" cy="998220"/>
          </a:xfrm>
          <a:custGeom>
            <a:avLst/>
            <a:gdLst/>
            <a:ahLst/>
            <a:cxnLst/>
            <a:rect l="l" t="t" r="r" b="b"/>
            <a:pathLst>
              <a:path w="4379595" h="998220">
                <a:moveTo>
                  <a:pt x="114296" y="0"/>
                </a:moveTo>
                <a:lnTo>
                  <a:pt x="4265299" y="0"/>
                </a:lnTo>
                <a:cubicBezTo>
                  <a:pt x="4328423" y="0"/>
                  <a:pt x="4379595" y="51172"/>
                  <a:pt x="4379595" y="114296"/>
                </a:cubicBezTo>
                <a:lnTo>
                  <a:pt x="4379595" y="883924"/>
                </a:lnTo>
                <a:cubicBezTo>
                  <a:pt x="4379595" y="947048"/>
                  <a:pt x="4328423" y="998220"/>
                  <a:pt x="4265299" y="998220"/>
                </a:cubicBezTo>
                <a:lnTo>
                  <a:pt x="114296" y="998220"/>
                </a:lnTo>
                <a:cubicBezTo>
                  <a:pt x="51172" y="998220"/>
                  <a:pt x="0" y="947048"/>
                  <a:pt x="0" y="88392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gradFill flip="none" rotWithShape="1">
            <a:gsLst>
              <a:gs pos="0">
                <a:srgbClr val="00A8E1">
                  <a:alpha val="20000"/>
                </a:srgbClr>
              </a:gs>
              <a:gs pos="100000">
                <a:srgbClr val="00A8E1">
                  <a:alpha val="5000"/>
                </a:srgbClr>
              </a:gs>
            </a:gsLst>
            <a:lin ang="0" scaled="1"/>
          </a:gradFill>
          <a:ln w="10160">
            <a:solidFill>
              <a:srgbClr val="00A8E1">
                <a:alpha val="40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611785" y="4802507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0184" y="18752"/>
                </a:moveTo>
                <a:cubicBezTo>
                  <a:pt x="40184" y="8405"/>
                  <a:pt x="48589" y="0"/>
                  <a:pt x="58936" y="0"/>
                </a:cubicBezTo>
                <a:lnTo>
                  <a:pt x="66973" y="0"/>
                </a:lnTo>
                <a:cubicBezTo>
                  <a:pt x="72900" y="0"/>
                  <a:pt x="77688" y="4789"/>
                  <a:pt x="77688" y="10716"/>
                </a:cubicBezTo>
                <a:lnTo>
                  <a:pt x="77688" y="160734"/>
                </a:lnTo>
                <a:cubicBezTo>
                  <a:pt x="77688" y="166661"/>
                  <a:pt x="72900" y="171450"/>
                  <a:pt x="66973" y="171450"/>
                </a:cubicBezTo>
                <a:lnTo>
                  <a:pt x="56257" y="171450"/>
                </a:lnTo>
                <a:cubicBezTo>
                  <a:pt x="46278" y="171450"/>
                  <a:pt x="37873" y="164619"/>
                  <a:pt x="35496" y="155377"/>
                </a:cubicBezTo>
                <a:cubicBezTo>
                  <a:pt x="35261" y="155377"/>
                  <a:pt x="35060" y="155377"/>
                  <a:pt x="34826" y="155377"/>
                </a:cubicBezTo>
                <a:cubicBezTo>
                  <a:pt x="20025" y="155377"/>
                  <a:pt x="8037" y="143388"/>
                  <a:pt x="8037" y="128588"/>
                </a:cubicBezTo>
                <a:cubicBezTo>
                  <a:pt x="8037" y="122560"/>
                  <a:pt x="10046" y="117001"/>
                  <a:pt x="13395" y="112514"/>
                </a:cubicBezTo>
                <a:cubicBezTo>
                  <a:pt x="6898" y="107625"/>
                  <a:pt x="2679" y="99856"/>
                  <a:pt x="2679" y="91083"/>
                </a:cubicBezTo>
                <a:cubicBezTo>
                  <a:pt x="2679" y="80736"/>
                  <a:pt x="8573" y="71728"/>
                  <a:pt x="17145" y="67274"/>
                </a:cubicBezTo>
                <a:cubicBezTo>
                  <a:pt x="14767" y="63256"/>
                  <a:pt x="13395" y="58568"/>
                  <a:pt x="13395" y="53578"/>
                </a:cubicBezTo>
                <a:cubicBezTo>
                  <a:pt x="13395" y="38777"/>
                  <a:pt x="25383" y="26789"/>
                  <a:pt x="40184" y="26789"/>
                </a:cubicBezTo>
                <a:lnTo>
                  <a:pt x="40184" y="18752"/>
                </a:lnTo>
                <a:close/>
                <a:moveTo>
                  <a:pt x="131266" y="18752"/>
                </a:moveTo>
                <a:lnTo>
                  <a:pt x="131266" y="26789"/>
                </a:lnTo>
                <a:cubicBezTo>
                  <a:pt x="146067" y="26789"/>
                  <a:pt x="158055" y="38777"/>
                  <a:pt x="158055" y="53578"/>
                </a:cubicBezTo>
                <a:cubicBezTo>
                  <a:pt x="158055" y="58601"/>
                  <a:pt x="156683" y="63289"/>
                  <a:pt x="154305" y="67274"/>
                </a:cubicBezTo>
                <a:cubicBezTo>
                  <a:pt x="162911" y="71728"/>
                  <a:pt x="168771" y="80702"/>
                  <a:pt x="168771" y="91083"/>
                </a:cubicBezTo>
                <a:cubicBezTo>
                  <a:pt x="168771" y="99856"/>
                  <a:pt x="164552" y="107625"/>
                  <a:pt x="158055" y="112514"/>
                </a:cubicBezTo>
                <a:cubicBezTo>
                  <a:pt x="161404" y="117001"/>
                  <a:pt x="163413" y="122560"/>
                  <a:pt x="163413" y="128588"/>
                </a:cubicBezTo>
                <a:cubicBezTo>
                  <a:pt x="163413" y="143388"/>
                  <a:pt x="151425" y="155377"/>
                  <a:pt x="136624" y="155377"/>
                </a:cubicBezTo>
                <a:cubicBezTo>
                  <a:pt x="136390" y="155377"/>
                  <a:pt x="136189" y="155377"/>
                  <a:pt x="135954" y="155377"/>
                </a:cubicBezTo>
                <a:cubicBezTo>
                  <a:pt x="133577" y="164619"/>
                  <a:pt x="125172" y="171450"/>
                  <a:pt x="115193" y="171450"/>
                </a:cubicBezTo>
                <a:lnTo>
                  <a:pt x="104477" y="171450"/>
                </a:lnTo>
                <a:cubicBezTo>
                  <a:pt x="98550" y="171450"/>
                  <a:pt x="93762" y="166661"/>
                  <a:pt x="93762" y="160734"/>
                </a:cubicBezTo>
                <a:lnTo>
                  <a:pt x="93762" y="10716"/>
                </a:lnTo>
                <a:cubicBezTo>
                  <a:pt x="93762" y="4789"/>
                  <a:pt x="98550" y="0"/>
                  <a:pt x="104477" y="0"/>
                </a:cubicBezTo>
                <a:lnTo>
                  <a:pt x="112514" y="0"/>
                </a:lnTo>
                <a:cubicBezTo>
                  <a:pt x="122861" y="0"/>
                  <a:pt x="131266" y="8405"/>
                  <a:pt x="131266" y="18752"/>
                </a:cubicBezTo>
                <a:close/>
              </a:path>
            </a:pathLst>
          </a:custGeom>
          <a:solidFill>
            <a:srgbClr val="00A8E1"/>
          </a:solidFill>
          <a:ln/>
        </p:spPr>
      </p:sp>
      <p:sp>
        <p:nvSpPr>
          <p:cNvPr id="21" name="Text 18"/>
          <p:cNvSpPr/>
          <p:nvPr/>
        </p:nvSpPr>
        <p:spPr>
          <a:xfrm>
            <a:off x="7878485" y="4773932"/>
            <a:ext cx="1104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AI/ML Services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587972" y="5078732"/>
            <a:ext cx="41338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Bedrock (Claude 3, Titan), Textract, Comprehend, Transcribe, Polly, Translate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431762" y="5737860"/>
            <a:ext cx="4379595" cy="998220"/>
          </a:xfrm>
          <a:custGeom>
            <a:avLst/>
            <a:gdLst/>
            <a:ahLst/>
            <a:cxnLst/>
            <a:rect l="l" t="t" r="r" b="b"/>
            <a:pathLst>
              <a:path w="4379595" h="998220">
                <a:moveTo>
                  <a:pt x="114296" y="0"/>
                </a:moveTo>
                <a:lnTo>
                  <a:pt x="4265299" y="0"/>
                </a:lnTo>
                <a:cubicBezTo>
                  <a:pt x="4328423" y="0"/>
                  <a:pt x="4379595" y="51172"/>
                  <a:pt x="4379595" y="114296"/>
                </a:cubicBezTo>
                <a:lnTo>
                  <a:pt x="4379595" y="883924"/>
                </a:lnTo>
                <a:cubicBezTo>
                  <a:pt x="4379595" y="947048"/>
                  <a:pt x="4328423" y="998220"/>
                  <a:pt x="4265299" y="998220"/>
                </a:cubicBezTo>
                <a:lnTo>
                  <a:pt x="114296" y="998220"/>
                </a:lnTo>
                <a:cubicBezTo>
                  <a:pt x="51172" y="998220"/>
                  <a:pt x="0" y="947048"/>
                  <a:pt x="0" y="88392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gradFill flip="none" rotWithShape="1">
            <a:gsLst>
              <a:gs pos="0">
                <a:srgbClr val="FF9900">
                  <a:alpha val="20000"/>
                </a:srgbClr>
              </a:gs>
              <a:gs pos="100000">
                <a:srgbClr val="FF9900">
                  <a:alpha val="5000"/>
                </a:srgbClr>
              </a:gs>
            </a:gsLst>
            <a:lin ang="0" scaled="1"/>
          </a:gradFill>
          <a:ln w="10160">
            <a:solidFill>
              <a:srgbClr val="FF9900">
                <a:alpha val="40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622500" y="5922648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50019" y="68915"/>
                </a:moveTo>
                <a:cubicBezTo>
                  <a:pt x="145063" y="72197"/>
                  <a:pt x="139370" y="74842"/>
                  <a:pt x="133443" y="76952"/>
                </a:cubicBezTo>
                <a:cubicBezTo>
                  <a:pt x="117704" y="82577"/>
                  <a:pt x="97043" y="85725"/>
                  <a:pt x="75009" y="85725"/>
                </a:cubicBezTo>
                <a:cubicBezTo>
                  <a:pt x="52975" y="85725"/>
                  <a:pt x="32281" y="82544"/>
                  <a:pt x="16576" y="76952"/>
                </a:cubicBezTo>
                <a:cubicBezTo>
                  <a:pt x="10682" y="74842"/>
                  <a:pt x="4956" y="72197"/>
                  <a:pt x="0" y="68915"/>
                </a:cubicBezTo>
                <a:lnTo>
                  <a:pt x="0" y="96441"/>
                </a:lnTo>
                <a:cubicBezTo>
                  <a:pt x="0" y="111242"/>
                  <a:pt x="33587" y="123230"/>
                  <a:pt x="75009" y="123230"/>
                </a:cubicBezTo>
                <a:cubicBezTo>
                  <a:pt x="116432" y="123230"/>
                  <a:pt x="150019" y="111242"/>
                  <a:pt x="150019" y="96441"/>
                </a:cubicBezTo>
                <a:lnTo>
                  <a:pt x="150019" y="68915"/>
                </a:lnTo>
                <a:close/>
                <a:moveTo>
                  <a:pt x="150019" y="42863"/>
                </a:moveTo>
                <a:lnTo>
                  <a:pt x="150019" y="26789"/>
                </a:lnTo>
                <a:cubicBezTo>
                  <a:pt x="150019" y="11988"/>
                  <a:pt x="116432" y="0"/>
                  <a:pt x="75009" y="0"/>
                </a:cubicBezTo>
                <a:cubicBezTo>
                  <a:pt x="33587" y="0"/>
                  <a:pt x="0" y="11988"/>
                  <a:pt x="0" y="26789"/>
                </a:cubicBezTo>
                <a:lnTo>
                  <a:pt x="0" y="42863"/>
                </a:lnTo>
                <a:cubicBezTo>
                  <a:pt x="0" y="57663"/>
                  <a:pt x="33587" y="69652"/>
                  <a:pt x="75009" y="69652"/>
                </a:cubicBezTo>
                <a:cubicBezTo>
                  <a:pt x="116432" y="69652"/>
                  <a:pt x="150019" y="57663"/>
                  <a:pt x="150019" y="42863"/>
                </a:cubicBezTo>
                <a:close/>
                <a:moveTo>
                  <a:pt x="133443" y="130530"/>
                </a:moveTo>
                <a:cubicBezTo>
                  <a:pt x="117738" y="136122"/>
                  <a:pt x="97077" y="139303"/>
                  <a:pt x="75009" y="139303"/>
                </a:cubicBezTo>
                <a:cubicBezTo>
                  <a:pt x="52942" y="139303"/>
                  <a:pt x="32281" y="136122"/>
                  <a:pt x="16576" y="130530"/>
                </a:cubicBezTo>
                <a:cubicBezTo>
                  <a:pt x="10682" y="128420"/>
                  <a:pt x="4956" y="125775"/>
                  <a:pt x="0" y="122493"/>
                </a:cubicBezTo>
                <a:lnTo>
                  <a:pt x="0" y="144661"/>
                </a:lnTo>
                <a:cubicBezTo>
                  <a:pt x="0" y="159462"/>
                  <a:pt x="33587" y="171450"/>
                  <a:pt x="75009" y="171450"/>
                </a:cubicBezTo>
                <a:cubicBezTo>
                  <a:pt x="116432" y="171450"/>
                  <a:pt x="150019" y="159462"/>
                  <a:pt x="150019" y="144661"/>
                </a:cubicBezTo>
                <a:lnTo>
                  <a:pt x="150019" y="122493"/>
                </a:lnTo>
                <a:cubicBezTo>
                  <a:pt x="145063" y="125775"/>
                  <a:pt x="139370" y="128420"/>
                  <a:pt x="133443" y="130530"/>
                </a:cubicBez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25" name="Text 22"/>
          <p:cNvSpPr/>
          <p:nvPr/>
        </p:nvSpPr>
        <p:spPr>
          <a:xfrm>
            <a:off x="7878485" y="5894073"/>
            <a:ext cx="80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587972" y="6198873"/>
            <a:ext cx="41338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OpenSearch (Vector DB), DynamoDB, RDS PostgreSQL, S3, ElastiCache Redis</a:t>
            </a:r>
            <a:endParaRPr lang="en-US" sz="16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3638A23-DD59-D246-9DA6-35406F1E55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43884"/>
            <a:ext cx="12192000" cy="66300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937903ee3fe1ce70e0414dfc208a0b0743ce2187.jpg"/>
          <p:cNvPicPr>
            <a:picLocks noChangeAspect="1"/>
          </p:cNvPicPr>
          <p:nvPr/>
        </p:nvPicPr>
        <p:blipFill>
          <a:blip r:embed="rId3">
            <a:alphaModFix amt="20000"/>
          </a:blip>
          <a:srcRect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F1419">
                  <a:alpha val="95000"/>
                </a:srgbClr>
              </a:gs>
              <a:gs pos="50000">
                <a:srgbClr val="232F3E">
                  <a:alpha val="90000"/>
                </a:srgbClr>
              </a:gs>
              <a:gs pos="100000">
                <a:srgbClr val="0F1419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533400" y="876420"/>
            <a:ext cx="4210050" cy="458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RAG Pipeline - The AI Brain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4810" y="1261110"/>
            <a:ext cx="6370320" cy="4284345"/>
          </a:xfrm>
          <a:custGeom>
            <a:avLst/>
            <a:gdLst/>
            <a:ahLst/>
            <a:cxnLst/>
            <a:rect l="l" t="t" r="r" b="b"/>
            <a:pathLst>
              <a:path w="6370320" h="4284345">
                <a:moveTo>
                  <a:pt x="152394" y="0"/>
                </a:moveTo>
                <a:lnTo>
                  <a:pt x="6217926" y="0"/>
                </a:lnTo>
                <a:cubicBezTo>
                  <a:pt x="6302091" y="0"/>
                  <a:pt x="6370320" y="68229"/>
                  <a:pt x="6370320" y="152394"/>
                </a:cubicBezTo>
                <a:lnTo>
                  <a:pt x="6370320" y="4131951"/>
                </a:lnTo>
                <a:cubicBezTo>
                  <a:pt x="6370320" y="4216116"/>
                  <a:pt x="6302091" y="4284345"/>
                  <a:pt x="6217926" y="4284345"/>
                </a:cubicBezTo>
                <a:lnTo>
                  <a:pt x="152394" y="4284345"/>
                </a:lnTo>
                <a:cubicBezTo>
                  <a:pt x="68229" y="4284345"/>
                  <a:pt x="0" y="4216116"/>
                  <a:pt x="0" y="4131951"/>
                </a:cubicBezTo>
                <a:lnTo>
                  <a:pt x="0" y="152394"/>
                </a:lnTo>
                <a:cubicBezTo>
                  <a:pt x="0" y="68286"/>
                  <a:pt x="68286" y="0"/>
                  <a:pt x="152394" y="0"/>
                </a:cubicBezTo>
                <a:close/>
              </a:path>
            </a:pathLst>
          </a:custGeom>
          <a:solidFill>
            <a:srgbClr val="232F3E">
              <a:alpha val="60000"/>
            </a:srgbClr>
          </a:solidFill>
          <a:ln w="10160">
            <a:solidFill>
              <a:srgbClr val="FF9900">
                <a:alpha val="30196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02932" y="149352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1438" y="23812"/>
                </a:moveTo>
                <a:cubicBezTo>
                  <a:pt x="71438" y="17227"/>
                  <a:pt x="76758" y="11906"/>
                  <a:pt x="83344" y="11906"/>
                </a:cubicBezTo>
                <a:lnTo>
                  <a:pt x="107156" y="11906"/>
                </a:lnTo>
                <a:cubicBezTo>
                  <a:pt x="113742" y="11906"/>
                  <a:pt x="119063" y="17227"/>
                  <a:pt x="119063" y="23812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104180" y="59531"/>
                </a:lnTo>
                <a:lnTo>
                  <a:pt x="104180" y="83344"/>
                </a:lnTo>
                <a:lnTo>
                  <a:pt x="148828" y="83344"/>
                </a:lnTo>
                <a:cubicBezTo>
                  <a:pt x="163637" y="83344"/>
                  <a:pt x="175617" y="95324"/>
                  <a:pt x="175617" y="110133"/>
                </a:cubicBezTo>
                <a:lnTo>
                  <a:pt x="175617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lnTo>
                  <a:pt x="190500" y="166688"/>
                </a:lnTo>
                <a:cubicBezTo>
                  <a:pt x="190500" y="173273"/>
                  <a:pt x="185179" y="178594"/>
                  <a:pt x="178594" y="178594"/>
                </a:cubicBezTo>
                <a:lnTo>
                  <a:pt x="154781" y="178594"/>
                </a:lnTo>
                <a:cubicBezTo>
                  <a:pt x="148196" y="178594"/>
                  <a:pt x="142875" y="173273"/>
                  <a:pt x="142875" y="166688"/>
                </a:cubicBezTo>
                <a:lnTo>
                  <a:pt x="142875" y="142875"/>
                </a:lnTo>
                <a:cubicBezTo>
                  <a:pt x="142875" y="136289"/>
                  <a:pt x="148196" y="130969"/>
                  <a:pt x="154781" y="130969"/>
                </a:cubicBezTo>
                <a:lnTo>
                  <a:pt x="157758" y="130969"/>
                </a:lnTo>
                <a:lnTo>
                  <a:pt x="157758" y="110133"/>
                </a:lnTo>
                <a:cubicBezTo>
                  <a:pt x="157758" y="105184"/>
                  <a:pt x="153777" y="101203"/>
                  <a:pt x="148828" y="101203"/>
                </a:cubicBezTo>
                <a:lnTo>
                  <a:pt x="104180" y="101203"/>
                </a:lnTo>
                <a:lnTo>
                  <a:pt x="104180" y="130969"/>
                </a:lnTo>
                <a:lnTo>
                  <a:pt x="107156" y="130969"/>
                </a:lnTo>
                <a:cubicBezTo>
                  <a:pt x="113742" y="130969"/>
                  <a:pt x="119063" y="136289"/>
                  <a:pt x="119063" y="142875"/>
                </a:cubicBezTo>
                <a:lnTo>
                  <a:pt x="119063" y="166688"/>
                </a:lnTo>
                <a:cubicBezTo>
                  <a:pt x="119063" y="173273"/>
                  <a:pt x="113742" y="178594"/>
                  <a:pt x="107156" y="178594"/>
                </a:cubicBezTo>
                <a:lnTo>
                  <a:pt x="83344" y="178594"/>
                </a:lnTo>
                <a:cubicBezTo>
                  <a:pt x="76758" y="178594"/>
                  <a:pt x="71438" y="173273"/>
                  <a:pt x="71438" y="166688"/>
                </a:cubicBezTo>
                <a:lnTo>
                  <a:pt x="71438" y="142875"/>
                </a:lnTo>
                <a:cubicBezTo>
                  <a:pt x="71438" y="136289"/>
                  <a:pt x="76758" y="130969"/>
                  <a:pt x="83344" y="130969"/>
                </a:cubicBezTo>
                <a:lnTo>
                  <a:pt x="86320" y="130969"/>
                </a:lnTo>
                <a:lnTo>
                  <a:pt x="86320" y="101203"/>
                </a:lnTo>
                <a:lnTo>
                  <a:pt x="41672" y="101203"/>
                </a:lnTo>
                <a:cubicBezTo>
                  <a:pt x="36723" y="101203"/>
                  <a:pt x="32742" y="105184"/>
                  <a:pt x="32742" y="110133"/>
                </a:cubicBezTo>
                <a:lnTo>
                  <a:pt x="32742" y="130969"/>
                </a:lnTo>
                <a:lnTo>
                  <a:pt x="35719" y="130969"/>
                </a:lnTo>
                <a:cubicBezTo>
                  <a:pt x="42304" y="130969"/>
                  <a:pt x="47625" y="136289"/>
                  <a:pt x="47625" y="142875"/>
                </a:cubicBezTo>
                <a:lnTo>
                  <a:pt x="47625" y="166688"/>
                </a:lnTo>
                <a:cubicBezTo>
                  <a:pt x="47625" y="173273"/>
                  <a:pt x="42304" y="178594"/>
                  <a:pt x="35719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42875"/>
                </a:lnTo>
                <a:cubicBezTo>
                  <a:pt x="0" y="136289"/>
                  <a:pt x="5321" y="130969"/>
                  <a:pt x="11906" y="130969"/>
                </a:cubicBezTo>
                <a:lnTo>
                  <a:pt x="14883" y="130969"/>
                </a:lnTo>
                <a:lnTo>
                  <a:pt x="14883" y="110133"/>
                </a:lnTo>
                <a:cubicBezTo>
                  <a:pt x="14883" y="95324"/>
                  <a:pt x="26863" y="83344"/>
                  <a:pt x="41672" y="83344"/>
                </a:cubicBezTo>
                <a:lnTo>
                  <a:pt x="86320" y="83344"/>
                </a:lnTo>
                <a:lnTo>
                  <a:pt x="86320" y="59531"/>
                </a:lnTo>
                <a:lnTo>
                  <a:pt x="83344" y="59531"/>
                </a:lnTo>
                <a:cubicBezTo>
                  <a:pt x="76758" y="59531"/>
                  <a:pt x="71438" y="54211"/>
                  <a:pt x="71438" y="47625"/>
                </a:cubicBezTo>
                <a:lnTo>
                  <a:pt x="71438" y="23812"/>
                </a:ln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9" name="Text 6"/>
          <p:cNvSpPr/>
          <p:nvPr/>
        </p:nvSpPr>
        <p:spPr>
          <a:xfrm>
            <a:off x="817245" y="1455423"/>
            <a:ext cx="5838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RAG Data Flow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70717" y="250233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FF9900"/>
              </a:gs>
              <a:gs pos="100000">
                <a:srgbClr val="FF9900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11" name="Shape 8"/>
          <p:cNvSpPr/>
          <p:nvPr/>
        </p:nvSpPr>
        <p:spPr>
          <a:xfrm>
            <a:off x="1165979" y="2673786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77763" y="97854"/>
                </a:moveTo>
                <a:cubicBezTo>
                  <a:pt x="74265" y="94357"/>
                  <a:pt x="68610" y="94357"/>
                  <a:pt x="65150" y="97854"/>
                </a:cubicBezTo>
                <a:lnTo>
                  <a:pt x="41337" y="121667"/>
                </a:lnTo>
                <a:cubicBezTo>
                  <a:pt x="37840" y="125164"/>
                  <a:pt x="37840" y="130820"/>
                  <a:pt x="41337" y="134280"/>
                </a:cubicBezTo>
                <a:cubicBezTo>
                  <a:pt x="44834" y="137740"/>
                  <a:pt x="50490" y="137778"/>
                  <a:pt x="53950" y="134280"/>
                </a:cubicBezTo>
                <a:lnTo>
                  <a:pt x="62508" y="125723"/>
                </a:lnTo>
                <a:lnTo>
                  <a:pt x="62508" y="157758"/>
                </a:lnTo>
                <a:cubicBezTo>
                  <a:pt x="62508" y="162706"/>
                  <a:pt x="66489" y="166688"/>
                  <a:pt x="71438" y="166688"/>
                </a:cubicBezTo>
                <a:cubicBezTo>
                  <a:pt x="76386" y="166688"/>
                  <a:pt x="80367" y="162706"/>
                  <a:pt x="80367" y="157758"/>
                </a:cubicBezTo>
                <a:lnTo>
                  <a:pt x="80367" y="125723"/>
                </a:lnTo>
                <a:lnTo>
                  <a:pt x="88925" y="134280"/>
                </a:lnTo>
                <a:cubicBezTo>
                  <a:pt x="92422" y="137778"/>
                  <a:pt x="98078" y="137778"/>
                  <a:pt x="101538" y="134280"/>
                </a:cubicBezTo>
                <a:cubicBezTo>
                  <a:pt x="104998" y="130783"/>
                  <a:pt x="105035" y="125127"/>
                  <a:pt x="101538" y="121667"/>
                </a:cubicBezTo>
                <a:lnTo>
                  <a:pt x="77725" y="9785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545782" y="3111936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50545" y="3302436"/>
            <a:ext cx="137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0F2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PDF/URL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932027" y="2892744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68302" y="93293"/>
                </a:moveTo>
                <a:cubicBezTo>
                  <a:pt x="172488" y="89107"/>
                  <a:pt x="172488" y="82309"/>
                  <a:pt x="168302" y="78124"/>
                </a:cubicBezTo>
                <a:lnTo>
                  <a:pt x="114724" y="24545"/>
                </a:lnTo>
                <a:cubicBezTo>
                  <a:pt x="110538" y="20360"/>
                  <a:pt x="103741" y="20360"/>
                  <a:pt x="99555" y="24545"/>
                </a:cubicBezTo>
                <a:cubicBezTo>
                  <a:pt x="95369" y="28731"/>
                  <a:pt x="95369" y="35529"/>
                  <a:pt x="99555" y="39715"/>
                </a:cubicBezTo>
                <a:lnTo>
                  <a:pt x="134849" y="75009"/>
                </a:lnTo>
                <a:lnTo>
                  <a:pt x="10716" y="75009"/>
                </a:lnTo>
                <a:cubicBezTo>
                  <a:pt x="4789" y="75009"/>
                  <a:pt x="0" y="79798"/>
                  <a:pt x="0" y="85725"/>
                </a:cubicBezTo>
                <a:cubicBezTo>
                  <a:pt x="0" y="91652"/>
                  <a:pt x="4789" y="96441"/>
                  <a:pt x="10716" y="96441"/>
                </a:cubicBezTo>
                <a:lnTo>
                  <a:pt x="134849" y="96441"/>
                </a:lnTo>
                <a:lnTo>
                  <a:pt x="99555" y="131735"/>
                </a:lnTo>
                <a:cubicBezTo>
                  <a:pt x="95369" y="135921"/>
                  <a:pt x="95369" y="142719"/>
                  <a:pt x="99555" y="146905"/>
                </a:cubicBezTo>
                <a:cubicBezTo>
                  <a:pt x="103741" y="151090"/>
                  <a:pt x="110538" y="151090"/>
                  <a:pt x="114724" y="146905"/>
                </a:cubicBezTo>
                <a:lnTo>
                  <a:pt x="168302" y="93326"/>
                </a:ln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15" name="Shape 12"/>
          <p:cNvSpPr/>
          <p:nvPr/>
        </p:nvSpPr>
        <p:spPr>
          <a:xfrm>
            <a:off x="2526625" y="250233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00A8E1"/>
              </a:gs>
              <a:gs pos="100000">
                <a:srgbClr val="00A8E1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16" name="Shape 13"/>
          <p:cNvSpPr/>
          <p:nvPr/>
        </p:nvSpPr>
        <p:spPr>
          <a:xfrm>
            <a:off x="2698075" y="2673786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1438" y="95250"/>
                </a:moveTo>
                <a:lnTo>
                  <a:pt x="56741" y="109947"/>
                </a:lnTo>
                <a:cubicBezTo>
                  <a:pt x="52053" y="108124"/>
                  <a:pt x="46992" y="107156"/>
                  <a:pt x="41672" y="107156"/>
                </a:cubicBezTo>
                <a:cubicBezTo>
                  <a:pt x="18641" y="107156"/>
                  <a:pt x="0" y="125797"/>
                  <a:pt x="0" y="148828"/>
                </a:cubicBezTo>
                <a:cubicBezTo>
                  <a:pt x="0" y="171859"/>
                  <a:pt x="18641" y="190500"/>
                  <a:pt x="41672" y="190500"/>
                </a:cubicBezTo>
                <a:cubicBezTo>
                  <a:pt x="64703" y="190500"/>
                  <a:pt x="83344" y="171859"/>
                  <a:pt x="83344" y="148828"/>
                </a:cubicBezTo>
                <a:cubicBezTo>
                  <a:pt x="83344" y="143508"/>
                  <a:pt x="82339" y="138447"/>
                  <a:pt x="80553" y="133759"/>
                </a:cubicBezTo>
                <a:lnTo>
                  <a:pt x="185738" y="28575"/>
                </a:lnTo>
                <a:cubicBezTo>
                  <a:pt x="188379" y="25933"/>
                  <a:pt x="188379" y="21692"/>
                  <a:pt x="185738" y="19050"/>
                </a:cubicBezTo>
                <a:cubicBezTo>
                  <a:pt x="175208" y="8520"/>
                  <a:pt x="158167" y="8520"/>
                  <a:pt x="147637" y="19050"/>
                </a:cubicBezTo>
                <a:lnTo>
                  <a:pt x="95250" y="71438"/>
                </a:lnTo>
                <a:lnTo>
                  <a:pt x="80553" y="56741"/>
                </a:lnTo>
                <a:cubicBezTo>
                  <a:pt x="82376" y="52053"/>
                  <a:pt x="83344" y="46992"/>
                  <a:pt x="83344" y="41672"/>
                </a:cubicBezTo>
                <a:cubicBezTo>
                  <a:pt x="83344" y="18641"/>
                  <a:pt x="64703" y="0"/>
                  <a:pt x="41672" y="0"/>
                </a:cubicBezTo>
                <a:cubicBezTo>
                  <a:pt x="18641" y="0"/>
                  <a:pt x="0" y="18641"/>
                  <a:pt x="0" y="41672"/>
                </a:cubicBezTo>
                <a:cubicBezTo>
                  <a:pt x="0" y="64703"/>
                  <a:pt x="18641" y="83344"/>
                  <a:pt x="41672" y="83344"/>
                </a:cubicBezTo>
                <a:cubicBezTo>
                  <a:pt x="46992" y="83344"/>
                  <a:pt x="52053" y="82339"/>
                  <a:pt x="56741" y="80553"/>
                </a:cubicBezTo>
                <a:lnTo>
                  <a:pt x="71438" y="95250"/>
                </a:lnTo>
                <a:close/>
                <a:moveTo>
                  <a:pt x="107863" y="131676"/>
                </a:moveTo>
                <a:lnTo>
                  <a:pt x="147638" y="171450"/>
                </a:lnTo>
                <a:cubicBezTo>
                  <a:pt x="158167" y="181980"/>
                  <a:pt x="175208" y="181980"/>
                  <a:pt x="185738" y="171450"/>
                </a:cubicBezTo>
                <a:cubicBezTo>
                  <a:pt x="188379" y="168808"/>
                  <a:pt x="188379" y="164567"/>
                  <a:pt x="185738" y="161925"/>
                </a:cubicBezTo>
                <a:lnTo>
                  <a:pt x="131676" y="107863"/>
                </a:lnTo>
                <a:lnTo>
                  <a:pt x="107863" y="131676"/>
                </a:lnTo>
                <a:close/>
                <a:moveTo>
                  <a:pt x="23812" y="41672"/>
                </a:moveTo>
                <a:cubicBezTo>
                  <a:pt x="23812" y="31815"/>
                  <a:pt x="31815" y="23812"/>
                  <a:pt x="41672" y="23812"/>
                </a:cubicBezTo>
                <a:cubicBezTo>
                  <a:pt x="51529" y="23812"/>
                  <a:pt x="59531" y="31815"/>
                  <a:pt x="59531" y="41672"/>
                </a:cubicBezTo>
                <a:cubicBezTo>
                  <a:pt x="59531" y="51529"/>
                  <a:pt x="51529" y="59531"/>
                  <a:pt x="41672" y="59531"/>
                </a:cubicBezTo>
                <a:cubicBezTo>
                  <a:pt x="31815" y="59531"/>
                  <a:pt x="23812" y="51529"/>
                  <a:pt x="23812" y="41672"/>
                </a:cubicBezTo>
                <a:close/>
                <a:moveTo>
                  <a:pt x="41672" y="130969"/>
                </a:moveTo>
                <a:cubicBezTo>
                  <a:pt x="51529" y="130969"/>
                  <a:pt x="59531" y="138971"/>
                  <a:pt x="59531" y="148828"/>
                </a:cubicBezTo>
                <a:cubicBezTo>
                  <a:pt x="59531" y="158685"/>
                  <a:pt x="51529" y="166688"/>
                  <a:pt x="41672" y="166688"/>
                </a:cubicBezTo>
                <a:cubicBezTo>
                  <a:pt x="31815" y="166688"/>
                  <a:pt x="23812" y="158685"/>
                  <a:pt x="23812" y="148828"/>
                </a:cubicBezTo>
                <a:cubicBezTo>
                  <a:pt x="23812" y="138971"/>
                  <a:pt x="31815" y="130969"/>
                  <a:pt x="41672" y="13096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2101691" y="3111936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Chunking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2106454" y="3302436"/>
            <a:ext cx="137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0F2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512 tokens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487936" y="2892744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68302" y="93293"/>
                </a:moveTo>
                <a:cubicBezTo>
                  <a:pt x="172488" y="89107"/>
                  <a:pt x="172488" y="82309"/>
                  <a:pt x="168302" y="78124"/>
                </a:cubicBezTo>
                <a:lnTo>
                  <a:pt x="114724" y="24545"/>
                </a:lnTo>
                <a:cubicBezTo>
                  <a:pt x="110538" y="20360"/>
                  <a:pt x="103741" y="20360"/>
                  <a:pt x="99555" y="24545"/>
                </a:cubicBezTo>
                <a:cubicBezTo>
                  <a:pt x="95369" y="28731"/>
                  <a:pt x="95369" y="35529"/>
                  <a:pt x="99555" y="39715"/>
                </a:cubicBezTo>
                <a:lnTo>
                  <a:pt x="134849" y="75009"/>
                </a:lnTo>
                <a:lnTo>
                  <a:pt x="10716" y="75009"/>
                </a:lnTo>
                <a:cubicBezTo>
                  <a:pt x="4789" y="75009"/>
                  <a:pt x="0" y="79798"/>
                  <a:pt x="0" y="85725"/>
                </a:cubicBezTo>
                <a:cubicBezTo>
                  <a:pt x="0" y="91652"/>
                  <a:pt x="4789" y="96441"/>
                  <a:pt x="10716" y="96441"/>
                </a:cubicBezTo>
                <a:lnTo>
                  <a:pt x="134849" y="96441"/>
                </a:lnTo>
                <a:lnTo>
                  <a:pt x="99555" y="131735"/>
                </a:lnTo>
                <a:cubicBezTo>
                  <a:pt x="95369" y="135921"/>
                  <a:pt x="95369" y="142719"/>
                  <a:pt x="99555" y="146905"/>
                </a:cubicBezTo>
                <a:cubicBezTo>
                  <a:pt x="103741" y="151090"/>
                  <a:pt x="110538" y="151090"/>
                  <a:pt x="114724" y="146905"/>
                </a:cubicBezTo>
                <a:lnTo>
                  <a:pt x="168302" y="93326"/>
                </a:lnTo>
                <a:close/>
              </a:path>
            </a:pathLst>
          </a:custGeom>
          <a:solidFill>
            <a:srgbClr val="00A8E1"/>
          </a:solidFill>
          <a:ln/>
        </p:spPr>
      </p:sp>
      <p:sp>
        <p:nvSpPr>
          <p:cNvPr id="20" name="Shape 17"/>
          <p:cNvSpPr/>
          <p:nvPr/>
        </p:nvSpPr>
        <p:spPr>
          <a:xfrm>
            <a:off x="4082534" y="250233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FF9900"/>
              </a:gs>
              <a:gs pos="100000">
                <a:srgbClr val="FF9900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21" name="Shape 18"/>
          <p:cNvSpPr/>
          <p:nvPr/>
        </p:nvSpPr>
        <p:spPr>
          <a:xfrm>
            <a:off x="4253984" y="2673786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4519" y="85018"/>
                </a:moveTo>
                <a:cubicBezTo>
                  <a:pt x="29468" y="50416"/>
                  <a:pt x="59271" y="23812"/>
                  <a:pt x="95250" y="23812"/>
                </a:cubicBezTo>
                <a:cubicBezTo>
                  <a:pt x="114970" y="23812"/>
                  <a:pt x="132829" y="31812"/>
                  <a:pt x="145777" y="44723"/>
                </a:cubicBezTo>
                <a:cubicBezTo>
                  <a:pt x="145852" y="44797"/>
                  <a:pt x="145926" y="44872"/>
                  <a:pt x="146000" y="44946"/>
                </a:cubicBezTo>
                <a:lnTo>
                  <a:pt x="148828" y="47625"/>
                </a:lnTo>
                <a:lnTo>
                  <a:pt x="131006" y="47625"/>
                </a:lnTo>
                <a:cubicBezTo>
                  <a:pt x="124420" y="47625"/>
                  <a:pt x="119100" y="52946"/>
                  <a:pt x="119100" y="59531"/>
                </a:cubicBezTo>
                <a:cubicBezTo>
                  <a:pt x="119100" y="66117"/>
                  <a:pt x="124420" y="71438"/>
                  <a:pt x="131006" y="71438"/>
                </a:cubicBezTo>
                <a:lnTo>
                  <a:pt x="178631" y="71438"/>
                </a:lnTo>
                <a:cubicBezTo>
                  <a:pt x="185217" y="71438"/>
                  <a:pt x="190537" y="66117"/>
                  <a:pt x="190537" y="59531"/>
                </a:cubicBezTo>
                <a:lnTo>
                  <a:pt x="190537" y="11906"/>
                </a:lnTo>
                <a:cubicBezTo>
                  <a:pt x="190537" y="5321"/>
                  <a:pt x="185217" y="0"/>
                  <a:pt x="178631" y="0"/>
                </a:cubicBezTo>
                <a:cubicBezTo>
                  <a:pt x="172045" y="0"/>
                  <a:pt x="166725" y="5321"/>
                  <a:pt x="166725" y="11906"/>
                </a:cubicBezTo>
                <a:lnTo>
                  <a:pt x="166725" y="31775"/>
                </a:lnTo>
                <a:lnTo>
                  <a:pt x="162520" y="27794"/>
                </a:lnTo>
                <a:cubicBezTo>
                  <a:pt x="145293" y="10641"/>
                  <a:pt x="121481" y="0"/>
                  <a:pt x="95250" y="0"/>
                </a:cubicBezTo>
                <a:cubicBezTo>
                  <a:pt x="47253" y="0"/>
                  <a:pt x="7553" y="35496"/>
                  <a:pt x="967" y="81669"/>
                </a:cubicBezTo>
                <a:cubicBezTo>
                  <a:pt x="37" y="88181"/>
                  <a:pt x="4539" y="94208"/>
                  <a:pt x="11050" y="95138"/>
                </a:cubicBezTo>
                <a:cubicBezTo>
                  <a:pt x="17562" y="96069"/>
                  <a:pt x="23589" y="91529"/>
                  <a:pt x="24519" y="85055"/>
                </a:cubicBezTo>
                <a:close/>
                <a:moveTo>
                  <a:pt x="189533" y="108831"/>
                </a:moveTo>
                <a:cubicBezTo>
                  <a:pt x="190463" y="102319"/>
                  <a:pt x="185924" y="96292"/>
                  <a:pt x="179450" y="95362"/>
                </a:cubicBezTo>
                <a:cubicBezTo>
                  <a:pt x="172975" y="94431"/>
                  <a:pt x="166911" y="98971"/>
                  <a:pt x="165981" y="105445"/>
                </a:cubicBezTo>
                <a:cubicBezTo>
                  <a:pt x="161032" y="140047"/>
                  <a:pt x="131229" y="166650"/>
                  <a:pt x="95250" y="166650"/>
                </a:cubicBezTo>
                <a:cubicBezTo>
                  <a:pt x="75530" y="166650"/>
                  <a:pt x="57671" y="158651"/>
                  <a:pt x="44723" y="145740"/>
                </a:cubicBezTo>
                <a:cubicBezTo>
                  <a:pt x="44648" y="145666"/>
                  <a:pt x="44574" y="145591"/>
                  <a:pt x="44500" y="145517"/>
                </a:cubicBezTo>
                <a:lnTo>
                  <a:pt x="41672" y="142838"/>
                </a:lnTo>
                <a:lnTo>
                  <a:pt x="59494" y="142838"/>
                </a:lnTo>
                <a:cubicBezTo>
                  <a:pt x="66080" y="142838"/>
                  <a:pt x="71400" y="137517"/>
                  <a:pt x="71400" y="130932"/>
                </a:cubicBezTo>
                <a:cubicBezTo>
                  <a:pt x="71400" y="124346"/>
                  <a:pt x="66080" y="119025"/>
                  <a:pt x="59494" y="119025"/>
                </a:cubicBezTo>
                <a:lnTo>
                  <a:pt x="11906" y="119063"/>
                </a:lnTo>
                <a:cubicBezTo>
                  <a:pt x="8744" y="119063"/>
                  <a:pt x="5693" y="120328"/>
                  <a:pt x="3460" y="122597"/>
                </a:cubicBezTo>
                <a:cubicBezTo>
                  <a:pt x="1228" y="124867"/>
                  <a:pt x="-37" y="127881"/>
                  <a:pt x="0" y="131080"/>
                </a:cubicBezTo>
                <a:lnTo>
                  <a:pt x="372" y="178333"/>
                </a:lnTo>
                <a:cubicBezTo>
                  <a:pt x="409" y="184919"/>
                  <a:pt x="5804" y="190202"/>
                  <a:pt x="12390" y="190128"/>
                </a:cubicBezTo>
                <a:cubicBezTo>
                  <a:pt x="18976" y="190054"/>
                  <a:pt x="24259" y="184696"/>
                  <a:pt x="24185" y="178110"/>
                </a:cubicBezTo>
                <a:lnTo>
                  <a:pt x="24036" y="158948"/>
                </a:lnTo>
                <a:lnTo>
                  <a:pt x="28017" y="162706"/>
                </a:lnTo>
                <a:cubicBezTo>
                  <a:pt x="45244" y="179859"/>
                  <a:pt x="69019" y="190500"/>
                  <a:pt x="95250" y="190500"/>
                </a:cubicBezTo>
                <a:cubicBezTo>
                  <a:pt x="143247" y="190500"/>
                  <a:pt x="182947" y="155004"/>
                  <a:pt x="189533" y="10883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3657600" y="3111936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Embeddings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3662362" y="3302436"/>
            <a:ext cx="137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0F2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1536-dim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043845" y="2892744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68302" y="93293"/>
                </a:moveTo>
                <a:cubicBezTo>
                  <a:pt x="172488" y="89107"/>
                  <a:pt x="172488" y="82309"/>
                  <a:pt x="168302" y="78124"/>
                </a:cubicBezTo>
                <a:lnTo>
                  <a:pt x="114724" y="24545"/>
                </a:lnTo>
                <a:cubicBezTo>
                  <a:pt x="110538" y="20360"/>
                  <a:pt x="103741" y="20360"/>
                  <a:pt x="99555" y="24545"/>
                </a:cubicBezTo>
                <a:cubicBezTo>
                  <a:pt x="95369" y="28731"/>
                  <a:pt x="95369" y="35529"/>
                  <a:pt x="99555" y="39715"/>
                </a:cubicBezTo>
                <a:lnTo>
                  <a:pt x="134849" y="75009"/>
                </a:lnTo>
                <a:lnTo>
                  <a:pt x="10716" y="75009"/>
                </a:lnTo>
                <a:cubicBezTo>
                  <a:pt x="4789" y="75009"/>
                  <a:pt x="0" y="79798"/>
                  <a:pt x="0" y="85725"/>
                </a:cubicBezTo>
                <a:cubicBezTo>
                  <a:pt x="0" y="91652"/>
                  <a:pt x="4789" y="96441"/>
                  <a:pt x="10716" y="96441"/>
                </a:cubicBezTo>
                <a:lnTo>
                  <a:pt x="134849" y="96441"/>
                </a:lnTo>
                <a:lnTo>
                  <a:pt x="99555" y="131735"/>
                </a:lnTo>
                <a:cubicBezTo>
                  <a:pt x="95369" y="135921"/>
                  <a:pt x="95369" y="142719"/>
                  <a:pt x="99555" y="146905"/>
                </a:cubicBezTo>
                <a:cubicBezTo>
                  <a:pt x="103741" y="151090"/>
                  <a:pt x="110538" y="151090"/>
                  <a:pt x="114724" y="146905"/>
                </a:cubicBezTo>
                <a:lnTo>
                  <a:pt x="168302" y="93326"/>
                </a:ln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25" name="Shape 22"/>
          <p:cNvSpPr/>
          <p:nvPr/>
        </p:nvSpPr>
        <p:spPr>
          <a:xfrm>
            <a:off x="5638443" y="250233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00A8E1"/>
              </a:gs>
              <a:gs pos="100000">
                <a:srgbClr val="00A8E1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26" name="Shape 23"/>
          <p:cNvSpPr/>
          <p:nvPr/>
        </p:nvSpPr>
        <p:spPr>
          <a:xfrm>
            <a:off x="5821799" y="2673786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4"/>
          <p:cNvSpPr/>
          <p:nvPr/>
        </p:nvSpPr>
        <p:spPr>
          <a:xfrm>
            <a:off x="5213509" y="3111936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OpenSearch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218272" y="3302436"/>
            <a:ext cx="137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0F2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Vector DB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579120" y="3607119"/>
            <a:ext cx="5981700" cy="9525"/>
          </a:xfrm>
          <a:custGeom>
            <a:avLst/>
            <a:gdLst/>
            <a:ahLst/>
            <a:cxnLst/>
            <a:rect l="l" t="t" r="r" b="b"/>
            <a:pathLst>
              <a:path w="5981700" h="9525">
                <a:moveTo>
                  <a:pt x="0" y="0"/>
                </a:moveTo>
                <a:lnTo>
                  <a:pt x="5981700" y="0"/>
                </a:lnTo>
                <a:lnTo>
                  <a:pt x="59817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F9900">
                  <a:alpha val="50000"/>
                </a:srgbClr>
              </a:gs>
              <a:gs pos="50000">
                <a:srgbClr val="00A8E1">
                  <a:alpha val="50000"/>
                </a:srgbClr>
              </a:gs>
              <a:gs pos="100000">
                <a:srgbClr val="FF9900">
                  <a:alpha val="50000"/>
                </a:srgbClr>
              </a:gs>
            </a:gsLst>
            <a:lin ang="0" scaled="1"/>
          </a:gradFill>
          <a:ln/>
        </p:spPr>
      </p:sp>
      <p:sp>
        <p:nvSpPr>
          <p:cNvPr id="30" name="Shape 27"/>
          <p:cNvSpPr/>
          <p:nvPr/>
        </p:nvSpPr>
        <p:spPr>
          <a:xfrm>
            <a:off x="970717" y="376904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00A8E1"/>
              </a:gs>
              <a:gs pos="100000">
                <a:srgbClr val="00A8E1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31" name="Shape 28"/>
          <p:cNvSpPr/>
          <p:nvPr/>
        </p:nvSpPr>
        <p:spPr>
          <a:xfrm>
            <a:off x="1142167" y="394049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78594"/>
                </a:moveTo>
                <a:cubicBezTo>
                  <a:pt x="147861" y="178594"/>
                  <a:pt x="190500" y="138596"/>
                  <a:pt x="190500" y="89297"/>
                </a:cubicBezTo>
                <a:cubicBezTo>
                  <a:pt x="190500" y="39998"/>
                  <a:pt x="147861" y="0"/>
                  <a:pt x="95250" y="0"/>
                </a:cubicBezTo>
                <a:cubicBezTo>
                  <a:pt x="42639" y="0"/>
                  <a:pt x="0" y="39998"/>
                  <a:pt x="0" y="89297"/>
                </a:cubicBezTo>
                <a:cubicBezTo>
                  <a:pt x="0" y="109500"/>
                  <a:pt x="7144" y="128104"/>
                  <a:pt x="19199" y="143061"/>
                </a:cubicBezTo>
                <a:lnTo>
                  <a:pt x="1042" y="177403"/>
                </a:lnTo>
                <a:cubicBezTo>
                  <a:pt x="-744" y="180752"/>
                  <a:pt x="-186" y="184845"/>
                  <a:pt x="2381" y="187635"/>
                </a:cubicBezTo>
                <a:cubicBezTo>
                  <a:pt x="4949" y="190426"/>
                  <a:pt x="9004" y="191281"/>
                  <a:pt x="12464" y="189793"/>
                </a:cubicBezTo>
                <a:lnTo>
                  <a:pt x="56517" y="170929"/>
                </a:lnTo>
                <a:cubicBezTo>
                  <a:pt x="68349" y="175840"/>
                  <a:pt x="81446" y="178594"/>
                  <a:pt x="95250" y="178594"/>
                </a:cubicBezTo>
                <a:close/>
                <a:moveTo>
                  <a:pt x="47625" y="77391"/>
                </a:moveTo>
                <a:cubicBezTo>
                  <a:pt x="54196" y="77391"/>
                  <a:pt x="59531" y="82726"/>
                  <a:pt x="59531" y="89297"/>
                </a:cubicBezTo>
                <a:cubicBezTo>
                  <a:pt x="59531" y="95868"/>
                  <a:pt x="54196" y="101203"/>
                  <a:pt x="47625" y="101203"/>
                </a:cubicBezTo>
                <a:cubicBezTo>
                  <a:pt x="41054" y="101203"/>
                  <a:pt x="35719" y="95868"/>
                  <a:pt x="35719" y="89297"/>
                </a:cubicBezTo>
                <a:cubicBezTo>
                  <a:pt x="35719" y="82726"/>
                  <a:pt x="41054" y="77391"/>
                  <a:pt x="47625" y="77391"/>
                </a:cubicBezTo>
                <a:close/>
                <a:moveTo>
                  <a:pt x="95250" y="77391"/>
                </a:moveTo>
                <a:cubicBezTo>
                  <a:pt x="101821" y="77391"/>
                  <a:pt x="107156" y="82726"/>
                  <a:pt x="107156" y="89297"/>
                </a:cubicBezTo>
                <a:cubicBezTo>
                  <a:pt x="107156" y="95868"/>
                  <a:pt x="101821" y="101203"/>
                  <a:pt x="95250" y="101203"/>
                </a:cubicBezTo>
                <a:cubicBezTo>
                  <a:pt x="88679" y="101203"/>
                  <a:pt x="83344" y="95868"/>
                  <a:pt x="83344" y="89297"/>
                </a:cubicBezTo>
                <a:cubicBezTo>
                  <a:pt x="83344" y="82726"/>
                  <a:pt x="88679" y="77391"/>
                  <a:pt x="95250" y="77391"/>
                </a:cubicBezTo>
                <a:close/>
                <a:moveTo>
                  <a:pt x="130969" y="89297"/>
                </a:moveTo>
                <a:cubicBezTo>
                  <a:pt x="130969" y="82726"/>
                  <a:pt x="136304" y="77391"/>
                  <a:pt x="142875" y="77391"/>
                </a:cubicBezTo>
                <a:cubicBezTo>
                  <a:pt x="149446" y="77391"/>
                  <a:pt x="154781" y="82726"/>
                  <a:pt x="154781" y="89297"/>
                </a:cubicBezTo>
                <a:cubicBezTo>
                  <a:pt x="154781" y="95868"/>
                  <a:pt x="149446" y="101203"/>
                  <a:pt x="142875" y="101203"/>
                </a:cubicBezTo>
                <a:cubicBezTo>
                  <a:pt x="136304" y="101203"/>
                  <a:pt x="130969" y="95868"/>
                  <a:pt x="130969" y="8929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Text 29"/>
          <p:cNvSpPr/>
          <p:nvPr/>
        </p:nvSpPr>
        <p:spPr>
          <a:xfrm>
            <a:off x="545782" y="4378644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Query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50545" y="4569144"/>
            <a:ext cx="137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0F2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Any Language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1932027" y="415944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68302" y="93293"/>
                </a:moveTo>
                <a:cubicBezTo>
                  <a:pt x="172488" y="89107"/>
                  <a:pt x="172488" y="82309"/>
                  <a:pt x="168302" y="78124"/>
                </a:cubicBezTo>
                <a:lnTo>
                  <a:pt x="114724" y="24545"/>
                </a:lnTo>
                <a:cubicBezTo>
                  <a:pt x="110538" y="20360"/>
                  <a:pt x="103741" y="20360"/>
                  <a:pt x="99555" y="24545"/>
                </a:cubicBezTo>
                <a:cubicBezTo>
                  <a:pt x="95369" y="28731"/>
                  <a:pt x="95369" y="35529"/>
                  <a:pt x="99555" y="39715"/>
                </a:cubicBezTo>
                <a:lnTo>
                  <a:pt x="134849" y="75009"/>
                </a:lnTo>
                <a:lnTo>
                  <a:pt x="10716" y="75009"/>
                </a:lnTo>
                <a:cubicBezTo>
                  <a:pt x="4789" y="75009"/>
                  <a:pt x="0" y="79798"/>
                  <a:pt x="0" y="85725"/>
                </a:cubicBezTo>
                <a:cubicBezTo>
                  <a:pt x="0" y="91652"/>
                  <a:pt x="4789" y="96441"/>
                  <a:pt x="10716" y="96441"/>
                </a:cubicBezTo>
                <a:lnTo>
                  <a:pt x="134849" y="96441"/>
                </a:lnTo>
                <a:lnTo>
                  <a:pt x="99555" y="131735"/>
                </a:lnTo>
                <a:cubicBezTo>
                  <a:pt x="95369" y="135921"/>
                  <a:pt x="95369" y="142719"/>
                  <a:pt x="99555" y="146905"/>
                </a:cubicBezTo>
                <a:cubicBezTo>
                  <a:pt x="103741" y="151090"/>
                  <a:pt x="110538" y="151090"/>
                  <a:pt x="114724" y="146905"/>
                </a:cubicBezTo>
                <a:lnTo>
                  <a:pt x="168302" y="93326"/>
                </a:lnTo>
                <a:close/>
              </a:path>
            </a:pathLst>
          </a:custGeom>
          <a:solidFill>
            <a:srgbClr val="00A8E1"/>
          </a:solidFill>
          <a:ln/>
        </p:spPr>
      </p:sp>
      <p:sp>
        <p:nvSpPr>
          <p:cNvPr id="35" name="Shape 32"/>
          <p:cNvSpPr/>
          <p:nvPr/>
        </p:nvSpPr>
        <p:spPr>
          <a:xfrm>
            <a:off x="2526625" y="376904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FF9900"/>
              </a:gs>
              <a:gs pos="100000">
                <a:srgbClr val="FF9900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36" name="Shape 33"/>
          <p:cNvSpPr/>
          <p:nvPr/>
        </p:nvSpPr>
        <p:spPr>
          <a:xfrm>
            <a:off x="2698075" y="394049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54781" y="77391"/>
                </a:moveTo>
                <a:cubicBezTo>
                  <a:pt x="154781" y="94469"/>
                  <a:pt x="149237" y="110244"/>
                  <a:pt x="139898" y="123044"/>
                </a:cubicBezTo>
                <a:lnTo>
                  <a:pt x="187003" y="170185"/>
                </a:lnTo>
                <a:cubicBezTo>
                  <a:pt x="191653" y="174836"/>
                  <a:pt x="191653" y="182389"/>
                  <a:pt x="187003" y="187040"/>
                </a:cubicBezTo>
                <a:cubicBezTo>
                  <a:pt x="182352" y="191691"/>
                  <a:pt x="174799" y="191691"/>
                  <a:pt x="170148" y="187040"/>
                </a:cubicBezTo>
                <a:lnTo>
                  <a:pt x="123044" y="139898"/>
                </a:lnTo>
                <a:cubicBezTo>
                  <a:pt x="110244" y="149237"/>
                  <a:pt x="94469" y="154781"/>
                  <a:pt x="77391" y="154781"/>
                </a:cubicBezTo>
                <a:cubicBezTo>
                  <a:pt x="34640" y="154781"/>
                  <a:pt x="0" y="120142"/>
                  <a:pt x="0" y="77391"/>
                </a:cubicBezTo>
                <a:cubicBezTo>
                  <a:pt x="0" y="34640"/>
                  <a:pt x="34640" y="0"/>
                  <a:pt x="77391" y="0"/>
                </a:cubicBezTo>
                <a:cubicBezTo>
                  <a:pt x="120142" y="0"/>
                  <a:pt x="154781" y="34640"/>
                  <a:pt x="154781" y="77391"/>
                </a:cubicBezTo>
                <a:close/>
                <a:moveTo>
                  <a:pt x="77391" y="130969"/>
                </a:moveTo>
                <a:cubicBezTo>
                  <a:pt x="106961" y="130969"/>
                  <a:pt x="130969" y="106961"/>
                  <a:pt x="130969" y="77391"/>
                </a:cubicBezTo>
                <a:cubicBezTo>
                  <a:pt x="130969" y="47820"/>
                  <a:pt x="106961" y="23812"/>
                  <a:pt x="77391" y="23812"/>
                </a:cubicBezTo>
                <a:cubicBezTo>
                  <a:pt x="47820" y="23812"/>
                  <a:pt x="23813" y="47820"/>
                  <a:pt x="23812" y="77391"/>
                </a:cubicBezTo>
                <a:cubicBezTo>
                  <a:pt x="23812" y="106961"/>
                  <a:pt x="47820" y="130969"/>
                  <a:pt x="77391" y="13096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Text 34"/>
          <p:cNvSpPr/>
          <p:nvPr/>
        </p:nvSpPr>
        <p:spPr>
          <a:xfrm>
            <a:off x="2101691" y="4378644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Semantic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2106454" y="4569144"/>
            <a:ext cx="137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0F2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 5 Chunks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3487936" y="415944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68302" y="93293"/>
                </a:moveTo>
                <a:cubicBezTo>
                  <a:pt x="172488" y="89107"/>
                  <a:pt x="172488" y="82309"/>
                  <a:pt x="168302" y="78124"/>
                </a:cubicBezTo>
                <a:lnTo>
                  <a:pt x="114724" y="24545"/>
                </a:lnTo>
                <a:cubicBezTo>
                  <a:pt x="110538" y="20360"/>
                  <a:pt x="103741" y="20360"/>
                  <a:pt x="99555" y="24545"/>
                </a:cubicBezTo>
                <a:cubicBezTo>
                  <a:pt x="95369" y="28731"/>
                  <a:pt x="95369" y="35529"/>
                  <a:pt x="99555" y="39715"/>
                </a:cubicBezTo>
                <a:lnTo>
                  <a:pt x="134849" y="75009"/>
                </a:lnTo>
                <a:lnTo>
                  <a:pt x="10716" y="75009"/>
                </a:lnTo>
                <a:cubicBezTo>
                  <a:pt x="4789" y="75009"/>
                  <a:pt x="0" y="79798"/>
                  <a:pt x="0" y="85725"/>
                </a:cubicBezTo>
                <a:cubicBezTo>
                  <a:pt x="0" y="91652"/>
                  <a:pt x="4789" y="96441"/>
                  <a:pt x="10716" y="96441"/>
                </a:cubicBezTo>
                <a:lnTo>
                  <a:pt x="134849" y="96441"/>
                </a:lnTo>
                <a:lnTo>
                  <a:pt x="99555" y="131735"/>
                </a:lnTo>
                <a:cubicBezTo>
                  <a:pt x="95369" y="135921"/>
                  <a:pt x="95369" y="142719"/>
                  <a:pt x="99555" y="146905"/>
                </a:cubicBezTo>
                <a:cubicBezTo>
                  <a:pt x="103741" y="151090"/>
                  <a:pt x="110538" y="151090"/>
                  <a:pt x="114724" y="146905"/>
                </a:cubicBezTo>
                <a:lnTo>
                  <a:pt x="168302" y="93326"/>
                </a:ln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40" name="Shape 37"/>
          <p:cNvSpPr/>
          <p:nvPr/>
        </p:nvSpPr>
        <p:spPr>
          <a:xfrm>
            <a:off x="4082534" y="376904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00A8E1"/>
              </a:gs>
              <a:gs pos="100000">
                <a:srgbClr val="00A8E1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41" name="Shape 38"/>
          <p:cNvSpPr/>
          <p:nvPr/>
        </p:nvSpPr>
        <p:spPr>
          <a:xfrm>
            <a:off x="4230172" y="3940494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2" name="Text 39"/>
          <p:cNvSpPr/>
          <p:nvPr/>
        </p:nvSpPr>
        <p:spPr>
          <a:xfrm>
            <a:off x="3657600" y="4378644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Claude 3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3662362" y="4569144"/>
            <a:ext cx="137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0F2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Generate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5043845" y="415944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68302" y="93293"/>
                </a:moveTo>
                <a:cubicBezTo>
                  <a:pt x="172488" y="89107"/>
                  <a:pt x="172488" y="82309"/>
                  <a:pt x="168302" y="78124"/>
                </a:cubicBezTo>
                <a:lnTo>
                  <a:pt x="114724" y="24545"/>
                </a:lnTo>
                <a:cubicBezTo>
                  <a:pt x="110538" y="20360"/>
                  <a:pt x="103741" y="20360"/>
                  <a:pt x="99555" y="24545"/>
                </a:cubicBezTo>
                <a:cubicBezTo>
                  <a:pt x="95369" y="28731"/>
                  <a:pt x="95369" y="35529"/>
                  <a:pt x="99555" y="39715"/>
                </a:cubicBezTo>
                <a:lnTo>
                  <a:pt x="134849" y="75009"/>
                </a:lnTo>
                <a:lnTo>
                  <a:pt x="10716" y="75009"/>
                </a:lnTo>
                <a:cubicBezTo>
                  <a:pt x="4789" y="75009"/>
                  <a:pt x="0" y="79798"/>
                  <a:pt x="0" y="85725"/>
                </a:cubicBezTo>
                <a:cubicBezTo>
                  <a:pt x="0" y="91652"/>
                  <a:pt x="4789" y="96441"/>
                  <a:pt x="10716" y="96441"/>
                </a:cubicBezTo>
                <a:lnTo>
                  <a:pt x="134849" y="96441"/>
                </a:lnTo>
                <a:lnTo>
                  <a:pt x="99555" y="131735"/>
                </a:lnTo>
                <a:cubicBezTo>
                  <a:pt x="95369" y="135921"/>
                  <a:pt x="95369" y="142719"/>
                  <a:pt x="99555" y="146905"/>
                </a:cubicBezTo>
                <a:cubicBezTo>
                  <a:pt x="103741" y="151090"/>
                  <a:pt x="110538" y="151090"/>
                  <a:pt x="114724" y="146905"/>
                </a:cubicBezTo>
                <a:lnTo>
                  <a:pt x="168302" y="93326"/>
                </a:lnTo>
                <a:close/>
              </a:path>
            </a:pathLst>
          </a:custGeom>
          <a:solidFill>
            <a:srgbClr val="00A8E1"/>
          </a:solidFill>
          <a:ln/>
        </p:spPr>
      </p:sp>
      <p:sp>
        <p:nvSpPr>
          <p:cNvPr id="45" name="Shape 42"/>
          <p:cNvSpPr/>
          <p:nvPr/>
        </p:nvSpPr>
        <p:spPr>
          <a:xfrm>
            <a:off x="5638443" y="376904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FF9900"/>
              </a:gs>
              <a:gs pos="100000">
                <a:srgbClr val="FF9900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46" name="Shape 43"/>
          <p:cNvSpPr/>
          <p:nvPr/>
        </p:nvSpPr>
        <p:spPr>
          <a:xfrm>
            <a:off x="5809893" y="394049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5977" y="6846"/>
                </a:moveTo>
                <a:cubicBezTo>
                  <a:pt x="80442" y="8706"/>
                  <a:pt x="83344" y="13022"/>
                  <a:pt x="83344" y="17859"/>
                </a:cubicBezTo>
                <a:lnTo>
                  <a:pt x="83344" y="47625"/>
                </a:lnTo>
                <a:lnTo>
                  <a:pt x="125016" y="47625"/>
                </a:lnTo>
                <a:cubicBezTo>
                  <a:pt x="161181" y="47625"/>
                  <a:pt x="190500" y="76944"/>
                  <a:pt x="190500" y="113109"/>
                </a:cubicBezTo>
                <a:cubicBezTo>
                  <a:pt x="190500" y="155265"/>
                  <a:pt x="160176" y="174092"/>
                  <a:pt x="153219" y="177887"/>
                </a:cubicBezTo>
                <a:cubicBezTo>
                  <a:pt x="152288" y="178408"/>
                  <a:pt x="151247" y="178594"/>
                  <a:pt x="150205" y="178594"/>
                </a:cubicBezTo>
                <a:cubicBezTo>
                  <a:pt x="146149" y="178594"/>
                  <a:pt x="142875" y="175282"/>
                  <a:pt x="142875" y="171264"/>
                </a:cubicBezTo>
                <a:cubicBezTo>
                  <a:pt x="142875" y="168473"/>
                  <a:pt x="144475" y="165906"/>
                  <a:pt x="146521" y="164009"/>
                </a:cubicBezTo>
                <a:cubicBezTo>
                  <a:pt x="150019" y="160734"/>
                  <a:pt x="154781" y="154186"/>
                  <a:pt x="154781" y="142912"/>
                </a:cubicBezTo>
                <a:cubicBezTo>
                  <a:pt x="154781" y="123192"/>
                  <a:pt x="138782" y="107193"/>
                  <a:pt x="119063" y="107193"/>
                </a:cubicBezTo>
                <a:lnTo>
                  <a:pt x="83344" y="107193"/>
                </a:lnTo>
                <a:lnTo>
                  <a:pt x="83344" y="136959"/>
                </a:lnTo>
                <a:cubicBezTo>
                  <a:pt x="83344" y="141759"/>
                  <a:pt x="80442" y="146112"/>
                  <a:pt x="75977" y="147972"/>
                </a:cubicBezTo>
                <a:cubicBezTo>
                  <a:pt x="71512" y="149833"/>
                  <a:pt x="66415" y="148791"/>
                  <a:pt x="62992" y="145405"/>
                </a:cubicBezTo>
                <a:lnTo>
                  <a:pt x="3460" y="85874"/>
                </a:lnTo>
                <a:cubicBezTo>
                  <a:pt x="-1191" y="81223"/>
                  <a:pt x="-1191" y="73670"/>
                  <a:pt x="3460" y="69019"/>
                </a:cubicBezTo>
                <a:lnTo>
                  <a:pt x="62992" y="9488"/>
                </a:lnTo>
                <a:cubicBezTo>
                  <a:pt x="66415" y="6065"/>
                  <a:pt x="71512" y="5060"/>
                  <a:pt x="75977" y="692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7" name="Text 44"/>
          <p:cNvSpPr/>
          <p:nvPr/>
        </p:nvSpPr>
        <p:spPr>
          <a:xfrm>
            <a:off x="5213509" y="4378644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Response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5218272" y="4569144"/>
            <a:ext cx="137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0F2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Personalized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6918246" y="1261110"/>
            <a:ext cx="4884420" cy="1350645"/>
          </a:xfrm>
          <a:custGeom>
            <a:avLst/>
            <a:gdLst/>
            <a:ahLst/>
            <a:cxnLst/>
            <a:rect l="l" t="t" r="r" b="b"/>
            <a:pathLst>
              <a:path w="4884420" h="1350645">
                <a:moveTo>
                  <a:pt x="114305" y="0"/>
                </a:moveTo>
                <a:lnTo>
                  <a:pt x="4770115" y="0"/>
                </a:lnTo>
                <a:cubicBezTo>
                  <a:pt x="4833244" y="0"/>
                  <a:pt x="4884420" y="51176"/>
                  <a:pt x="4884420" y="114305"/>
                </a:cubicBezTo>
                <a:lnTo>
                  <a:pt x="4884420" y="1236340"/>
                </a:lnTo>
                <a:cubicBezTo>
                  <a:pt x="4884420" y="1299469"/>
                  <a:pt x="4833244" y="1350645"/>
                  <a:pt x="4770115" y="1350645"/>
                </a:cubicBezTo>
                <a:lnTo>
                  <a:pt x="114305" y="1350645"/>
                </a:lnTo>
                <a:cubicBezTo>
                  <a:pt x="51218" y="1350645"/>
                  <a:pt x="0" y="1299427"/>
                  <a:pt x="0" y="1236340"/>
                </a:cubicBezTo>
                <a:lnTo>
                  <a:pt x="0" y="114305"/>
                </a:lnTo>
                <a:cubicBezTo>
                  <a:pt x="0" y="51218"/>
                  <a:pt x="51218" y="0"/>
                  <a:pt x="114305" y="0"/>
                </a:cubicBezTo>
                <a:close/>
              </a:path>
            </a:pathLst>
          </a:custGeom>
          <a:gradFill flip="none" rotWithShape="1">
            <a:gsLst>
              <a:gs pos="0">
                <a:srgbClr val="FF9900">
                  <a:alpha val="20000"/>
                </a:srgbClr>
              </a:gs>
              <a:gs pos="100000">
                <a:srgbClr val="FF9900">
                  <a:alpha val="5000"/>
                </a:srgbClr>
              </a:gs>
            </a:gsLst>
            <a:lin ang="2700000" scaled="1"/>
          </a:gradFill>
          <a:ln w="10160">
            <a:solidFill>
              <a:srgbClr val="FF9900">
                <a:alpha val="4000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7098268" y="148649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5110" y="-837"/>
                </a:moveTo>
                <a:cubicBezTo>
                  <a:pt x="81740" y="-4655"/>
                  <a:pt x="89911" y="-4655"/>
                  <a:pt x="96541" y="-837"/>
                </a:cubicBezTo>
                <a:lnTo>
                  <a:pt x="155444" y="33151"/>
                </a:lnTo>
                <a:cubicBezTo>
                  <a:pt x="162074" y="36969"/>
                  <a:pt x="166159" y="44068"/>
                  <a:pt x="166159" y="51703"/>
                </a:cubicBezTo>
                <a:lnTo>
                  <a:pt x="166159" y="119680"/>
                </a:lnTo>
                <a:cubicBezTo>
                  <a:pt x="166159" y="127349"/>
                  <a:pt x="162074" y="134414"/>
                  <a:pt x="155444" y="138232"/>
                </a:cubicBezTo>
                <a:lnTo>
                  <a:pt x="96541" y="172287"/>
                </a:lnTo>
                <a:cubicBezTo>
                  <a:pt x="89911" y="176105"/>
                  <a:pt x="81740" y="176105"/>
                  <a:pt x="75110" y="172287"/>
                </a:cubicBezTo>
                <a:lnTo>
                  <a:pt x="16241" y="138299"/>
                </a:lnTo>
                <a:cubicBezTo>
                  <a:pt x="9611" y="134481"/>
                  <a:pt x="5525" y="127382"/>
                  <a:pt x="5525" y="119747"/>
                </a:cubicBezTo>
                <a:lnTo>
                  <a:pt x="5525" y="51770"/>
                </a:lnTo>
                <a:cubicBezTo>
                  <a:pt x="5525" y="44101"/>
                  <a:pt x="9611" y="37036"/>
                  <a:pt x="16241" y="33218"/>
                </a:cubicBezTo>
                <a:lnTo>
                  <a:pt x="75110" y="-837"/>
                </a:lnTo>
                <a:close/>
                <a:moveTo>
                  <a:pt x="144694" y="119714"/>
                </a:moveTo>
                <a:lnTo>
                  <a:pt x="144694" y="64093"/>
                </a:lnTo>
                <a:lnTo>
                  <a:pt x="96541" y="91886"/>
                </a:lnTo>
                <a:lnTo>
                  <a:pt x="96541" y="147507"/>
                </a:lnTo>
                <a:lnTo>
                  <a:pt x="144694" y="119714"/>
                </a:ln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51" name="Text 48"/>
          <p:cNvSpPr/>
          <p:nvPr/>
        </p:nvSpPr>
        <p:spPr>
          <a:xfrm>
            <a:off x="7364968" y="1457920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 Chunking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7074456" y="1762720"/>
            <a:ext cx="723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Chunk Size: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11056144" y="1762720"/>
            <a:ext cx="657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512 tokens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7074456" y="1991320"/>
            <a:ext cx="561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Overlap: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11079838" y="1991320"/>
            <a:ext cx="638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 tokens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7074456" y="2219920"/>
            <a:ext cx="657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Boundary: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11116866" y="2219920"/>
            <a:ext cx="600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Sentence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6918246" y="2729272"/>
            <a:ext cx="4884420" cy="1350645"/>
          </a:xfrm>
          <a:custGeom>
            <a:avLst/>
            <a:gdLst/>
            <a:ahLst/>
            <a:cxnLst/>
            <a:rect l="l" t="t" r="r" b="b"/>
            <a:pathLst>
              <a:path w="4884420" h="1350645">
                <a:moveTo>
                  <a:pt x="114305" y="0"/>
                </a:moveTo>
                <a:lnTo>
                  <a:pt x="4770115" y="0"/>
                </a:lnTo>
                <a:cubicBezTo>
                  <a:pt x="4833244" y="0"/>
                  <a:pt x="4884420" y="51176"/>
                  <a:pt x="4884420" y="114305"/>
                </a:cubicBezTo>
                <a:lnTo>
                  <a:pt x="4884420" y="1236340"/>
                </a:lnTo>
                <a:cubicBezTo>
                  <a:pt x="4884420" y="1299469"/>
                  <a:pt x="4833244" y="1350645"/>
                  <a:pt x="4770115" y="1350645"/>
                </a:cubicBezTo>
                <a:lnTo>
                  <a:pt x="114305" y="1350645"/>
                </a:lnTo>
                <a:cubicBezTo>
                  <a:pt x="51218" y="1350645"/>
                  <a:pt x="0" y="1299427"/>
                  <a:pt x="0" y="1236340"/>
                </a:cubicBezTo>
                <a:lnTo>
                  <a:pt x="0" y="114305"/>
                </a:lnTo>
                <a:cubicBezTo>
                  <a:pt x="0" y="51218"/>
                  <a:pt x="51218" y="0"/>
                  <a:pt x="114305" y="0"/>
                </a:cubicBezTo>
                <a:close/>
              </a:path>
            </a:pathLst>
          </a:custGeom>
          <a:gradFill flip="none" rotWithShape="1">
            <a:gsLst>
              <a:gs pos="0">
                <a:srgbClr val="00A8E1">
                  <a:alpha val="20000"/>
                </a:srgbClr>
              </a:gs>
              <a:gs pos="100000">
                <a:srgbClr val="00A8E1">
                  <a:alpha val="5000"/>
                </a:srgbClr>
              </a:gs>
            </a:gsLst>
            <a:lin ang="2700000" scaled="1"/>
          </a:gradFill>
          <a:ln w="10160">
            <a:solidFill>
              <a:srgbClr val="00A8E1">
                <a:alpha val="40000"/>
              </a:srgbClr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7098268" y="2954657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2067" y="76516"/>
                </a:moveTo>
                <a:cubicBezTo>
                  <a:pt x="26521" y="45374"/>
                  <a:pt x="53344" y="21431"/>
                  <a:pt x="85725" y="21431"/>
                </a:cubicBezTo>
                <a:cubicBezTo>
                  <a:pt x="103473" y="21431"/>
                  <a:pt x="119546" y="28631"/>
                  <a:pt x="131199" y="40251"/>
                </a:cubicBezTo>
                <a:cubicBezTo>
                  <a:pt x="131266" y="40318"/>
                  <a:pt x="131333" y="40385"/>
                  <a:pt x="131400" y="40451"/>
                </a:cubicBezTo>
                <a:lnTo>
                  <a:pt x="133945" y="42863"/>
                </a:lnTo>
                <a:lnTo>
                  <a:pt x="117905" y="42863"/>
                </a:lnTo>
                <a:cubicBezTo>
                  <a:pt x="111978" y="42863"/>
                  <a:pt x="107190" y="47651"/>
                  <a:pt x="107190" y="53578"/>
                </a:cubicBezTo>
                <a:cubicBezTo>
                  <a:pt x="107190" y="59505"/>
                  <a:pt x="111978" y="64294"/>
                  <a:pt x="117905" y="64294"/>
                </a:cubicBezTo>
                <a:lnTo>
                  <a:pt x="160768" y="64294"/>
                </a:lnTo>
                <a:cubicBezTo>
                  <a:pt x="166695" y="64294"/>
                  <a:pt x="171483" y="59505"/>
                  <a:pt x="171483" y="53578"/>
                </a:cubicBezTo>
                <a:lnTo>
                  <a:pt x="171483" y="10716"/>
                </a:lnTo>
                <a:cubicBezTo>
                  <a:pt x="171483" y="4789"/>
                  <a:pt x="166695" y="0"/>
                  <a:pt x="160768" y="0"/>
                </a:cubicBezTo>
                <a:cubicBezTo>
                  <a:pt x="154841" y="0"/>
                  <a:pt x="150052" y="4789"/>
                  <a:pt x="150052" y="10716"/>
                </a:cubicBezTo>
                <a:lnTo>
                  <a:pt x="150052" y="28597"/>
                </a:lnTo>
                <a:lnTo>
                  <a:pt x="146268" y="25014"/>
                </a:lnTo>
                <a:cubicBezTo>
                  <a:pt x="130764" y="9577"/>
                  <a:pt x="109333" y="0"/>
                  <a:pt x="85725" y="0"/>
                </a:cubicBezTo>
                <a:cubicBezTo>
                  <a:pt x="42528" y="0"/>
                  <a:pt x="6798" y="31946"/>
                  <a:pt x="871" y="73502"/>
                </a:cubicBezTo>
                <a:cubicBezTo>
                  <a:pt x="33" y="79363"/>
                  <a:pt x="4085" y="84787"/>
                  <a:pt x="9945" y="85625"/>
                </a:cubicBezTo>
                <a:cubicBezTo>
                  <a:pt x="15806" y="86462"/>
                  <a:pt x="21230" y="82376"/>
                  <a:pt x="22067" y="76550"/>
                </a:cubicBezTo>
                <a:close/>
                <a:moveTo>
                  <a:pt x="170579" y="97948"/>
                </a:moveTo>
                <a:cubicBezTo>
                  <a:pt x="171417" y="92087"/>
                  <a:pt x="167331" y="86663"/>
                  <a:pt x="161505" y="85825"/>
                </a:cubicBezTo>
                <a:cubicBezTo>
                  <a:pt x="155678" y="84988"/>
                  <a:pt x="150220" y="89074"/>
                  <a:pt x="149383" y="94900"/>
                </a:cubicBezTo>
                <a:cubicBezTo>
                  <a:pt x="144929" y="126043"/>
                  <a:pt x="118106" y="149985"/>
                  <a:pt x="85725" y="149985"/>
                </a:cubicBezTo>
                <a:cubicBezTo>
                  <a:pt x="67977" y="149985"/>
                  <a:pt x="51904" y="142786"/>
                  <a:pt x="40251" y="131166"/>
                </a:cubicBezTo>
                <a:cubicBezTo>
                  <a:pt x="40184" y="131099"/>
                  <a:pt x="40117" y="131032"/>
                  <a:pt x="40050" y="130965"/>
                </a:cubicBezTo>
                <a:lnTo>
                  <a:pt x="37505" y="128554"/>
                </a:lnTo>
                <a:lnTo>
                  <a:pt x="53545" y="128554"/>
                </a:lnTo>
                <a:cubicBezTo>
                  <a:pt x="59472" y="128554"/>
                  <a:pt x="64260" y="123765"/>
                  <a:pt x="64260" y="117838"/>
                </a:cubicBezTo>
                <a:cubicBezTo>
                  <a:pt x="64260" y="111911"/>
                  <a:pt x="59472" y="107123"/>
                  <a:pt x="53545" y="107123"/>
                </a:cubicBezTo>
                <a:lnTo>
                  <a:pt x="10716" y="107156"/>
                </a:lnTo>
                <a:cubicBezTo>
                  <a:pt x="7869" y="107156"/>
                  <a:pt x="5123" y="108295"/>
                  <a:pt x="3114" y="110337"/>
                </a:cubicBezTo>
                <a:cubicBezTo>
                  <a:pt x="1105" y="112380"/>
                  <a:pt x="-33" y="115093"/>
                  <a:pt x="0" y="117972"/>
                </a:cubicBezTo>
                <a:lnTo>
                  <a:pt x="335" y="160500"/>
                </a:lnTo>
                <a:cubicBezTo>
                  <a:pt x="368" y="166427"/>
                  <a:pt x="5224" y="171182"/>
                  <a:pt x="11151" y="171115"/>
                </a:cubicBezTo>
                <a:cubicBezTo>
                  <a:pt x="17078" y="171048"/>
                  <a:pt x="21833" y="166226"/>
                  <a:pt x="21766" y="160299"/>
                </a:cubicBezTo>
                <a:lnTo>
                  <a:pt x="21632" y="143054"/>
                </a:lnTo>
                <a:lnTo>
                  <a:pt x="25215" y="146436"/>
                </a:lnTo>
                <a:cubicBezTo>
                  <a:pt x="40719" y="161873"/>
                  <a:pt x="62117" y="171450"/>
                  <a:pt x="85725" y="171450"/>
                </a:cubicBezTo>
                <a:cubicBezTo>
                  <a:pt x="128922" y="171450"/>
                  <a:pt x="164652" y="139504"/>
                  <a:pt x="170579" y="97948"/>
                </a:cubicBezTo>
                <a:close/>
              </a:path>
            </a:pathLst>
          </a:custGeom>
          <a:solidFill>
            <a:srgbClr val="00A8E1"/>
          </a:solidFill>
          <a:ln/>
        </p:spPr>
      </p:sp>
      <p:sp>
        <p:nvSpPr>
          <p:cNvPr id="60" name="Text 57"/>
          <p:cNvSpPr/>
          <p:nvPr/>
        </p:nvSpPr>
        <p:spPr>
          <a:xfrm>
            <a:off x="7364968" y="2926082"/>
            <a:ext cx="129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Titan Embeddings</a:t>
            </a:r>
            <a:endParaRPr lang="en-US" sz="1600" dirty="0"/>
          </a:p>
        </p:txBody>
      </p:sp>
      <p:sp>
        <p:nvSpPr>
          <p:cNvPr id="61" name="Text 58"/>
          <p:cNvSpPr/>
          <p:nvPr/>
        </p:nvSpPr>
        <p:spPr>
          <a:xfrm>
            <a:off x="7074456" y="3230882"/>
            <a:ext cx="771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Dimensions:</a:t>
            </a:r>
            <a:endParaRPr lang="en-US" sz="1600" dirty="0"/>
          </a:p>
        </p:txBody>
      </p:sp>
      <p:sp>
        <p:nvSpPr>
          <p:cNvPr id="62" name="Text 59"/>
          <p:cNvSpPr/>
          <p:nvPr/>
        </p:nvSpPr>
        <p:spPr>
          <a:xfrm>
            <a:off x="11392138" y="3230882"/>
            <a:ext cx="323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A8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1536</a:t>
            </a:r>
            <a:endParaRPr lang="en-US" sz="1600" dirty="0"/>
          </a:p>
        </p:txBody>
      </p:sp>
      <p:sp>
        <p:nvSpPr>
          <p:cNvPr id="63" name="Text 60"/>
          <p:cNvSpPr/>
          <p:nvPr/>
        </p:nvSpPr>
        <p:spPr>
          <a:xfrm>
            <a:off x="7074456" y="3459482"/>
            <a:ext cx="676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 Input:</a:t>
            </a:r>
            <a:endParaRPr lang="en-US" sz="1600" dirty="0"/>
          </a:p>
        </p:txBody>
      </p:sp>
      <p:sp>
        <p:nvSpPr>
          <p:cNvPr id="64" name="Text 61"/>
          <p:cNvSpPr/>
          <p:nvPr/>
        </p:nvSpPr>
        <p:spPr>
          <a:xfrm>
            <a:off x="10979944" y="3459482"/>
            <a:ext cx="733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A8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8192 tokens</a:t>
            </a:r>
            <a:endParaRPr lang="en-US" sz="1600" dirty="0"/>
          </a:p>
        </p:txBody>
      </p:sp>
      <p:sp>
        <p:nvSpPr>
          <p:cNvPr id="65" name="Text 62"/>
          <p:cNvSpPr/>
          <p:nvPr/>
        </p:nvSpPr>
        <p:spPr>
          <a:xfrm>
            <a:off x="7074456" y="3688082"/>
            <a:ext cx="361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Cost:</a:t>
            </a:r>
            <a:endParaRPr lang="en-US" sz="1600" dirty="0"/>
          </a:p>
        </p:txBody>
      </p:sp>
      <p:sp>
        <p:nvSpPr>
          <p:cNvPr id="66" name="Text 63"/>
          <p:cNvSpPr/>
          <p:nvPr/>
        </p:nvSpPr>
        <p:spPr>
          <a:xfrm>
            <a:off x="10751820" y="3688082"/>
            <a:ext cx="962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A8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$0.10/M tokens</a:t>
            </a:r>
            <a:endParaRPr lang="en-US" sz="1600" dirty="0"/>
          </a:p>
        </p:txBody>
      </p:sp>
      <p:sp>
        <p:nvSpPr>
          <p:cNvPr id="67" name="Shape 64"/>
          <p:cNvSpPr/>
          <p:nvPr/>
        </p:nvSpPr>
        <p:spPr>
          <a:xfrm>
            <a:off x="6918246" y="4197428"/>
            <a:ext cx="4884420" cy="1350645"/>
          </a:xfrm>
          <a:custGeom>
            <a:avLst/>
            <a:gdLst/>
            <a:ahLst/>
            <a:cxnLst/>
            <a:rect l="l" t="t" r="r" b="b"/>
            <a:pathLst>
              <a:path w="4884420" h="1350645">
                <a:moveTo>
                  <a:pt x="114305" y="0"/>
                </a:moveTo>
                <a:lnTo>
                  <a:pt x="4770115" y="0"/>
                </a:lnTo>
                <a:cubicBezTo>
                  <a:pt x="4833244" y="0"/>
                  <a:pt x="4884420" y="51176"/>
                  <a:pt x="4884420" y="114305"/>
                </a:cubicBezTo>
                <a:lnTo>
                  <a:pt x="4884420" y="1236340"/>
                </a:lnTo>
                <a:cubicBezTo>
                  <a:pt x="4884420" y="1299469"/>
                  <a:pt x="4833244" y="1350645"/>
                  <a:pt x="4770115" y="1350645"/>
                </a:cubicBezTo>
                <a:lnTo>
                  <a:pt x="114305" y="1350645"/>
                </a:lnTo>
                <a:cubicBezTo>
                  <a:pt x="51218" y="1350645"/>
                  <a:pt x="0" y="1299427"/>
                  <a:pt x="0" y="1236340"/>
                </a:cubicBezTo>
                <a:lnTo>
                  <a:pt x="0" y="114305"/>
                </a:lnTo>
                <a:cubicBezTo>
                  <a:pt x="0" y="51218"/>
                  <a:pt x="51218" y="0"/>
                  <a:pt x="114305" y="0"/>
                </a:cubicBezTo>
                <a:close/>
              </a:path>
            </a:pathLst>
          </a:custGeom>
          <a:gradFill flip="none" rotWithShape="1">
            <a:gsLst>
              <a:gs pos="0">
                <a:srgbClr val="FF9900">
                  <a:alpha val="20000"/>
                </a:srgbClr>
              </a:gs>
              <a:gs pos="100000">
                <a:srgbClr val="FF9900">
                  <a:alpha val="5000"/>
                </a:srgbClr>
              </a:gs>
            </a:gsLst>
            <a:lin ang="2700000" scaled="1"/>
          </a:gradFill>
          <a:ln w="10160">
            <a:solidFill>
              <a:srgbClr val="FF9900">
                <a:alpha val="40000"/>
              </a:srgbClr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7098268" y="4422814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0184" y="18752"/>
                </a:moveTo>
                <a:cubicBezTo>
                  <a:pt x="40184" y="8405"/>
                  <a:pt x="48589" y="0"/>
                  <a:pt x="58936" y="0"/>
                </a:cubicBezTo>
                <a:lnTo>
                  <a:pt x="66973" y="0"/>
                </a:lnTo>
                <a:cubicBezTo>
                  <a:pt x="72900" y="0"/>
                  <a:pt x="77688" y="4789"/>
                  <a:pt x="77688" y="10716"/>
                </a:cubicBezTo>
                <a:lnTo>
                  <a:pt x="77688" y="160734"/>
                </a:lnTo>
                <a:cubicBezTo>
                  <a:pt x="77688" y="166661"/>
                  <a:pt x="72900" y="171450"/>
                  <a:pt x="66973" y="171450"/>
                </a:cubicBezTo>
                <a:lnTo>
                  <a:pt x="56257" y="171450"/>
                </a:lnTo>
                <a:cubicBezTo>
                  <a:pt x="46278" y="171450"/>
                  <a:pt x="37873" y="164619"/>
                  <a:pt x="35496" y="155377"/>
                </a:cubicBezTo>
                <a:cubicBezTo>
                  <a:pt x="35261" y="155377"/>
                  <a:pt x="35060" y="155377"/>
                  <a:pt x="34826" y="155377"/>
                </a:cubicBezTo>
                <a:cubicBezTo>
                  <a:pt x="20025" y="155377"/>
                  <a:pt x="8037" y="143388"/>
                  <a:pt x="8037" y="128588"/>
                </a:cubicBezTo>
                <a:cubicBezTo>
                  <a:pt x="8037" y="122560"/>
                  <a:pt x="10046" y="117001"/>
                  <a:pt x="13395" y="112514"/>
                </a:cubicBezTo>
                <a:cubicBezTo>
                  <a:pt x="6898" y="107625"/>
                  <a:pt x="2679" y="99856"/>
                  <a:pt x="2679" y="91083"/>
                </a:cubicBezTo>
                <a:cubicBezTo>
                  <a:pt x="2679" y="80736"/>
                  <a:pt x="8573" y="71728"/>
                  <a:pt x="17145" y="67274"/>
                </a:cubicBezTo>
                <a:cubicBezTo>
                  <a:pt x="14767" y="63256"/>
                  <a:pt x="13395" y="58568"/>
                  <a:pt x="13395" y="53578"/>
                </a:cubicBezTo>
                <a:cubicBezTo>
                  <a:pt x="13395" y="38777"/>
                  <a:pt x="25383" y="26789"/>
                  <a:pt x="40184" y="26789"/>
                </a:cubicBezTo>
                <a:lnTo>
                  <a:pt x="40184" y="18752"/>
                </a:lnTo>
                <a:close/>
                <a:moveTo>
                  <a:pt x="131266" y="18752"/>
                </a:moveTo>
                <a:lnTo>
                  <a:pt x="131266" y="26789"/>
                </a:lnTo>
                <a:cubicBezTo>
                  <a:pt x="146067" y="26789"/>
                  <a:pt x="158055" y="38777"/>
                  <a:pt x="158055" y="53578"/>
                </a:cubicBezTo>
                <a:cubicBezTo>
                  <a:pt x="158055" y="58601"/>
                  <a:pt x="156683" y="63289"/>
                  <a:pt x="154305" y="67274"/>
                </a:cubicBezTo>
                <a:cubicBezTo>
                  <a:pt x="162911" y="71728"/>
                  <a:pt x="168771" y="80702"/>
                  <a:pt x="168771" y="91083"/>
                </a:cubicBezTo>
                <a:cubicBezTo>
                  <a:pt x="168771" y="99856"/>
                  <a:pt x="164552" y="107625"/>
                  <a:pt x="158055" y="112514"/>
                </a:cubicBezTo>
                <a:cubicBezTo>
                  <a:pt x="161404" y="117001"/>
                  <a:pt x="163413" y="122560"/>
                  <a:pt x="163413" y="128588"/>
                </a:cubicBezTo>
                <a:cubicBezTo>
                  <a:pt x="163413" y="143388"/>
                  <a:pt x="151425" y="155377"/>
                  <a:pt x="136624" y="155377"/>
                </a:cubicBezTo>
                <a:cubicBezTo>
                  <a:pt x="136390" y="155377"/>
                  <a:pt x="136189" y="155377"/>
                  <a:pt x="135954" y="155377"/>
                </a:cubicBezTo>
                <a:cubicBezTo>
                  <a:pt x="133577" y="164619"/>
                  <a:pt x="125172" y="171450"/>
                  <a:pt x="115193" y="171450"/>
                </a:cubicBezTo>
                <a:lnTo>
                  <a:pt x="104477" y="171450"/>
                </a:lnTo>
                <a:cubicBezTo>
                  <a:pt x="98550" y="171450"/>
                  <a:pt x="93762" y="166661"/>
                  <a:pt x="93762" y="160734"/>
                </a:cubicBezTo>
                <a:lnTo>
                  <a:pt x="93762" y="10716"/>
                </a:lnTo>
                <a:cubicBezTo>
                  <a:pt x="93762" y="4789"/>
                  <a:pt x="98550" y="0"/>
                  <a:pt x="104477" y="0"/>
                </a:cubicBezTo>
                <a:lnTo>
                  <a:pt x="112514" y="0"/>
                </a:lnTo>
                <a:cubicBezTo>
                  <a:pt x="122861" y="0"/>
                  <a:pt x="131266" y="8405"/>
                  <a:pt x="131266" y="18752"/>
                </a:cubicBez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69" name="Text 66"/>
          <p:cNvSpPr/>
          <p:nvPr/>
        </p:nvSpPr>
        <p:spPr>
          <a:xfrm>
            <a:off x="7364968" y="4394239"/>
            <a:ext cx="1181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Claude 3 Sonnet</a:t>
            </a:r>
            <a:endParaRPr lang="en-US" sz="1600" dirty="0"/>
          </a:p>
        </p:txBody>
      </p:sp>
      <p:sp>
        <p:nvSpPr>
          <p:cNvPr id="70" name="Text 67"/>
          <p:cNvSpPr/>
          <p:nvPr/>
        </p:nvSpPr>
        <p:spPr>
          <a:xfrm>
            <a:off x="7074456" y="4699039"/>
            <a:ext cx="552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Context:</a:t>
            </a:r>
            <a:endParaRPr lang="en-US" sz="1600" dirty="0"/>
          </a:p>
        </p:txBody>
      </p:sp>
      <p:sp>
        <p:nvSpPr>
          <p:cNvPr id="71" name="Text 68"/>
          <p:cNvSpPr/>
          <p:nvPr/>
        </p:nvSpPr>
        <p:spPr>
          <a:xfrm>
            <a:off x="10917317" y="4699039"/>
            <a:ext cx="800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200K tokens</a:t>
            </a:r>
            <a:endParaRPr lang="en-US" sz="1600" dirty="0"/>
          </a:p>
        </p:txBody>
      </p:sp>
      <p:sp>
        <p:nvSpPr>
          <p:cNvPr id="72" name="Text 69"/>
          <p:cNvSpPr/>
          <p:nvPr/>
        </p:nvSpPr>
        <p:spPr>
          <a:xfrm>
            <a:off x="7074456" y="4927639"/>
            <a:ext cx="695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 Cost:</a:t>
            </a:r>
            <a:endParaRPr lang="en-US" sz="1600" dirty="0"/>
          </a:p>
        </p:txBody>
      </p:sp>
      <p:sp>
        <p:nvSpPr>
          <p:cNvPr id="73" name="Text 70"/>
          <p:cNvSpPr/>
          <p:nvPr/>
        </p:nvSpPr>
        <p:spPr>
          <a:xfrm>
            <a:off x="10927199" y="4927639"/>
            <a:ext cx="790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$3/M tokens</a:t>
            </a:r>
            <a:endParaRPr lang="en-US" sz="1600" dirty="0"/>
          </a:p>
        </p:txBody>
      </p:sp>
      <p:sp>
        <p:nvSpPr>
          <p:cNvPr id="74" name="Text 71"/>
          <p:cNvSpPr/>
          <p:nvPr/>
        </p:nvSpPr>
        <p:spPr>
          <a:xfrm>
            <a:off x="7074456" y="5156239"/>
            <a:ext cx="800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 Cost:</a:t>
            </a:r>
            <a:endParaRPr lang="en-US" sz="1600" dirty="0"/>
          </a:p>
        </p:txBody>
      </p:sp>
      <p:sp>
        <p:nvSpPr>
          <p:cNvPr id="75" name="Text 72"/>
          <p:cNvSpPr/>
          <p:nvPr/>
        </p:nvSpPr>
        <p:spPr>
          <a:xfrm>
            <a:off x="10884575" y="5156239"/>
            <a:ext cx="828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$15/M tokens</a:t>
            </a:r>
            <a:endParaRPr lang="en-US" sz="1600" dirty="0"/>
          </a:p>
        </p:txBody>
      </p:sp>
      <p:sp>
        <p:nvSpPr>
          <p:cNvPr id="76" name="Shape 73"/>
          <p:cNvSpPr/>
          <p:nvPr/>
        </p:nvSpPr>
        <p:spPr>
          <a:xfrm>
            <a:off x="384810" y="5703690"/>
            <a:ext cx="2760345" cy="769620"/>
          </a:xfrm>
          <a:custGeom>
            <a:avLst/>
            <a:gdLst/>
            <a:ahLst/>
            <a:cxnLst/>
            <a:rect l="l" t="t" r="r" b="b"/>
            <a:pathLst>
              <a:path w="2760345" h="769620">
                <a:moveTo>
                  <a:pt x="114296" y="0"/>
                </a:moveTo>
                <a:lnTo>
                  <a:pt x="2646049" y="0"/>
                </a:lnTo>
                <a:cubicBezTo>
                  <a:pt x="2709173" y="0"/>
                  <a:pt x="2760345" y="51172"/>
                  <a:pt x="2760345" y="114296"/>
                </a:cubicBezTo>
                <a:lnTo>
                  <a:pt x="2760345" y="655324"/>
                </a:lnTo>
                <a:cubicBezTo>
                  <a:pt x="2760345" y="718448"/>
                  <a:pt x="2709173" y="769620"/>
                  <a:pt x="2646049" y="769620"/>
                </a:cubicBezTo>
                <a:lnTo>
                  <a:pt x="114296" y="769620"/>
                </a:lnTo>
                <a:cubicBezTo>
                  <a:pt x="51172" y="769620"/>
                  <a:pt x="0" y="718448"/>
                  <a:pt x="0" y="65532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232F3E">
              <a:alpha val="60000"/>
            </a:srgbClr>
          </a:solidFill>
          <a:ln w="10160">
            <a:solidFill>
              <a:srgbClr val="FF9900">
                <a:alpha val="30196"/>
              </a:srgbClr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445770" y="5821798"/>
            <a:ext cx="2638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99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&lt;3s</a:t>
            </a:r>
            <a:endParaRPr lang="en-US" sz="1600" dirty="0"/>
          </a:p>
        </p:txBody>
      </p:sp>
      <p:sp>
        <p:nvSpPr>
          <p:cNvPr id="78" name="Text 75"/>
          <p:cNvSpPr/>
          <p:nvPr/>
        </p:nvSpPr>
        <p:spPr>
          <a:xfrm>
            <a:off x="469582" y="6164582"/>
            <a:ext cx="2590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Response Time</a:t>
            </a:r>
            <a:endParaRPr lang="en-US" sz="1600" dirty="0"/>
          </a:p>
        </p:txBody>
      </p:sp>
      <p:sp>
        <p:nvSpPr>
          <p:cNvPr id="79" name="Shape 76"/>
          <p:cNvSpPr/>
          <p:nvPr/>
        </p:nvSpPr>
        <p:spPr>
          <a:xfrm>
            <a:off x="3270885" y="5703690"/>
            <a:ext cx="2760345" cy="769620"/>
          </a:xfrm>
          <a:custGeom>
            <a:avLst/>
            <a:gdLst/>
            <a:ahLst/>
            <a:cxnLst/>
            <a:rect l="l" t="t" r="r" b="b"/>
            <a:pathLst>
              <a:path w="2760345" h="769620">
                <a:moveTo>
                  <a:pt x="114296" y="0"/>
                </a:moveTo>
                <a:lnTo>
                  <a:pt x="2646049" y="0"/>
                </a:lnTo>
                <a:cubicBezTo>
                  <a:pt x="2709173" y="0"/>
                  <a:pt x="2760345" y="51172"/>
                  <a:pt x="2760345" y="114296"/>
                </a:cubicBezTo>
                <a:lnTo>
                  <a:pt x="2760345" y="655324"/>
                </a:lnTo>
                <a:cubicBezTo>
                  <a:pt x="2760345" y="718448"/>
                  <a:pt x="2709173" y="769620"/>
                  <a:pt x="2646049" y="769620"/>
                </a:cubicBezTo>
                <a:lnTo>
                  <a:pt x="114296" y="769620"/>
                </a:lnTo>
                <a:cubicBezTo>
                  <a:pt x="51172" y="769620"/>
                  <a:pt x="0" y="718448"/>
                  <a:pt x="0" y="65532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232F3E">
              <a:alpha val="60000"/>
            </a:srgbClr>
          </a:solidFill>
          <a:ln w="10160">
            <a:solidFill>
              <a:srgbClr val="00A8E1">
                <a:alpha val="30196"/>
              </a:srgbClr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3331845" y="5821798"/>
            <a:ext cx="2638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00A8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95%</a:t>
            </a:r>
            <a:endParaRPr lang="en-US" sz="1600" dirty="0"/>
          </a:p>
        </p:txBody>
      </p:sp>
      <p:sp>
        <p:nvSpPr>
          <p:cNvPr id="81" name="Text 78"/>
          <p:cNvSpPr/>
          <p:nvPr/>
        </p:nvSpPr>
        <p:spPr>
          <a:xfrm>
            <a:off x="3355658" y="6164582"/>
            <a:ext cx="2590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82" name="Shape 79"/>
          <p:cNvSpPr/>
          <p:nvPr/>
        </p:nvSpPr>
        <p:spPr>
          <a:xfrm>
            <a:off x="6156960" y="5703690"/>
            <a:ext cx="2760345" cy="769620"/>
          </a:xfrm>
          <a:custGeom>
            <a:avLst/>
            <a:gdLst/>
            <a:ahLst/>
            <a:cxnLst/>
            <a:rect l="l" t="t" r="r" b="b"/>
            <a:pathLst>
              <a:path w="2760345" h="769620">
                <a:moveTo>
                  <a:pt x="114296" y="0"/>
                </a:moveTo>
                <a:lnTo>
                  <a:pt x="2646049" y="0"/>
                </a:lnTo>
                <a:cubicBezTo>
                  <a:pt x="2709173" y="0"/>
                  <a:pt x="2760345" y="51172"/>
                  <a:pt x="2760345" y="114296"/>
                </a:cubicBezTo>
                <a:lnTo>
                  <a:pt x="2760345" y="655324"/>
                </a:lnTo>
                <a:cubicBezTo>
                  <a:pt x="2760345" y="718448"/>
                  <a:pt x="2709173" y="769620"/>
                  <a:pt x="2646049" y="769620"/>
                </a:cubicBezTo>
                <a:lnTo>
                  <a:pt x="114296" y="769620"/>
                </a:lnTo>
                <a:cubicBezTo>
                  <a:pt x="51172" y="769620"/>
                  <a:pt x="0" y="718448"/>
                  <a:pt x="0" y="65532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232F3E">
              <a:alpha val="60000"/>
            </a:srgbClr>
          </a:solidFill>
          <a:ln w="10160">
            <a:solidFill>
              <a:srgbClr val="FF9900">
                <a:alpha val="30196"/>
              </a:srgbClr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6217920" y="5821798"/>
            <a:ext cx="2638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99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  <p:sp>
        <p:nvSpPr>
          <p:cNvPr id="84" name="Text 81"/>
          <p:cNvSpPr/>
          <p:nvPr/>
        </p:nvSpPr>
        <p:spPr>
          <a:xfrm>
            <a:off x="6241732" y="6164582"/>
            <a:ext cx="2590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Languages</a:t>
            </a:r>
            <a:endParaRPr lang="en-US" sz="1600" dirty="0"/>
          </a:p>
        </p:txBody>
      </p:sp>
      <p:sp>
        <p:nvSpPr>
          <p:cNvPr id="85" name="Shape 82"/>
          <p:cNvSpPr/>
          <p:nvPr/>
        </p:nvSpPr>
        <p:spPr>
          <a:xfrm>
            <a:off x="9043035" y="5703690"/>
            <a:ext cx="2760345" cy="769620"/>
          </a:xfrm>
          <a:custGeom>
            <a:avLst/>
            <a:gdLst/>
            <a:ahLst/>
            <a:cxnLst/>
            <a:rect l="l" t="t" r="r" b="b"/>
            <a:pathLst>
              <a:path w="2760345" h="769620">
                <a:moveTo>
                  <a:pt x="114296" y="0"/>
                </a:moveTo>
                <a:lnTo>
                  <a:pt x="2646049" y="0"/>
                </a:lnTo>
                <a:cubicBezTo>
                  <a:pt x="2709173" y="0"/>
                  <a:pt x="2760345" y="51172"/>
                  <a:pt x="2760345" y="114296"/>
                </a:cubicBezTo>
                <a:lnTo>
                  <a:pt x="2760345" y="655324"/>
                </a:lnTo>
                <a:cubicBezTo>
                  <a:pt x="2760345" y="718448"/>
                  <a:pt x="2709173" y="769620"/>
                  <a:pt x="2646049" y="769620"/>
                </a:cubicBezTo>
                <a:lnTo>
                  <a:pt x="114296" y="769620"/>
                </a:lnTo>
                <a:cubicBezTo>
                  <a:pt x="51172" y="769620"/>
                  <a:pt x="0" y="718448"/>
                  <a:pt x="0" y="65532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232F3E">
              <a:alpha val="60000"/>
            </a:srgbClr>
          </a:solidFill>
          <a:ln w="10160">
            <a:solidFill>
              <a:srgbClr val="00A8E1">
                <a:alpha val="30196"/>
              </a:srgbClr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9103995" y="5821798"/>
            <a:ext cx="2638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00A8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40%+</a:t>
            </a:r>
            <a:endParaRPr lang="en-US" sz="1600" dirty="0"/>
          </a:p>
        </p:txBody>
      </p:sp>
      <p:sp>
        <p:nvSpPr>
          <p:cNvPr id="87" name="Text 84"/>
          <p:cNvSpPr/>
          <p:nvPr/>
        </p:nvSpPr>
        <p:spPr>
          <a:xfrm>
            <a:off x="9127807" y="6164582"/>
            <a:ext cx="2590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Cache Hit</a:t>
            </a:r>
            <a:endParaRPr lang="en-US" sz="1600" dirty="0"/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54F9E70C-47FB-B90E-AB90-11195F00AC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5999"/>
            <a:ext cx="12192000" cy="66300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33400" y="723900"/>
            <a:ext cx="373380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AWS Technology Stack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261110"/>
            <a:ext cx="3703320" cy="4512945"/>
          </a:xfrm>
          <a:custGeom>
            <a:avLst/>
            <a:gdLst/>
            <a:ahLst/>
            <a:cxnLst/>
            <a:rect l="l" t="t" r="r" b="b"/>
            <a:pathLst>
              <a:path w="3703320" h="4512945">
                <a:moveTo>
                  <a:pt x="152392" y="0"/>
                </a:moveTo>
                <a:lnTo>
                  <a:pt x="3550928" y="0"/>
                </a:lnTo>
                <a:cubicBezTo>
                  <a:pt x="3635092" y="0"/>
                  <a:pt x="3703320" y="68228"/>
                  <a:pt x="3703320" y="152392"/>
                </a:cubicBezTo>
                <a:lnTo>
                  <a:pt x="3703320" y="4360553"/>
                </a:lnTo>
                <a:cubicBezTo>
                  <a:pt x="3703320" y="4444717"/>
                  <a:pt x="3635092" y="4512945"/>
                  <a:pt x="3550928" y="4512945"/>
                </a:cubicBezTo>
                <a:lnTo>
                  <a:pt x="152392" y="4512945"/>
                </a:lnTo>
                <a:cubicBezTo>
                  <a:pt x="68228" y="4512945"/>
                  <a:pt x="0" y="4444717"/>
                  <a:pt x="0" y="4360553"/>
                </a:cubicBezTo>
                <a:lnTo>
                  <a:pt x="0" y="152392"/>
                </a:lnTo>
                <a:cubicBezTo>
                  <a:pt x="0" y="68228"/>
                  <a:pt x="68228" y="0"/>
                  <a:pt x="152392" y="0"/>
                </a:cubicBezTo>
                <a:close/>
              </a:path>
            </a:pathLst>
          </a:custGeom>
          <a:gradFill flip="none" rotWithShape="1">
            <a:gsLst>
              <a:gs pos="0">
                <a:srgbClr val="FF9900">
                  <a:alpha val="20000"/>
                </a:srgbClr>
              </a:gs>
              <a:gs pos="100000">
                <a:srgbClr val="FF9900">
                  <a:alpha val="5000"/>
                </a:srgbClr>
              </a:gs>
            </a:gsLst>
            <a:lin ang="2700000" scaled="1"/>
          </a:gradFill>
          <a:ln w="10160">
            <a:solidFill>
              <a:srgbClr val="FF990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4832" y="145542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7" name="Text 5"/>
          <p:cNvSpPr/>
          <p:nvPr/>
        </p:nvSpPr>
        <p:spPr>
          <a:xfrm>
            <a:off x="855345" y="1417323"/>
            <a:ext cx="619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/ ML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1020" y="1882857"/>
            <a:ext cx="3390900" cy="533400"/>
          </a:xfrm>
          <a:custGeom>
            <a:avLst/>
            <a:gdLst/>
            <a:ahLst/>
            <a:cxnLst/>
            <a:rect l="l" t="t" r="r" b="b"/>
            <a:pathLst>
              <a:path w="3390900" h="533400">
                <a:moveTo>
                  <a:pt x="76202" y="0"/>
                </a:moveTo>
                <a:lnTo>
                  <a:pt x="3314698" y="0"/>
                </a:lnTo>
                <a:cubicBezTo>
                  <a:pt x="3356783" y="0"/>
                  <a:pt x="3390900" y="34117"/>
                  <a:pt x="3390900" y="76202"/>
                </a:cubicBezTo>
                <a:lnTo>
                  <a:pt x="3390900" y="457198"/>
                </a:lnTo>
                <a:cubicBezTo>
                  <a:pt x="3390900" y="499283"/>
                  <a:pt x="3356783" y="533400"/>
                  <a:pt x="33146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32F3E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19601" y="1987632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91678" y="0"/>
                </a:moveTo>
                <a:cubicBezTo>
                  <a:pt x="91678" y="-4610"/>
                  <a:pt x="87954" y="-8334"/>
                  <a:pt x="83344" y="-8334"/>
                </a:cubicBezTo>
                <a:cubicBezTo>
                  <a:pt x="78734" y="-8334"/>
                  <a:pt x="75009" y="-4610"/>
                  <a:pt x="75009" y="0"/>
                </a:cubicBezTo>
                <a:lnTo>
                  <a:pt x="75009" y="16669"/>
                </a:lnTo>
                <a:lnTo>
                  <a:pt x="50006" y="16669"/>
                </a:lnTo>
                <a:cubicBezTo>
                  <a:pt x="36202" y="16669"/>
                  <a:pt x="25003" y="27868"/>
                  <a:pt x="25003" y="41672"/>
                </a:cubicBezTo>
                <a:lnTo>
                  <a:pt x="25003" y="100013"/>
                </a:lnTo>
                <a:cubicBezTo>
                  <a:pt x="25003" y="113816"/>
                  <a:pt x="36202" y="125016"/>
                  <a:pt x="50006" y="125016"/>
                </a:cubicBezTo>
                <a:lnTo>
                  <a:pt x="116681" y="125016"/>
                </a:lnTo>
                <a:cubicBezTo>
                  <a:pt x="130485" y="125016"/>
                  <a:pt x="141684" y="113816"/>
                  <a:pt x="141684" y="100013"/>
                </a:cubicBezTo>
                <a:lnTo>
                  <a:pt x="141684" y="41672"/>
                </a:lnTo>
                <a:cubicBezTo>
                  <a:pt x="141684" y="27868"/>
                  <a:pt x="130485" y="16669"/>
                  <a:pt x="116681" y="16669"/>
                </a:cubicBezTo>
                <a:lnTo>
                  <a:pt x="91678" y="16669"/>
                </a:lnTo>
                <a:lnTo>
                  <a:pt x="91678" y="0"/>
                </a:lnTo>
                <a:close/>
                <a:moveTo>
                  <a:pt x="41672" y="95845"/>
                </a:moveTo>
                <a:cubicBezTo>
                  <a:pt x="41672" y="92381"/>
                  <a:pt x="44459" y="89595"/>
                  <a:pt x="47923" y="89595"/>
                </a:cubicBezTo>
                <a:lnTo>
                  <a:pt x="56257" y="89595"/>
                </a:lnTo>
                <a:cubicBezTo>
                  <a:pt x="59721" y="89595"/>
                  <a:pt x="62508" y="92381"/>
                  <a:pt x="62508" y="95845"/>
                </a:cubicBezTo>
                <a:cubicBezTo>
                  <a:pt x="62508" y="99309"/>
                  <a:pt x="59721" y="102096"/>
                  <a:pt x="56257" y="102096"/>
                </a:cubicBezTo>
                <a:lnTo>
                  <a:pt x="47923" y="102096"/>
                </a:lnTo>
                <a:cubicBezTo>
                  <a:pt x="44459" y="102096"/>
                  <a:pt x="41672" y="99309"/>
                  <a:pt x="41672" y="95845"/>
                </a:cubicBezTo>
                <a:close/>
                <a:moveTo>
                  <a:pt x="72926" y="95845"/>
                </a:moveTo>
                <a:cubicBezTo>
                  <a:pt x="72926" y="92381"/>
                  <a:pt x="75713" y="89595"/>
                  <a:pt x="79177" y="89595"/>
                </a:cubicBezTo>
                <a:lnTo>
                  <a:pt x="87511" y="89595"/>
                </a:lnTo>
                <a:cubicBezTo>
                  <a:pt x="90975" y="89595"/>
                  <a:pt x="93762" y="92381"/>
                  <a:pt x="93762" y="95845"/>
                </a:cubicBezTo>
                <a:cubicBezTo>
                  <a:pt x="93762" y="99309"/>
                  <a:pt x="90975" y="102096"/>
                  <a:pt x="87511" y="102096"/>
                </a:cubicBezTo>
                <a:lnTo>
                  <a:pt x="79177" y="102096"/>
                </a:lnTo>
                <a:cubicBezTo>
                  <a:pt x="75713" y="102096"/>
                  <a:pt x="72926" y="99309"/>
                  <a:pt x="72926" y="95845"/>
                </a:cubicBezTo>
                <a:close/>
                <a:moveTo>
                  <a:pt x="104180" y="95845"/>
                </a:moveTo>
                <a:cubicBezTo>
                  <a:pt x="104180" y="92381"/>
                  <a:pt x="106966" y="89595"/>
                  <a:pt x="110430" y="89595"/>
                </a:cubicBezTo>
                <a:lnTo>
                  <a:pt x="118765" y="89595"/>
                </a:lnTo>
                <a:cubicBezTo>
                  <a:pt x="122229" y="89595"/>
                  <a:pt x="125016" y="92381"/>
                  <a:pt x="125016" y="95845"/>
                </a:cubicBezTo>
                <a:cubicBezTo>
                  <a:pt x="125016" y="99309"/>
                  <a:pt x="122229" y="102096"/>
                  <a:pt x="118765" y="102096"/>
                </a:cubicBezTo>
                <a:lnTo>
                  <a:pt x="110430" y="102096"/>
                </a:lnTo>
                <a:cubicBezTo>
                  <a:pt x="106966" y="102096"/>
                  <a:pt x="104180" y="99309"/>
                  <a:pt x="104180" y="95845"/>
                </a:cubicBezTo>
                <a:close/>
                <a:moveTo>
                  <a:pt x="58341" y="45839"/>
                </a:moveTo>
                <a:cubicBezTo>
                  <a:pt x="65240" y="45839"/>
                  <a:pt x="70842" y="51441"/>
                  <a:pt x="70842" y="58341"/>
                </a:cubicBezTo>
                <a:cubicBezTo>
                  <a:pt x="70842" y="65240"/>
                  <a:pt x="65240" y="70842"/>
                  <a:pt x="58341" y="70842"/>
                </a:cubicBezTo>
                <a:cubicBezTo>
                  <a:pt x="51441" y="70842"/>
                  <a:pt x="45839" y="65240"/>
                  <a:pt x="45839" y="58341"/>
                </a:cubicBezTo>
                <a:cubicBezTo>
                  <a:pt x="45839" y="51441"/>
                  <a:pt x="51441" y="45839"/>
                  <a:pt x="58341" y="45839"/>
                </a:cubicBezTo>
                <a:close/>
                <a:moveTo>
                  <a:pt x="95845" y="58341"/>
                </a:moveTo>
                <a:cubicBezTo>
                  <a:pt x="95845" y="51441"/>
                  <a:pt x="101447" y="45839"/>
                  <a:pt x="108347" y="45839"/>
                </a:cubicBezTo>
                <a:cubicBezTo>
                  <a:pt x="115247" y="45839"/>
                  <a:pt x="120848" y="51441"/>
                  <a:pt x="120848" y="58341"/>
                </a:cubicBezTo>
                <a:cubicBezTo>
                  <a:pt x="120848" y="65240"/>
                  <a:pt x="115247" y="70842"/>
                  <a:pt x="108347" y="70842"/>
                </a:cubicBezTo>
                <a:cubicBezTo>
                  <a:pt x="101447" y="70842"/>
                  <a:pt x="95845" y="65240"/>
                  <a:pt x="95845" y="58341"/>
                </a:cubicBezTo>
                <a:close/>
                <a:moveTo>
                  <a:pt x="16669" y="58341"/>
                </a:moveTo>
                <a:cubicBezTo>
                  <a:pt x="16669" y="53731"/>
                  <a:pt x="12944" y="50006"/>
                  <a:pt x="8334" y="50006"/>
                </a:cubicBezTo>
                <a:cubicBezTo>
                  <a:pt x="3724" y="50006"/>
                  <a:pt x="0" y="53731"/>
                  <a:pt x="0" y="58341"/>
                </a:cubicBezTo>
                <a:lnTo>
                  <a:pt x="0" y="83344"/>
                </a:lnTo>
                <a:cubicBezTo>
                  <a:pt x="0" y="87954"/>
                  <a:pt x="3724" y="91678"/>
                  <a:pt x="8334" y="91678"/>
                </a:cubicBezTo>
                <a:cubicBezTo>
                  <a:pt x="12944" y="91678"/>
                  <a:pt x="16669" y="87954"/>
                  <a:pt x="16669" y="83344"/>
                </a:cubicBezTo>
                <a:lnTo>
                  <a:pt x="16669" y="58341"/>
                </a:lnTo>
                <a:close/>
                <a:moveTo>
                  <a:pt x="158353" y="50006"/>
                </a:moveTo>
                <a:cubicBezTo>
                  <a:pt x="153743" y="50006"/>
                  <a:pt x="150019" y="53731"/>
                  <a:pt x="150019" y="58341"/>
                </a:cubicBezTo>
                <a:lnTo>
                  <a:pt x="150019" y="83344"/>
                </a:lnTo>
                <a:cubicBezTo>
                  <a:pt x="150019" y="87954"/>
                  <a:pt x="153743" y="91678"/>
                  <a:pt x="158353" y="91678"/>
                </a:cubicBezTo>
                <a:cubicBezTo>
                  <a:pt x="162963" y="91678"/>
                  <a:pt x="166688" y="87954"/>
                  <a:pt x="166688" y="83344"/>
                </a:cubicBezTo>
                <a:lnTo>
                  <a:pt x="166688" y="58341"/>
                </a:lnTo>
                <a:cubicBezTo>
                  <a:pt x="166688" y="53731"/>
                  <a:pt x="162963" y="50006"/>
                  <a:pt x="158353" y="50006"/>
                </a:cubicBez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10" name="Text 8"/>
          <p:cNvSpPr/>
          <p:nvPr/>
        </p:nvSpPr>
        <p:spPr>
          <a:xfrm>
            <a:off x="860108" y="1959057"/>
            <a:ext cx="1038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Amazon Bedrock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7220" y="2187657"/>
            <a:ext cx="3295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Claude 3 Sonnet LLM, Titan Embeddings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1020" y="2661526"/>
            <a:ext cx="3390900" cy="533400"/>
          </a:xfrm>
          <a:custGeom>
            <a:avLst/>
            <a:gdLst/>
            <a:ahLst/>
            <a:cxnLst/>
            <a:rect l="l" t="t" r="r" b="b"/>
            <a:pathLst>
              <a:path w="3390900" h="533400">
                <a:moveTo>
                  <a:pt x="76202" y="0"/>
                </a:moveTo>
                <a:lnTo>
                  <a:pt x="3314698" y="0"/>
                </a:lnTo>
                <a:cubicBezTo>
                  <a:pt x="3356783" y="0"/>
                  <a:pt x="3390900" y="34117"/>
                  <a:pt x="3390900" y="76202"/>
                </a:cubicBezTo>
                <a:lnTo>
                  <a:pt x="3390900" y="457198"/>
                </a:lnTo>
                <a:cubicBezTo>
                  <a:pt x="3390900" y="499283"/>
                  <a:pt x="3356783" y="533400"/>
                  <a:pt x="33146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32F3E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52939" y="2766301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0" y="16669"/>
                </a:moveTo>
                <a:cubicBezTo>
                  <a:pt x="0" y="7475"/>
                  <a:pt x="7475" y="0"/>
                  <a:pt x="16669" y="0"/>
                </a:cubicBezTo>
                <a:lnTo>
                  <a:pt x="55606" y="0"/>
                </a:lnTo>
                <a:cubicBezTo>
                  <a:pt x="60034" y="0"/>
                  <a:pt x="64279" y="1745"/>
                  <a:pt x="67404" y="4870"/>
                </a:cubicBezTo>
                <a:lnTo>
                  <a:pt x="95142" y="32634"/>
                </a:lnTo>
                <a:cubicBezTo>
                  <a:pt x="98267" y="35760"/>
                  <a:pt x="100013" y="40005"/>
                  <a:pt x="100013" y="44433"/>
                </a:cubicBezTo>
                <a:lnTo>
                  <a:pt x="100013" y="116681"/>
                </a:lnTo>
                <a:cubicBezTo>
                  <a:pt x="100013" y="125875"/>
                  <a:pt x="92538" y="133350"/>
                  <a:pt x="83344" y="133350"/>
                </a:cubicBezTo>
                <a:lnTo>
                  <a:pt x="16669" y="133350"/>
                </a:lnTo>
                <a:cubicBezTo>
                  <a:pt x="7475" y="133350"/>
                  <a:pt x="0" y="125875"/>
                  <a:pt x="0" y="116681"/>
                </a:cubicBezTo>
                <a:lnTo>
                  <a:pt x="0" y="16669"/>
                </a:lnTo>
                <a:close/>
                <a:moveTo>
                  <a:pt x="54173" y="15236"/>
                </a:moveTo>
                <a:lnTo>
                  <a:pt x="54173" y="39588"/>
                </a:lnTo>
                <a:cubicBezTo>
                  <a:pt x="54173" y="43052"/>
                  <a:pt x="56960" y="45839"/>
                  <a:pt x="60424" y="45839"/>
                </a:cubicBezTo>
                <a:lnTo>
                  <a:pt x="84776" y="45839"/>
                </a:lnTo>
                <a:lnTo>
                  <a:pt x="54173" y="15236"/>
                </a:lnTo>
                <a:close/>
                <a:moveTo>
                  <a:pt x="31254" y="66675"/>
                </a:moveTo>
                <a:cubicBezTo>
                  <a:pt x="27790" y="66675"/>
                  <a:pt x="25003" y="69462"/>
                  <a:pt x="25003" y="72926"/>
                </a:cubicBezTo>
                <a:cubicBezTo>
                  <a:pt x="25003" y="76390"/>
                  <a:pt x="27790" y="79177"/>
                  <a:pt x="31254" y="79177"/>
                </a:cubicBezTo>
                <a:lnTo>
                  <a:pt x="68759" y="79177"/>
                </a:lnTo>
                <a:cubicBezTo>
                  <a:pt x="72223" y="79177"/>
                  <a:pt x="75009" y="76390"/>
                  <a:pt x="75009" y="72926"/>
                </a:cubicBezTo>
                <a:cubicBezTo>
                  <a:pt x="75009" y="69462"/>
                  <a:pt x="72223" y="66675"/>
                  <a:pt x="68759" y="66675"/>
                </a:cubicBezTo>
                <a:lnTo>
                  <a:pt x="31254" y="66675"/>
                </a:lnTo>
                <a:close/>
                <a:moveTo>
                  <a:pt x="31254" y="91678"/>
                </a:moveTo>
                <a:cubicBezTo>
                  <a:pt x="27790" y="91678"/>
                  <a:pt x="25003" y="94465"/>
                  <a:pt x="25003" y="97929"/>
                </a:cubicBezTo>
                <a:cubicBezTo>
                  <a:pt x="25003" y="101393"/>
                  <a:pt x="27790" y="104180"/>
                  <a:pt x="31254" y="104180"/>
                </a:cubicBezTo>
                <a:lnTo>
                  <a:pt x="68759" y="104180"/>
                </a:lnTo>
                <a:cubicBezTo>
                  <a:pt x="72223" y="104180"/>
                  <a:pt x="75009" y="101393"/>
                  <a:pt x="75009" y="97929"/>
                </a:cubicBezTo>
                <a:cubicBezTo>
                  <a:pt x="75009" y="94465"/>
                  <a:pt x="72223" y="91678"/>
                  <a:pt x="68759" y="91678"/>
                </a:cubicBezTo>
                <a:lnTo>
                  <a:pt x="31254" y="91678"/>
                </a:ln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14" name="Text 12"/>
          <p:cNvSpPr/>
          <p:nvPr/>
        </p:nvSpPr>
        <p:spPr>
          <a:xfrm>
            <a:off x="860108" y="2737726"/>
            <a:ext cx="1038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Amazon Textract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7220" y="2966326"/>
            <a:ext cx="3295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OCR, form field extraction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1020" y="3440195"/>
            <a:ext cx="3390900" cy="533400"/>
          </a:xfrm>
          <a:custGeom>
            <a:avLst/>
            <a:gdLst/>
            <a:ahLst/>
            <a:cxnLst/>
            <a:rect l="l" t="t" r="r" b="b"/>
            <a:pathLst>
              <a:path w="3390900" h="533400">
                <a:moveTo>
                  <a:pt x="76202" y="0"/>
                </a:moveTo>
                <a:lnTo>
                  <a:pt x="3314698" y="0"/>
                </a:lnTo>
                <a:cubicBezTo>
                  <a:pt x="3356783" y="0"/>
                  <a:pt x="3390900" y="34117"/>
                  <a:pt x="3390900" y="76202"/>
                </a:cubicBezTo>
                <a:lnTo>
                  <a:pt x="3390900" y="457198"/>
                </a:lnTo>
                <a:cubicBezTo>
                  <a:pt x="3390900" y="499283"/>
                  <a:pt x="3356783" y="533400"/>
                  <a:pt x="33146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32F3E">
              <a:alpha val="6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27936" y="3544970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41672" y="0"/>
                </a:moveTo>
                <a:cubicBezTo>
                  <a:pt x="46282" y="0"/>
                  <a:pt x="50006" y="3724"/>
                  <a:pt x="50006" y="8334"/>
                </a:cubicBezTo>
                <a:lnTo>
                  <a:pt x="50006" y="16669"/>
                </a:lnTo>
                <a:lnTo>
                  <a:pt x="83344" y="16669"/>
                </a:lnTo>
                <a:cubicBezTo>
                  <a:pt x="87954" y="16669"/>
                  <a:pt x="91678" y="20393"/>
                  <a:pt x="91678" y="25003"/>
                </a:cubicBezTo>
                <a:cubicBezTo>
                  <a:pt x="91678" y="29613"/>
                  <a:pt x="87954" y="33337"/>
                  <a:pt x="83344" y="33337"/>
                </a:cubicBezTo>
                <a:lnTo>
                  <a:pt x="80843" y="33337"/>
                </a:lnTo>
                <a:lnTo>
                  <a:pt x="78656" y="39354"/>
                </a:lnTo>
                <a:cubicBezTo>
                  <a:pt x="74384" y="51126"/>
                  <a:pt x="67951" y="61883"/>
                  <a:pt x="59851" y="71129"/>
                </a:cubicBezTo>
                <a:cubicBezTo>
                  <a:pt x="63550" y="73421"/>
                  <a:pt x="67404" y="75452"/>
                  <a:pt x="71415" y="77249"/>
                </a:cubicBezTo>
                <a:lnTo>
                  <a:pt x="84542" y="83083"/>
                </a:lnTo>
                <a:lnTo>
                  <a:pt x="100742" y="46620"/>
                </a:lnTo>
                <a:cubicBezTo>
                  <a:pt x="102070" y="43599"/>
                  <a:pt x="105065" y="41672"/>
                  <a:pt x="108347" y="41672"/>
                </a:cubicBezTo>
                <a:cubicBezTo>
                  <a:pt x="111629" y="41672"/>
                  <a:pt x="114624" y="43599"/>
                  <a:pt x="115952" y="46620"/>
                </a:cubicBezTo>
                <a:lnTo>
                  <a:pt x="149289" y="121630"/>
                </a:lnTo>
                <a:cubicBezTo>
                  <a:pt x="151165" y="125849"/>
                  <a:pt x="149263" y="130772"/>
                  <a:pt x="145070" y="132621"/>
                </a:cubicBezTo>
                <a:cubicBezTo>
                  <a:pt x="140877" y="134470"/>
                  <a:pt x="135928" y="132595"/>
                  <a:pt x="134079" y="128401"/>
                </a:cubicBezTo>
                <a:lnTo>
                  <a:pt x="128870" y="116681"/>
                </a:lnTo>
                <a:lnTo>
                  <a:pt x="87850" y="116681"/>
                </a:lnTo>
                <a:lnTo>
                  <a:pt x="82641" y="128401"/>
                </a:lnTo>
                <a:cubicBezTo>
                  <a:pt x="80765" y="132621"/>
                  <a:pt x="75843" y="134496"/>
                  <a:pt x="71650" y="132621"/>
                </a:cubicBezTo>
                <a:cubicBezTo>
                  <a:pt x="67456" y="130746"/>
                  <a:pt x="65555" y="125823"/>
                  <a:pt x="67430" y="121630"/>
                </a:cubicBezTo>
                <a:lnTo>
                  <a:pt x="77796" y="98320"/>
                </a:lnTo>
                <a:lnTo>
                  <a:pt x="64670" y="92486"/>
                </a:lnTo>
                <a:cubicBezTo>
                  <a:pt x="58679" y="89829"/>
                  <a:pt x="52949" y="86651"/>
                  <a:pt x="47532" y="83005"/>
                </a:cubicBezTo>
                <a:cubicBezTo>
                  <a:pt x="41984" y="87485"/>
                  <a:pt x="35916" y="91392"/>
                  <a:pt x="29431" y="94647"/>
                </a:cubicBezTo>
                <a:lnTo>
                  <a:pt x="20393" y="99127"/>
                </a:lnTo>
                <a:cubicBezTo>
                  <a:pt x="16278" y="101185"/>
                  <a:pt x="11277" y="99518"/>
                  <a:pt x="9220" y="95403"/>
                </a:cubicBezTo>
                <a:cubicBezTo>
                  <a:pt x="7162" y="91287"/>
                  <a:pt x="8829" y="86287"/>
                  <a:pt x="12944" y="84229"/>
                </a:cubicBezTo>
                <a:lnTo>
                  <a:pt x="21930" y="79724"/>
                </a:lnTo>
                <a:cubicBezTo>
                  <a:pt x="26175" y="77588"/>
                  <a:pt x="30212" y="75114"/>
                  <a:pt x="34015" y="72353"/>
                </a:cubicBezTo>
                <a:cubicBezTo>
                  <a:pt x="30420" y="69045"/>
                  <a:pt x="27035" y="65477"/>
                  <a:pt x="23883" y="61700"/>
                </a:cubicBezTo>
                <a:lnTo>
                  <a:pt x="21253" y="58523"/>
                </a:lnTo>
                <a:cubicBezTo>
                  <a:pt x="18310" y="54981"/>
                  <a:pt x="18778" y="49720"/>
                  <a:pt x="22320" y="46777"/>
                </a:cubicBezTo>
                <a:cubicBezTo>
                  <a:pt x="25863" y="43834"/>
                  <a:pt x="31124" y="44302"/>
                  <a:pt x="34067" y="47845"/>
                </a:cubicBezTo>
                <a:lnTo>
                  <a:pt x="36723" y="51022"/>
                </a:lnTo>
                <a:cubicBezTo>
                  <a:pt x="39719" y="54642"/>
                  <a:pt x="43000" y="58002"/>
                  <a:pt x="46464" y="61101"/>
                </a:cubicBezTo>
                <a:cubicBezTo>
                  <a:pt x="53626" y="53184"/>
                  <a:pt x="59278" y="43886"/>
                  <a:pt x="63003" y="33650"/>
                </a:cubicBezTo>
                <a:lnTo>
                  <a:pt x="63133" y="33337"/>
                </a:lnTo>
                <a:lnTo>
                  <a:pt x="8360" y="33337"/>
                </a:lnTo>
                <a:cubicBezTo>
                  <a:pt x="3724" y="33337"/>
                  <a:pt x="0" y="29613"/>
                  <a:pt x="0" y="25003"/>
                </a:cubicBezTo>
                <a:cubicBezTo>
                  <a:pt x="0" y="20393"/>
                  <a:pt x="3724" y="16669"/>
                  <a:pt x="8334" y="16669"/>
                </a:cubicBezTo>
                <a:lnTo>
                  <a:pt x="33337" y="16669"/>
                </a:lnTo>
                <a:lnTo>
                  <a:pt x="33337" y="8334"/>
                </a:lnTo>
                <a:cubicBezTo>
                  <a:pt x="33337" y="3724"/>
                  <a:pt x="37062" y="0"/>
                  <a:pt x="41672" y="0"/>
                </a:cubicBezTo>
                <a:close/>
                <a:moveTo>
                  <a:pt x="108347" y="70530"/>
                </a:moveTo>
                <a:lnTo>
                  <a:pt x="95246" y="100013"/>
                </a:lnTo>
                <a:lnTo>
                  <a:pt x="121447" y="100013"/>
                </a:lnTo>
                <a:lnTo>
                  <a:pt x="108347" y="70530"/>
                </a:ln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18" name="Text 16"/>
          <p:cNvSpPr/>
          <p:nvPr/>
        </p:nvSpPr>
        <p:spPr>
          <a:xfrm>
            <a:off x="860108" y="3516395"/>
            <a:ext cx="132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Amazon Comprehend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7220" y="3744995"/>
            <a:ext cx="3295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NLP, language detection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1020" y="4218863"/>
            <a:ext cx="3390900" cy="533400"/>
          </a:xfrm>
          <a:custGeom>
            <a:avLst/>
            <a:gdLst/>
            <a:ahLst/>
            <a:cxnLst/>
            <a:rect l="l" t="t" r="r" b="b"/>
            <a:pathLst>
              <a:path w="3390900" h="533400">
                <a:moveTo>
                  <a:pt x="76202" y="0"/>
                </a:moveTo>
                <a:lnTo>
                  <a:pt x="3314698" y="0"/>
                </a:lnTo>
                <a:cubicBezTo>
                  <a:pt x="3356783" y="0"/>
                  <a:pt x="3390900" y="34117"/>
                  <a:pt x="3390900" y="76202"/>
                </a:cubicBezTo>
                <a:lnTo>
                  <a:pt x="3390900" y="457198"/>
                </a:lnTo>
                <a:cubicBezTo>
                  <a:pt x="3390900" y="499283"/>
                  <a:pt x="3356783" y="533400"/>
                  <a:pt x="33146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32F3E">
              <a:alpha val="6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52939" y="4323638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50006" y="0"/>
                </a:moveTo>
                <a:cubicBezTo>
                  <a:pt x="36202" y="0"/>
                  <a:pt x="25003" y="11199"/>
                  <a:pt x="25003" y="25003"/>
                </a:cubicBezTo>
                <a:lnTo>
                  <a:pt x="25003" y="58341"/>
                </a:lnTo>
                <a:cubicBezTo>
                  <a:pt x="25003" y="72144"/>
                  <a:pt x="36202" y="83344"/>
                  <a:pt x="50006" y="83344"/>
                </a:cubicBezTo>
                <a:cubicBezTo>
                  <a:pt x="63810" y="83344"/>
                  <a:pt x="75009" y="72144"/>
                  <a:pt x="75009" y="58341"/>
                </a:cubicBezTo>
                <a:lnTo>
                  <a:pt x="75009" y="25003"/>
                </a:lnTo>
                <a:cubicBezTo>
                  <a:pt x="75009" y="11199"/>
                  <a:pt x="63810" y="0"/>
                  <a:pt x="50006" y="0"/>
                </a:cubicBezTo>
                <a:close/>
                <a:moveTo>
                  <a:pt x="12502" y="47923"/>
                </a:moveTo>
                <a:cubicBezTo>
                  <a:pt x="12502" y="44459"/>
                  <a:pt x="9715" y="41672"/>
                  <a:pt x="6251" y="41672"/>
                </a:cubicBezTo>
                <a:cubicBezTo>
                  <a:pt x="2787" y="41672"/>
                  <a:pt x="0" y="44459"/>
                  <a:pt x="0" y="47923"/>
                </a:cubicBezTo>
                <a:lnTo>
                  <a:pt x="0" y="58341"/>
                </a:lnTo>
                <a:cubicBezTo>
                  <a:pt x="0" y="83839"/>
                  <a:pt x="19091" y="104883"/>
                  <a:pt x="43755" y="107956"/>
                </a:cubicBezTo>
                <a:lnTo>
                  <a:pt x="43755" y="120848"/>
                </a:lnTo>
                <a:lnTo>
                  <a:pt x="31254" y="120848"/>
                </a:lnTo>
                <a:cubicBezTo>
                  <a:pt x="27790" y="120848"/>
                  <a:pt x="25003" y="123635"/>
                  <a:pt x="25003" y="127099"/>
                </a:cubicBezTo>
                <a:cubicBezTo>
                  <a:pt x="25003" y="130563"/>
                  <a:pt x="27790" y="133350"/>
                  <a:pt x="31254" y="133350"/>
                </a:cubicBezTo>
                <a:lnTo>
                  <a:pt x="68759" y="133350"/>
                </a:lnTo>
                <a:cubicBezTo>
                  <a:pt x="72223" y="133350"/>
                  <a:pt x="75009" y="130563"/>
                  <a:pt x="75009" y="127099"/>
                </a:cubicBezTo>
                <a:cubicBezTo>
                  <a:pt x="75009" y="123635"/>
                  <a:pt x="72223" y="120848"/>
                  <a:pt x="68759" y="120848"/>
                </a:cubicBezTo>
                <a:lnTo>
                  <a:pt x="56257" y="120848"/>
                </a:lnTo>
                <a:lnTo>
                  <a:pt x="56257" y="107956"/>
                </a:lnTo>
                <a:cubicBezTo>
                  <a:pt x="80922" y="104883"/>
                  <a:pt x="100013" y="83839"/>
                  <a:pt x="100013" y="58341"/>
                </a:cubicBezTo>
                <a:lnTo>
                  <a:pt x="100013" y="47923"/>
                </a:lnTo>
                <a:cubicBezTo>
                  <a:pt x="100013" y="44459"/>
                  <a:pt x="97226" y="41672"/>
                  <a:pt x="93762" y="41672"/>
                </a:cubicBezTo>
                <a:cubicBezTo>
                  <a:pt x="90298" y="41672"/>
                  <a:pt x="87511" y="44459"/>
                  <a:pt x="87511" y="47923"/>
                </a:cubicBezTo>
                <a:lnTo>
                  <a:pt x="87511" y="58341"/>
                </a:lnTo>
                <a:cubicBezTo>
                  <a:pt x="87511" y="79046"/>
                  <a:pt x="70712" y="95845"/>
                  <a:pt x="50006" y="95845"/>
                </a:cubicBezTo>
                <a:cubicBezTo>
                  <a:pt x="29301" y="95845"/>
                  <a:pt x="12502" y="79046"/>
                  <a:pt x="12502" y="58341"/>
                </a:cubicBezTo>
                <a:lnTo>
                  <a:pt x="12502" y="47923"/>
                </a:ln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22" name="Text 20"/>
          <p:cNvSpPr/>
          <p:nvPr/>
        </p:nvSpPr>
        <p:spPr>
          <a:xfrm>
            <a:off x="860108" y="4295063"/>
            <a:ext cx="1114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Transcribe &amp; Polly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7220" y="4523663"/>
            <a:ext cx="3295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Speech-to-text, text-to-speech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1020" y="4997532"/>
            <a:ext cx="3390900" cy="533400"/>
          </a:xfrm>
          <a:custGeom>
            <a:avLst/>
            <a:gdLst/>
            <a:ahLst/>
            <a:cxnLst/>
            <a:rect l="l" t="t" r="r" b="b"/>
            <a:pathLst>
              <a:path w="3390900" h="533400">
                <a:moveTo>
                  <a:pt x="76202" y="0"/>
                </a:moveTo>
                <a:lnTo>
                  <a:pt x="3314698" y="0"/>
                </a:lnTo>
                <a:cubicBezTo>
                  <a:pt x="3356783" y="0"/>
                  <a:pt x="3390900" y="34117"/>
                  <a:pt x="3390900" y="76202"/>
                </a:cubicBezTo>
                <a:lnTo>
                  <a:pt x="3390900" y="457198"/>
                </a:lnTo>
                <a:cubicBezTo>
                  <a:pt x="3390900" y="499283"/>
                  <a:pt x="3356783" y="533400"/>
                  <a:pt x="33146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32F3E">
              <a:alpha val="6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36270" y="5102307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91652" y="72926"/>
                </a:moveTo>
                <a:lnTo>
                  <a:pt x="41932" y="72926"/>
                </a:lnTo>
                <a:cubicBezTo>
                  <a:pt x="42688" y="89725"/>
                  <a:pt x="46412" y="105195"/>
                  <a:pt x="51699" y="116525"/>
                </a:cubicBezTo>
                <a:cubicBezTo>
                  <a:pt x="54668" y="122906"/>
                  <a:pt x="57872" y="127412"/>
                  <a:pt x="60841" y="130173"/>
                </a:cubicBezTo>
                <a:cubicBezTo>
                  <a:pt x="63758" y="132907"/>
                  <a:pt x="65763" y="133350"/>
                  <a:pt x="66805" y="133350"/>
                </a:cubicBezTo>
                <a:cubicBezTo>
                  <a:pt x="67847" y="133350"/>
                  <a:pt x="69852" y="132907"/>
                  <a:pt x="72770" y="130173"/>
                </a:cubicBezTo>
                <a:cubicBezTo>
                  <a:pt x="75739" y="127412"/>
                  <a:pt x="78942" y="122880"/>
                  <a:pt x="81911" y="116525"/>
                </a:cubicBezTo>
                <a:cubicBezTo>
                  <a:pt x="87198" y="105195"/>
                  <a:pt x="90923" y="89725"/>
                  <a:pt x="91678" y="72926"/>
                </a:cubicBezTo>
                <a:close/>
                <a:moveTo>
                  <a:pt x="41906" y="60424"/>
                </a:moveTo>
                <a:lnTo>
                  <a:pt x="91626" y="60424"/>
                </a:lnTo>
                <a:cubicBezTo>
                  <a:pt x="90897" y="43625"/>
                  <a:pt x="87172" y="28155"/>
                  <a:pt x="81885" y="16825"/>
                </a:cubicBezTo>
                <a:cubicBezTo>
                  <a:pt x="78916" y="10470"/>
                  <a:pt x="75713" y="5938"/>
                  <a:pt x="72743" y="3177"/>
                </a:cubicBezTo>
                <a:cubicBezTo>
                  <a:pt x="69826" y="443"/>
                  <a:pt x="67821" y="0"/>
                  <a:pt x="66779" y="0"/>
                </a:cubicBezTo>
                <a:cubicBezTo>
                  <a:pt x="65737" y="0"/>
                  <a:pt x="63732" y="443"/>
                  <a:pt x="60815" y="3177"/>
                </a:cubicBezTo>
                <a:cubicBezTo>
                  <a:pt x="57846" y="5938"/>
                  <a:pt x="54642" y="10470"/>
                  <a:pt x="51673" y="16825"/>
                </a:cubicBezTo>
                <a:cubicBezTo>
                  <a:pt x="46386" y="28155"/>
                  <a:pt x="42662" y="43625"/>
                  <a:pt x="41906" y="60424"/>
                </a:cubicBezTo>
                <a:close/>
                <a:moveTo>
                  <a:pt x="29405" y="60424"/>
                </a:moveTo>
                <a:cubicBezTo>
                  <a:pt x="30316" y="38130"/>
                  <a:pt x="36072" y="17424"/>
                  <a:pt x="44485" y="3829"/>
                </a:cubicBezTo>
                <a:cubicBezTo>
                  <a:pt x="20497" y="12319"/>
                  <a:pt x="2839" y="34171"/>
                  <a:pt x="391" y="60424"/>
                </a:cubicBezTo>
                <a:lnTo>
                  <a:pt x="29405" y="60424"/>
                </a:lnTo>
                <a:close/>
                <a:moveTo>
                  <a:pt x="391" y="72926"/>
                </a:moveTo>
                <a:cubicBezTo>
                  <a:pt x="2839" y="99179"/>
                  <a:pt x="20497" y="121031"/>
                  <a:pt x="44485" y="129521"/>
                </a:cubicBezTo>
                <a:cubicBezTo>
                  <a:pt x="36072" y="115926"/>
                  <a:pt x="30316" y="95220"/>
                  <a:pt x="29405" y="72926"/>
                </a:cubicBezTo>
                <a:lnTo>
                  <a:pt x="391" y="72926"/>
                </a:lnTo>
                <a:close/>
                <a:moveTo>
                  <a:pt x="104154" y="72926"/>
                </a:moveTo>
                <a:cubicBezTo>
                  <a:pt x="103242" y="95220"/>
                  <a:pt x="97486" y="115926"/>
                  <a:pt x="89074" y="129521"/>
                </a:cubicBezTo>
                <a:cubicBezTo>
                  <a:pt x="113061" y="121005"/>
                  <a:pt x="130719" y="99179"/>
                  <a:pt x="133168" y="72926"/>
                </a:cubicBezTo>
                <a:lnTo>
                  <a:pt x="104154" y="72926"/>
                </a:lnTo>
                <a:close/>
                <a:moveTo>
                  <a:pt x="133168" y="60424"/>
                </a:moveTo>
                <a:cubicBezTo>
                  <a:pt x="130719" y="34171"/>
                  <a:pt x="113061" y="12319"/>
                  <a:pt x="89074" y="3829"/>
                </a:cubicBezTo>
                <a:cubicBezTo>
                  <a:pt x="97486" y="17424"/>
                  <a:pt x="103242" y="38130"/>
                  <a:pt x="104154" y="60424"/>
                </a:cubicBezTo>
                <a:lnTo>
                  <a:pt x="133168" y="60424"/>
                </a:ln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26" name="Text 24"/>
          <p:cNvSpPr/>
          <p:nvPr/>
        </p:nvSpPr>
        <p:spPr>
          <a:xfrm>
            <a:off x="860108" y="5073732"/>
            <a:ext cx="1095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Amazon Translate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17220" y="5302332"/>
            <a:ext cx="3295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translation, 10 languages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245531" y="1261110"/>
            <a:ext cx="3703320" cy="4512945"/>
          </a:xfrm>
          <a:custGeom>
            <a:avLst/>
            <a:gdLst/>
            <a:ahLst/>
            <a:cxnLst/>
            <a:rect l="l" t="t" r="r" b="b"/>
            <a:pathLst>
              <a:path w="3703320" h="4512945">
                <a:moveTo>
                  <a:pt x="152392" y="0"/>
                </a:moveTo>
                <a:lnTo>
                  <a:pt x="3550928" y="0"/>
                </a:lnTo>
                <a:cubicBezTo>
                  <a:pt x="3635092" y="0"/>
                  <a:pt x="3703320" y="68228"/>
                  <a:pt x="3703320" y="152392"/>
                </a:cubicBezTo>
                <a:lnTo>
                  <a:pt x="3703320" y="4360553"/>
                </a:lnTo>
                <a:cubicBezTo>
                  <a:pt x="3703320" y="4444717"/>
                  <a:pt x="3635092" y="4512945"/>
                  <a:pt x="3550928" y="4512945"/>
                </a:cubicBezTo>
                <a:lnTo>
                  <a:pt x="152392" y="4512945"/>
                </a:lnTo>
                <a:cubicBezTo>
                  <a:pt x="68228" y="4512945"/>
                  <a:pt x="0" y="4444717"/>
                  <a:pt x="0" y="4360553"/>
                </a:cubicBezTo>
                <a:lnTo>
                  <a:pt x="0" y="152392"/>
                </a:lnTo>
                <a:cubicBezTo>
                  <a:pt x="0" y="68228"/>
                  <a:pt x="68228" y="0"/>
                  <a:pt x="152392" y="0"/>
                </a:cubicBezTo>
                <a:close/>
              </a:path>
            </a:pathLst>
          </a:custGeom>
          <a:gradFill flip="none" rotWithShape="1">
            <a:gsLst>
              <a:gs pos="0">
                <a:srgbClr val="00A8E1">
                  <a:alpha val="20000"/>
                </a:srgbClr>
              </a:gs>
              <a:gs pos="100000">
                <a:srgbClr val="00A8E1">
                  <a:alpha val="5000"/>
                </a:srgbClr>
              </a:gs>
            </a:gsLst>
            <a:lin ang="2700000" scaled="1"/>
          </a:gradFill>
          <a:ln w="10160">
            <a:solidFill>
              <a:srgbClr val="00A8E1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37459" y="145542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00A8E1"/>
          </a:solidFill>
          <a:ln/>
        </p:spPr>
      </p:sp>
      <p:sp>
        <p:nvSpPr>
          <p:cNvPr id="30" name="Text 28"/>
          <p:cNvSpPr/>
          <p:nvPr/>
        </p:nvSpPr>
        <p:spPr>
          <a:xfrm>
            <a:off x="4716066" y="1417323"/>
            <a:ext cx="124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Compute &amp; API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401741" y="1882857"/>
            <a:ext cx="3390900" cy="533400"/>
          </a:xfrm>
          <a:custGeom>
            <a:avLst/>
            <a:gdLst/>
            <a:ahLst/>
            <a:cxnLst/>
            <a:rect l="l" t="t" r="r" b="b"/>
            <a:pathLst>
              <a:path w="3390900" h="533400">
                <a:moveTo>
                  <a:pt x="76202" y="0"/>
                </a:moveTo>
                <a:lnTo>
                  <a:pt x="3314698" y="0"/>
                </a:lnTo>
                <a:cubicBezTo>
                  <a:pt x="3356783" y="0"/>
                  <a:pt x="3390900" y="34117"/>
                  <a:pt x="3390900" y="76202"/>
                </a:cubicBezTo>
                <a:lnTo>
                  <a:pt x="3390900" y="457198"/>
                </a:lnTo>
                <a:cubicBezTo>
                  <a:pt x="3390900" y="499283"/>
                  <a:pt x="3356783" y="533400"/>
                  <a:pt x="33146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32F3E">
              <a:alpha val="6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488656" y="1987632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93970" y="313"/>
                </a:moveTo>
                <a:cubicBezTo>
                  <a:pt x="89542" y="-964"/>
                  <a:pt x="84932" y="1615"/>
                  <a:pt x="83656" y="6042"/>
                </a:cubicBezTo>
                <a:lnTo>
                  <a:pt x="50319" y="122724"/>
                </a:lnTo>
                <a:cubicBezTo>
                  <a:pt x="49043" y="127151"/>
                  <a:pt x="51621" y="131761"/>
                  <a:pt x="56049" y="133037"/>
                </a:cubicBezTo>
                <a:cubicBezTo>
                  <a:pt x="60476" y="134314"/>
                  <a:pt x="65086" y="131735"/>
                  <a:pt x="66362" y="127308"/>
                </a:cubicBezTo>
                <a:lnTo>
                  <a:pt x="99700" y="10626"/>
                </a:lnTo>
                <a:cubicBezTo>
                  <a:pt x="100976" y="6199"/>
                  <a:pt x="98398" y="1589"/>
                  <a:pt x="93970" y="313"/>
                </a:cubicBezTo>
                <a:close/>
                <a:moveTo>
                  <a:pt x="110795" y="35760"/>
                </a:moveTo>
                <a:cubicBezTo>
                  <a:pt x="107539" y="39015"/>
                  <a:pt x="107539" y="44302"/>
                  <a:pt x="110795" y="47558"/>
                </a:cubicBezTo>
                <a:lnTo>
                  <a:pt x="129912" y="66675"/>
                </a:lnTo>
                <a:lnTo>
                  <a:pt x="110795" y="85792"/>
                </a:lnTo>
                <a:cubicBezTo>
                  <a:pt x="107539" y="89048"/>
                  <a:pt x="107539" y="94335"/>
                  <a:pt x="110795" y="97590"/>
                </a:cubicBezTo>
                <a:cubicBezTo>
                  <a:pt x="114051" y="100846"/>
                  <a:pt x="119338" y="100846"/>
                  <a:pt x="122593" y="97590"/>
                </a:cubicBezTo>
                <a:lnTo>
                  <a:pt x="147597" y="72587"/>
                </a:lnTo>
                <a:cubicBezTo>
                  <a:pt x="150852" y="69332"/>
                  <a:pt x="150852" y="64044"/>
                  <a:pt x="147597" y="60789"/>
                </a:cubicBezTo>
                <a:lnTo>
                  <a:pt x="122593" y="35786"/>
                </a:lnTo>
                <a:cubicBezTo>
                  <a:pt x="119338" y="32530"/>
                  <a:pt x="114051" y="32530"/>
                  <a:pt x="110795" y="35786"/>
                </a:cubicBezTo>
                <a:close/>
                <a:moveTo>
                  <a:pt x="39250" y="35760"/>
                </a:moveTo>
                <a:cubicBezTo>
                  <a:pt x="35994" y="32504"/>
                  <a:pt x="30707" y="32504"/>
                  <a:pt x="27451" y="35760"/>
                </a:cubicBezTo>
                <a:lnTo>
                  <a:pt x="2448" y="60763"/>
                </a:lnTo>
                <a:cubicBezTo>
                  <a:pt x="-807" y="64018"/>
                  <a:pt x="-807" y="69306"/>
                  <a:pt x="2448" y="72561"/>
                </a:cubicBezTo>
                <a:lnTo>
                  <a:pt x="27451" y="97564"/>
                </a:lnTo>
                <a:cubicBezTo>
                  <a:pt x="30707" y="100820"/>
                  <a:pt x="35994" y="100820"/>
                  <a:pt x="39250" y="97564"/>
                </a:cubicBezTo>
                <a:cubicBezTo>
                  <a:pt x="42505" y="94309"/>
                  <a:pt x="42505" y="89022"/>
                  <a:pt x="39250" y="85766"/>
                </a:cubicBezTo>
                <a:lnTo>
                  <a:pt x="20133" y="66675"/>
                </a:lnTo>
                <a:lnTo>
                  <a:pt x="39224" y="47558"/>
                </a:lnTo>
                <a:cubicBezTo>
                  <a:pt x="42479" y="44302"/>
                  <a:pt x="42479" y="39015"/>
                  <a:pt x="39224" y="35760"/>
                </a:cubicBezTo>
                <a:close/>
              </a:path>
            </a:pathLst>
          </a:custGeom>
          <a:solidFill>
            <a:srgbClr val="00A8E1"/>
          </a:solidFill>
          <a:ln/>
        </p:spPr>
      </p:sp>
      <p:sp>
        <p:nvSpPr>
          <p:cNvPr id="33" name="Text 31"/>
          <p:cNvSpPr/>
          <p:nvPr/>
        </p:nvSpPr>
        <p:spPr>
          <a:xfrm>
            <a:off x="4720828" y="1959057"/>
            <a:ext cx="86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AWS Lambda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477941" y="2187657"/>
            <a:ext cx="3295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Serverless microservices, Python/Node.js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401741" y="2661526"/>
            <a:ext cx="3390900" cy="533400"/>
          </a:xfrm>
          <a:custGeom>
            <a:avLst/>
            <a:gdLst/>
            <a:ahLst/>
            <a:cxnLst/>
            <a:rect l="l" t="t" r="r" b="b"/>
            <a:pathLst>
              <a:path w="3390900" h="533400">
                <a:moveTo>
                  <a:pt x="76202" y="0"/>
                </a:moveTo>
                <a:lnTo>
                  <a:pt x="3314698" y="0"/>
                </a:lnTo>
                <a:cubicBezTo>
                  <a:pt x="3356783" y="0"/>
                  <a:pt x="3390900" y="34117"/>
                  <a:pt x="3390900" y="76202"/>
                </a:cubicBezTo>
                <a:lnTo>
                  <a:pt x="3390900" y="457198"/>
                </a:lnTo>
                <a:cubicBezTo>
                  <a:pt x="3390900" y="499283"/>
                  <a:pt x="3356783" y="533400"/>
                  <a:pt x="33146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32F3E">
              <a:alpha val="6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488656" y="2766301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64591" y="22920"/>
                </a:moveTo>
                <a:lnTo>
                  <a:pt x="85427" y="22920"/>
                </a:lnTo>
                <a:lnTo>
                  <a:pt x="85427" y="35421"/>
                </a:lnTo>
                <a:lnTo>
                  <a:pt x="64591" y="35421"/>
                </a:lnTo>
                <a:lnTo>
                  <a:pt x="64591" y="22920"/>
                </a:lnTo>
                <a:close/>
                <a:moveTo>
                  <a:pt x="62508" y="8334"/>
                </a:moveTo>
                <a:cubicBezTo>
                  <a:pt x="55606" y="8334"/>
                  <a:pt x="50006" y="13934"/>
                  <a:pt x="50006" y="20836"/>
                </a:cubicBezTo>
                <a:lnTo>
                  <a:pt x="50006" y="37505"/>
                </a:lnTo>
                <a:cubicBezTo>
                  <a:pt x="50006" y="44407"/>
                  <a:pt x="55606" y="50006"/>
                  <a:pt x="62508" y="50006"/>
                </a:cubicBezTo>
                <a:lnTo>
                  <a:pt x="66675" y="50006"/>
                </a:lnTo>
                <a:lnTo>
                  <a:pt x="66675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33337" y="75009"/>
                </a:lnTo>
                <a:lnTo>
                  <a:pt x="33337" y="83344"/>
                </a:lnTo>
                <a:lnTo>
                  <a:pt x="29170" y="83344"/>
                </a:lnTo>
                <a:cubicBezTo>
                  <a:pt x="22268" y="83344"/>
                  <a:pt x="16669" y="88943"/>
                  <a:pt x="16669" y="95845"/>
                </a:cubicBezTo>
                <a:lnTo>
                  <a:pt x="16669" y="112514"/>
                </a:lnTo>
                <a:cubicBezTo>
                  <a:pt x="16669" y="119416"/>
                  <a:pt x="22268" y="125016"/>
                  <a:pt x="29170" y="125016"/>
                </a:cubicBezTo>
                <a:lnTo>
                  <a:pt x="54173" y="125016"/>
                </a:lnTo>
                <a:cubicBezTo>
                  <a:pt x="61075" y="125016"/>
                  <a:pt x="66675" y="119416"/>
                  <a:pt x="66675" y="112514"/>
                </a:cubicBezTo>
                <a:lnTo>
                  <a:pt x="66675" y="95845"/>
                </a:lnTo>
                <a:cubicBezTo>
                  <a:pt x="66675" y="88943"/>
                  <a:pt x="61075" y="83344"/>
                  <a:pt x="54173" y="83344"/>
                </a:cubicBezTo>
                <a:lnTo>
                  <a:pt x="50006" y="83344"/>
                </a:lnTo>
                <a:lnTo>
                  <a:pt x="50006" y="75009"/>
                </a:lnTo>
                <a:lnTo>
                  <a:pt x="100013" y="75009"/>
                </a:lnTo>
                <a:lnTo>
                  <a:pt x="100013" y="83344"/>
                </a:lnTo>
                <a:lnTo>
                  <a:pt x="95845" y="83344"/>
                </a:lnTo>
                <a:cubicBezTo>
                  <a:pt x="88943" y="83344"/>
                  <a:pt x="83344" y="88943"/>
                  <a:pt x="83344" y="95845"/>
                </a:cubicBezTo>
                <a:lnTo>
                  <a:pt x="83344" y="112514"/>
                </a:lnTo>
                <a:cubicBezTo>
                  <a:pt x="83344" y="119416"/>
                  <a:pt x="88943" y="125016"/>
                  <a:pt x="95845" y="125016"/>
                </a:cubicBezTo>
                <a:lnTo>
                  <a:pt x="120848" y="125016"/>
                </a:lnTo>
                <a:cubicBezTo>
                  <a:pt x="127750" y="125016"/>
                  <a:pt x="133350" y="119416"/>
                  <a:pt x="133350" y="112514"/>
                </a:cubicBezTo>
                <a:lnTo>
                  <a:pt x="133350" y="95845"/>
                </a:lnTo>
                <a:cubicBezTo>
                  <a:pt x="133350" y="88943"/>
                  <a:pt x="127750" y="83344"/>
                  <a:pt x="120848" y="83344"/>
                </a:cubicBezTo>
                <a:lnTo>
                  <a:pt x="116681" y="83344"/>
                </a:lnTo>
                <a:lnTo>
                  <a:pt x="116681" y="75009"/>
                </a:lnTo>
                <a:lnTo>
                  <a:pt x="141684" y="75009"/>
                </a:lnTo>
                <a:cubicBezTo>
                  <a:pt x="146294" y="75009"/>
                  <a:pt x="150019" y="71285"/>
                  <a:pt x="150019" y="66675"/>
                </a:cubicBezTo>
                <a:cubicBezTo>
                  <a:pt x="150019" y="62065"/>
                  <a:pt x="146294" y="58341"/>
                  <a:pt x="141684" y="58341"/>
                </a:cubicBezTo>
                <a:lnTo>
                  <a:pt x="83344" y="58341"/>
                </a:lnTo>
                <a:lnTo>
                  <a:pt x="83344" y="50006"/>
                </a:lnTo>
                <a:lnTo>
                  <a:pt x="87511" y="50006"/>
                </a:lnTo>
                <a:cubicBezTo>
                  <a:pt x="94413" y="50006"/>
                  <a:pt x="100013" y="44407"/>
                  <a:pt x="100013" y="37505"/>
                </a:cubicBezTo>
                <a:lnTo>
                  <a:pt x="100013" y="20836"/>
                </a:lnTo>
                <a:cubicBezTo>
                  <a:pt x="100013" y="13934"/>
                  <a:pt x="94413" y="8334"/>
                  <a:pt x="87511" y="8334"/>
                </a:cubicBezTo>
                <a:lnTo>
                  <a:pt x="62508" y="8334"/>
                </a:lnTo>
                <a:close/>
                <a:moveTo>
                  <a:pt x="116681" y="97929"/>
                </a:moveTo>
                <a:lnTo>
                  <a:pt x="118765" y="97929"/>
                </a:lnTo>
                <a:lnTo>
                  <a:pt x="118765" y="110430"/>
                </a:lnTo>
                <a:lnTo>
                  <a:pt x="97929" y="110430"/>
                </a:lnTo>
                <a:lnTo>
                  <a:pt x="97929" y="97929"/>
                </a:lnTo>
                <a:lnTo>
                  <a:pt x="116681" y="97929"/>
                </a:lnTo>
                <a:close/>
                <a:moveTo>
                  <a:pt x="50006" y="97929"/>
                </a:moveTo>
                <a:lnTo>
                  <a:pt x="52090" y="97929"/>
                </a:lnTo>
                <a:lnTo>
                  <a:pt x="52090" y="110430"/>
                </a:lnTo>
                <a:lnTo>
                  <a:pt x="31254" y="110430"/>
                </a:lnTo>
                <a:lnTo>
                  <a:pt x="31254" y="97929"/>
                </a:lnTo>
                <a:lnTo>
                  <a:pt x="50006" y="97929"/>
                </a:lnTo>
                <a:close/>
              </a:path>
            </a:pathLst>
          </a:custGeom>
          <a:solidFill>
            <a:srgbClr val="00A8E1"/>
          </a:solidFill>
          <a:ln/>
        </p:spPr>
      </p:sp>
      <p:sp>
        <p:nvSpPr>
          <p:cNvPr id="37" name="Text 35"/>
          <p:cNvSpPr/>
          <p:nvPr/>
        </p:nvSpPr>
        <p:spPr>
          <a:xfrm>
            <a:off x="4720828" y="2737726"/>
            <a:ext cx="800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Gateway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477941" y="2966326"/>
            <a:ext cx="3295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 + WebSocket APIs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401741" y="3440195"/>
            <a:ext cx="3390900" cy="533400"/>
          </a:xfrm>
          <a:custGeom>
            <a:avLst/>
            <a:gdLst/>
            <a:ahLst/>
            <a:cxnLst/>
            <a:rect l="l" t="t" r="r" b="b"/>
            <a:pathLst>
              <a:path w="3390900" h="533400">
                <a:moveTo>
                  <a:pt x="76202" y="0"/>
                </a:moveTo>
                <a:lnTo>
                  <a:pt x="3314698" y="0"/>
                </a:lnTo>
                <a:cubicBezTo>
                  <a:pt x="3356783" y="0"/>
                  <a:pt x="3390900" y="34117"/>
                  <a:pt x="3390900" y="76202"/>
                </a:cubicBezTo>
                <a:lnTo>
                  <a:pt x="3390900" y="457198"/>
                </a:lnTo>
                <a:cubicBezTo>
                  <a:pt x="3390900" y="499283"/>
                  <a:pt x="3356783" y="533400"/>
                  <a:pt x="33146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32F3E">
              <a:alpha val="6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488656" y="3544970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58341" y="64591"/>
                </a:moveTo>
                <a:cubicBezTo>
                  <a:pt x="75590" y="64591"/>
                  <a:pt x="89595" y="50587"/>
                  <a:pt x="89595" y="33337"/>
                </a:cubicBezTo>
                <a:cubicBezTo>
                  <a:pt x="89595" y="16088"/>
                  <a:pt x="75590" y="2084"/>
                  <a:pt x="58341" y="2084"/>
                </a:cubicBezTo>
                <a:cubicBezTo>
                  <a:pt x="41091" y="2084"/>
                  <a:pt x="27087" y="16088"/>
                  <a:pt x="27087" y="33337"/>
                </a:cubicBezTo>
                <a:cubicBezTo>
                  <a:pt x="27087" y="50587"/>
                  <a:pt x="41091" y="64591"/>
                  <a:pt x="58341" y="64591"/>
                </a:cubicBezTo>
                <a:close/>
                <a:moveTo>
                  <a:pt x="50605" y="79177"/>
                </a:moveTo>
                <a:cubicBezTo>
                  <a:pt x="24951" y="79177"/>
                  <a:pt x="4167" y="99960"/>
                  <a:pt x="4167" y="125615"/>
                </a:cubicBezTo>
                <a:cubicBezTo>
                  <a:pt x="4167" y="129886"/>
                  <a:pt x="7631" y="133350"/>
                  <a:pt x="11903" y="133350"/>
                </a:cubicBezTo>
                <a:lnTo>
                  <a:pt x="77406" y="133350"/>
                </a:lnTo>
                <a:cubicBezTo>
                  <a:pt x="67977" y="122255"/>
                  <a:pt x="62508" y="107956"/>
                  <a:pt x="62508" y="92824"/>
                </a:cubicBezTo>
                <a:lnTo>
                  <a:pt x="62508" y="84724"/>
                </a:lnTo>
                <a:cubicBezTo>
                  <a:pt x="62508" y="82823"/>
                  <a:pt x="62768" y="80948"/>
                  <a:pt x="63263" y="79177"/>
                </a:cubicBezTo>
                <a:lnTo>
                  <a:pt x="50605" y="79177"/>
                </a:lnTo>
                <a:close/>
                <a:moveTo>
                  <a:pt x="115978" y="127229"/>
                </a:moveTo>
                <a:lnTo>
                  <a:pt x="112514" y="128870"/>
                </a:lnTo>
                <a:lnTo>
                  <a:pt x="112514" y="79880"/>
                </a:lnTo>
                <a:lnTo>
                  <a:pt x="137517" y="88214"/>
                </a:lnTo>
                <a:lnTo>
                  <a:pt x="137517" y="93319"/>
                </a:lnTo>
                <a:cubicBezTo>
                  <a:pt x="137517" y="107852"/>
                  <a:pt x="129131" y="121057"/>
                  <a:pt x="115978" y="127255"/>
                </a:cubicBezTo>
                <a:close/>
                <a:moveTo>
                  <a:pt x="109884" y="67587"/>
                </a:moveTo>
                <a:lnTo>
                  <a:pt x="80713" y="77301"/>
                </a:lnTo>
                <a:cubicBezTo>
                  <a:pt x="77301" y="78447"/>
                  <a:pt x="75009" y="81625"/>
                  <a:pt x="75009" y="85219"/>
                </a:cubicBezTo>
                <a:lnTo>
                  <a:pt x="75009" y="93319"/>
                </a:lnTo>
                <a:cubicBezTo>
                  <a:pt x="75009" y="112696"/>
                  <a:pt x="86209" y="130329"/>
                  <a:pt x="103711" y="138559"/>
                </a:cubicBezTo>
                <a:lnTo>
                  <a:pt x="108529" y="140825"/>
                </a:lnTo>
                <a:cubicBezTo>
                  <a:pt x="109779" y="141398"/>
                  <a:pt x="111134" y="141710"/>
                  <a:pt x="112488" y="141710"/>
                </a:cubicBezTo>
                <a:cubicBezTo>
                  <a:pt x="113842" y="141710"/>
                  <a:pt x="115223" y="141398"/>
                  <a:pt x="116447" y="140825"/>
                </a:cubicBezTo>
                <a:lnTo>
                  <a:pt x="121265" y="138559"/>
                </a:lnTo>
                <a:cubicBezTo>
                  <a:pt x="138819" y="130303"/>
                  <a:pt x="150019" y="112670"/>
                  <a:pt x="150019" y="93293"/>
                </a:cubicBezTo>
                <a:lnTo>
                  <a:pt x="150019" y="85193"/>
                </a:lnTo>
                <a:cubicBezTo>
                  <a:pt x="150019" y="81599"/>
                  <a:pt x="147727" y="78421"/>
                  <a:pt x="144315" y="77275"/>
                </a:cubicBezTo>
                <a:lnTo>
                  <a:pt x="115145" y="67561"/>
                </a:lnTo>
                <a:cubicBezTo>
                  <a:pt x="113426" y="66988"/>
                  <a:pt x="111576" y="66988"/>
                  <a:pt x="109884" y="67561"/>
                </a:cubicBezTo>
                <a:close/>
              </a:path>
            </a:pathLst>
          </a:custGeom>
          <a:solidFill>
            <a:srgbClr val="00A8E1"/>
          </a:solidFill>
          <a:ln/>
        </p:spPr>
      </p:sp>
      <p:sp>
        <p:nvSpPr>
          <p:cNvPr id="41" name="Text 39"/>
          <p:cNvSpPr/>
          <p:nvPr/>
        </p:nvSpPr>
        <p:spPr>
          <a:xfrm>
            <a:off x="4720828" y="3516395"/>
            <a:ext cx="1019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Amazon Cognito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477941" y="3744995"/>
            <a:ext cx="3295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auth, MFA, JWT tokens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401741" y="4218863"/>
            <a:ext cx="3390900" cy="533400"/>
          </a:xfrm>
          <a:custGeom>
            <a:avLst/>
            <a:gdLst/>
            <a:ahLst/>
            <a:cxnLst/>
            <a:rect l="l" t="t" r="r" b="b"/>
            <a:pathLst>
              <a:path w="3390900" h="533400">
                <a:moveTo>
                  <a:pt x="76202" y="0"/>
                </a:moveTo>
                <a:lnTo>
                  <a:pt x="3314698" y="0"/>
                </a:lnTo>
                <a:cubicBezTo>
                  <a:pt x="3356783" y="0"/>
                  <a:pt x="3390900" y="34117"/>
                  <a:pt x="3390900" y="76202"/>
                </a:cubicBezTo>
                <a:lnTo>
                  <a:pt x="3390900" y="457198"/>
                </a:lnTo>
                <a:cubicBezTo>
                  <a:pt x="3390900" y="499283"/>
                  <a:pt x="3356783" y="533400"/>
                  <a:pt x="33146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32F3E">
              <a:alpha val="6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496991" y="4323638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67873" y="0"/>
                  <a:pt x="69071" y="260"/>
                  <a:pt x="70165" y="755"/>
                </a:cubicBezTo>
                <a:lnTo>
                  <a:pt x="119234" y="21565"/>
                </a:lnTo>
                <a:cubicBezTo>
                  <a:pt x="124964" y="23987"/>
                  <a:pt x="129235" y="29639"/>
                  <a:pt x="129209" y="36463"/>
                </a:cubicBezTo>
                <a:cubicBezTo>
                  <a:pt x="129079" y="62299"/>
                  <a:pt x="118452" y="109571"/>
                  <a:pt x="73577" y="131058"/>
                </a:cubicBezTo>
                <a:cubicBezTo>
                  <a:pt x="69227" y="133142"/>
                  <a:pt x="64175" y="133142"/>
                  <a:pt x="59825" y="131058"/>
                </a:cubicBezTo>
                <a:cubicBezTo>
                  <a:pt x="14924" y="109571"/>
                  <a:pt x="4323" y="62299"/>
                  <a:pt x="4193" y="36463"/>
                </a:cubicBezTo>
                <a:cubicBezTo>
                  <a:pt x="4167" y="29639"/>
                  <a:pt x="8439" y="23987"/>
                  <a:pt x="14168" y="21565"/>
                </a:cubicBezTo>
                <a:lnTo>
                  <a:pt x="63211" y="755"/>
                </a:lnTo>
                <a:cubicBezTo>
                  <a:pt x="64305" y="260"/>
                  <a:pt x="65477" y="0"/>
                  <a:pt x="66675" y="0"/>
                </a:cubicBezTo>
                <a:close/>
                <a:moveTo>
                  <a:pt x="66675" y="17398"/>
                </a:moveTo>
                <a:lnTo>
                  <a:pt x="66675" y="115874"/>
                </a:lnTo>
                <a:cubicBezTo>
                  <a:pt x="102617" y="98476"/>
                  <a:pt x="112280" y="59929"/>
                  <a:pt x="112514" y="36854"/>
                </a:cubicBezTo>
                <a:lnTo>
                  <a:pt x="66675" y="17424"/>
                </a:lnTo>
                <a:lnTo>
                  <a:pt x="66675" y="17424"/>
                </a:lnTo>
                <a:close/>
              </a:path>
            </a:pathLst>
          </a:custGeom>
          <a:solidFill>
            <a:srgbClr val="00A8E1"/>
          </a:solidFill>
          <a:ln/>
        </p:spPr>
      </p:sp>
      <p:sp>
        <p:nvSpPr>
          <p:cNvPr id="45" name="Text 43"/>
          <p:cNvSpPr/>
          <p:nvPr/>
        </p:nvSpPr>
        <p:spPr>
          <a:xfrm>
            <a:off x="4720828" y="4295063"/>
            <a:ext cx="695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AWS WAF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477941" y="4523663"/>
            <a:ext cx="3295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DDoS protection, rate limiting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401741" y="4997532"/>
            <a:ext cx="3390900" cy="533400"/>
          </a:xfrm>
          <a:custGeom>
            <a:avLst/>
            <a:gdLst/>
            <a:ahLst/>
            <a:cxnLst/>
            <a:rect l="l" t="t" r="r" b="b"/>
            <a:pathLst>
              <a:path w="3390900" h="533400">
                <a:moveTo>
                  <a:pt x="76202" y="0"/>
                </a:moveTo>
                <a:lnTo>
                  <a:pt x="3314698" y="0"/>
                </a:lnTo>
                <a:cubicBezTo>
                  <a:pt x="3356783" y="0"/>
                  <a:pt x="3390900" y="34117"/>
                  <a:pt x="3390900" y="76202"/>
                </a:cubicBezTo>
                <a:lnTo>
                  <a:pt x="3390900" y="457198"/>
                </a:lnTo>
                <a:cubicBezTo>
                  <a:pt x="3390900" y="499283"/>
                  <a:pt x="3356783" y="533400"/>
                  <a:pt x="33146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32F3E">
              <a:alpha val="6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4488656" y="5102307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0" y="87511"/>
                </a:moveTo>
                <a:cubicBezTo>
                  <a:pt x="0" y="108217"/>
                  <a:pt x="16799" y="125016"/>
                  <a:pt x="37505" y="125016"/>
                </a:cubicBezTo>
                <a:lnTo>
                  <a:pt x="116681" y="125016"/>
                </a:lnTo>
                <a:cubicBezTo>
                  <a:pt x="135095" y="125016"/>
                  <a:pt x="150019" y="110092"/>
                  <a:pt x="150019" y="91678"/>
                </a:cubicBezTo>
                <a:cubicBezTo>
                  <a:pt x="150019" y="78239"/>
                  <a:pt x="142075" y="66649"/>
                  <a:pt x="130615" y="61388"/>
                </a:cubicBezTo>
                <a:cubicBezTo>
                  <a:pt x="132360" y="57976"/>
                  <a:pt x="133350" y="54095"/>
                  <a:pt x="133350" y="50006"/>
                </a:cubicBezTo>
                <a:cubicBezTo>
                  <a:pt x="133350" y="36202"/>
                  <a:pt x="122151" y="25003"/>
                  <a:pt x="108347" y="25003"/>
                </a:cubicBezTo>
                <a:cubicBezTo>
                  <a:pt x="103737" y="25003"/>
                  <a:pt x="99440" y="26253"/>
                  <a:pt x="95741" y="28415"/>
                </a:cubicBezTo>
                <a:cubicBezTo>
                  <a:pt x="89464" y="16486"/>
                  <a:pt x="76937" y="8334"/>
                  <a:pt x="62508" y="8334"/>
                </a:cubicBezTo>
                <a:cubicBezTo>
                  <a:pt x="41802" y="8334"/>
                  <a:pt x="25003" y="25133"/>
                  <a:pt x="25003" y="45839"/>
                </a:cubicBezTo>
                <a:cubicBezTo>
                  <a:pt x="25003" y="47923"/>
                  <a:pt x="25185" y="49980"/>
                  <a:pt x="25498" y="51960"/>
                </a:cubicBezTo>
                <a:cubicBezTo>
                  <a:pt x="10678" y="56960"/>
                  <a:pt x="0" y="70998"/>
                  <a:pt x="0" y="87511"/>
                </a:cubicBezTo>
                <a:close/>
              </a:path>
            </a:pathLst>
          </a:custGeom>
          <a:solidFill>
            <a:srgbClr val="00A8E1"/>
          </a:solidFill>
          <a:ln/>
        </p:spPr>
      </p:sp>
      <p:sp>
        <p:nvSpPr>
          <p:cNvPr id="49" name="Text 47"/>
          <p:cNvSpPr/>
          <p:nvPr/>
        </p:nvSpPr>
        <p:spPr>
          <a:xfrm>
            <a:off x="4720828" y="5073732"/>
            <a:ext cx="704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CloudFront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477941" y="5302332"/>
            <a:ext cx="3295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CDN, edge caching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106371" y="1261110"/>
            <a:ext cx="3703320" cy="4512945"/>
          </a:xfrm>
          <a:custGeom>
            <a:avLst/>
            <a:gdLst/>
            <a:ahLst/>
            <a:cxnLst/>
            <a:rect l="l" t="t" r="r" b="b"/>
            <a:pathLst>
              <a:path w="3703320" h="4512945">
                <a:moveTo>
                  <a:pt x="152392" y="0"/>
                </a:moveTo>
                <a:lnTo>
                  <a:pt x="3550928" y="0"/>
                </a:lnTo>
                <a:cubicBezTo>
                  <a:pt x="3635092" y="0"/>
                  <a:pt x="3703320" y="68228"/>
                  <a:pt x="3703320" y="152392"/>
                </a:cubicBezTo>
                <a:lnTo>
                  <a:pt x="3703320" y="4360553"/>
                </a:lnTo>
                <a:cubicBezTo>
                  <a:pt x="3703320" y="4444717"/>
                  <a:pt x="3635092" y="4512945"/>
                  <a:pt x="3550928" y="4512945"/>
                </a:cubicBezTo>
                <a:lnTo>
                  <a:pt x="152392" y="4512945"/>
                </a:lnTo>
                <a:cubicBezTo>
                  <a:pt x="68228" y="4512945"/>
                  <a:pt x="0" y="4444717"/>
                  <a:pt x="0" y="4360553"/>
                </a:cubicBezTo>
                <a:lnTo>
                  <a:pt x="0" y="152392"/>
                </a:lnTo>
                <a:cubicBezTo>
                  <a:pt x="0" y="68228"/>
                  <a:pt x="68228" y="0"/>
                  <a:pt x="152392" y="0"/>
                </a:cubicBezTo>
                <a:close/>
              </a:path>
            </a:pathLst>
          </a:custGeom>
          <a:gradFill flip="none" rotWithShape="1">
            <a:gsLst>
              <a:gs pos="0">
                <a:srgbClr val="FF9900">
                  <a:alpha val="20000"/>
                </a:srgbClr>
              </a:gs>
              <a:gs pos="100000">
                <a:srgbClr val="FF9900">
                  <a:alpha val="5000"/>
                </a:srgbClr>
              </a:gs>
            </a:gsLst>
            <a:lin ang="2700000" scaled="1"/>
          </a:gradFill>
          <a:ln w="10160">
            <a:solidFill>
              <a:srgbClr val="FF9900">
                <a:alpha val="4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98299" y="145542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53" name="Text 51"/>
          <p:cNvSpPr/>
          <p:nvPr/>
        </p:nvSpPr>
        <p:spPr>
          <a:xfrm>
            <a:off x="8576906" y="1417323"/>
            <a:ext cx="122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&amp; Storage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262581" y="1882857"/>
            <a:ext cx="3390900" cy="533400"/>
          </a:xfrm>
          <a:custGeom>
            <a:avLst/>
            <a:gdLst/>
            <a:ahLst/>
            <a:cxnLst/>
            <a:rect l="l" t="t" r="r" b="b"/>
            <a:pathLst>
              <a:path w="3390900" h="533400">
                <a:moveTo>
                  <a:pt x="76202" y="0"/>
                </a:moveTo>
                <a:lnTo>
                  <a:pt x="3314698" y="0"/>
                </a:lnTo>
                <a:cubicBezTo>
                  <a:pt x="3356783" y="0"/>
                  <a:pt x="3390900" y="34117"/>
                  <a:pt x="3390900" y="76202"/>
                </a:cubicBezTo>
                <a:lnTo>
                  <a:pt x="3390900" y="457198"/>
                </a:lnTo>
                <a:cubicBezTo>
                  <a:pt x="3390900" y="499283"/>
                  <a:pt x="3356783" y="533400"/>
                  <a:pt x="33146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32F3E">
              <a:alpha val="6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357831" y="1987632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08347" y="54173"/>
                </a:moveTo>
                <a:cubicBezTo>
                  <a:pt x="108347" y="66128"/>
                  <a:pt x="104466" y="77171"/>
                  <a:pt x="97929" y="86131"/>
                </a:cubicBezTo>
                <a:lnTo>
                  <a:pt x="130902" y="119129"/>
                </a:lnTo>
                <a:cubicBezTo>
                  <a:pt x="134157" y="122385"/>
                  <a:pt x="134157" y="127672"/>
                  <a:pt x="130902" y="130928"/>
                </a:cubicBezTo>
                <a:cubicBezTo>
                  <a:pt x="127646" y="134183"/>
                  <a:pt x="122359" y="134183"/>
                  <a:pt x="119103" y="130928"/>
                </a:cubicBezTo>
                <a:lnTo>
                  <a:pt x="86131" y="97929"/>
                </a:lnTo>
                <a:cubicBezTo>
                  <a:pt x="77171" y="104466"/>
                  <a:pt x="66128" y="108347"/>
                  <a:pt x="54173" y="108347"/>
                </a:cubicBezTo>
                <a:cubicBezTo>
                  <a:pt x="24248" y="108347"/>
                  <a:pt x="0" y="84099"/>
                  <a:pt x="0" y="54173"/>
                </a:cubicBezTo>
                <a:cubicBezTo>
                  <a:pt x="0" y="24248"/>
                  <a:pt x="24248" y="0"/>
                  <a:pt x="54173" y="0"/>
                </a:cubicBezTo>
                <a:cubicBezTo>
                  <a:pt x="84099" y="0"/>
                  <a:pt x="108347" y="24248"/>
                  <a:pt x="108347" y="54173"/>
                </a:cubicBezTo>
                <a:close/>
                <a:moveTo>
                  <a:pt x="54173" y="91678"/>
                </a:moveTo>
                <a:cubicBezTo>
                  <a:pt x="74873" y="91678"/>
                  <a:pt x="91678" y="74873"/>
                  <a:pt x="91678" y="54173"/>
                </a:cubicBezTo>
                <a:cubicBezTo>
                  <a:pt x="91678" y="33474"/>
                  <a:pt x="74873" y="16669"/>
                  <a:pt x="54173" y="16669"/>
                </a:cubicBezTo>
                <a:cubicBezTo>
                  <a:pt x="33474" y="16669"/>
                  <a:pt x="16669" y="33474"/>
                  <a:pt x="16669" y="54173"/>
                </a:cubicBezTo>
                <a:cubicBezTo>
                  <a:pt x="16669" y="74873"/>
                  <a:pt x="33474" y="91678"/>
                  <a:pt x="54173" y="91678"/>
                </a:cubicBez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56" name="Text 54"/>
          <p:cNvSpPr/>
          <p:nvPr/>
        </p:nvSpPr>
        <p:spPr>
          <a:xfrm>
            <a:off x="8581668" y="1959057"/>
            <a:ext cx="128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Amazon OpenSearch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338781" y="2187657"/>
            <a:ext cx="3295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Vector DB, semantic search, 1536-dim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262581" y="2661526"/>
            <a:ext cx="3390900" cy="533400"/>
          </a:xfrm>
          <a:custGeom>
            <a:avLst/>
            <a:gdLst/>
            <a:ahLst/>
            <a:cxnLst/>
            <a:rect l="l" t="t" r="r" b="b"/>
            <a:pathLst>
              <a:path w="3390900" h="533400">
                <a:moveTo>
                  <a:pt x="76202" y="0"/>
                </a:moveTo>
                <a:lnTo>
                  <a:pt x="3314698" y="0"/>
                </a:lnTo>
                <a:cubicBezTo>
                  <a:pt x="3356783" y="0"/>
                  <a:pt x="3390900" y="34117"/>
                  <a:pt x="3390900" y="76202"/>
                </a:cubicBezTo>
                <a:lnTo>
                  <a:pt x="3390900" y="457198"/>
                </a:lnTo>
                <a:cubicBezTo>
                  <a:pt x="3390900" y="499283"/>
                  <a:pt x="3356783" y="533400"/>
                  <a:pt x="33146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32F3E">
              <a:alpha val="6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366165" y="2766301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66675" y="41672"/>
                </a:moveTo>
                <a:lnTo>
                  <a:pt x="66675" y="66675"/>
                </a:lnTo>
                <a:lnTo>
                  <a:pt x="100013" y="66675"/>
                </a:lnTo>
                <a:lnTo>
                  <a:pt x="100013" y="41672"/>
                </a:lnTo>
                <a:lnTo>
                  <a:pt x="66675" y="41672"/>
                </a:lnTo>
                <a:close/>
                <a:moveTo>
                  <a:pt x="50006" y="41672"/>
                </a:moveTo>
                <a:lnTo>
                  <a:pt x="16669" y="41672"/>
                </a:lnTo>
                <a:lnTo>
                  <a:pt x="16669" y="66675"/>
                </a:lnTo>
                <a:lnTo>
                  <a:pt x="50006" y="66675"/>
                </a:lnTo>
                <a:lnTo>
                  <a:pt x="50006" y="41672"/>
                </a:lnTo>
                <a:close/>
                <a:moveTo>
                  <a:pt x="0" y="83344"/>
                </a:moveTo>
                <a:lnTo>
                  <a:pt x="0" y="25003"/>
                </a:lnTo>
                <a:cubicBezTo>
                  <a:pt x="0" y="15809"/>
                  <a:pt x="7475" y="8334"/>
                  <a:pt x="16669" y="8334"/>
                </a:cubicBezTo>
                <a:lnTo>
                  <a:pt x="100013" y="8334"/>
                </a:lnTo>
                <a:cubicBezTo>
                  <a:pt x="109206" y="8334"/>
                  <a:pt x="116681" y="15809"/>
                  <a:pt x="116681" y="25003"/>
                </a:cubicBezTo>
                <a:lnTo>
                  <a:pt x="116681" y="108347"/>
                </a:lnTo>
                <a:cubicBezTo>
                  <a:pt x="116681" y="117541"/>
                  <a:pt x="109206" y="125016"/>
                  <a:pt x="100013" y="125016"/>
                </a:cubicBezTo>
                <a:lnTo>
                  <a:pt x="16669" y="125016"/>
                </a:lnTo>
                <a:cubicBezTo>
                  <a:pt x="7475" y="125016"/>
                  <a:pt x="0" y="117541"/>
                  <a:pt x="0" y="108347"/>
                </a:cubicBezTo>
                <a:lnTo>
                  <a:pt x="0" y="83344"/>
                </a:lnTo>
                <a:close/>
                <a:moveTo>
                  <a:pt x="100013" y="83344"/>
                </a:moveTo>
                <a:lnTo>
                  <a:pt x="66675" y="83344"/>
                </a:lnTo>
                <a:lnTo>
                  <a:pt x="66675" y="108347"/>
                </a:lnTo>
                <a:lnTo>
                  <a:pt x="100013" y="108347"/>
                </a:lnTo>
                <a:lnTo>
                  <a:pt x="100013" y="83344"/>
                </a:lnTo>
                <a:close/>
                <a:moveTo>
                  <a:pt x="50006" y="108347"/>
                </a:moveTo>
                <a:lnTo>
                  <a:pt x="50006" y="83344"/>
                </a:lnTo>
                <a:lnTo>
                  <a:pt x="16669" y="83344"/>
                </a:lnTo>
                <a:lnTo>
                  <a:pt x="16669" y="108347"/>
                </a:lnTo>
                <a:lnTo>
                  <a:pt x="50006" y="108347"/>
                </a:ln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60" name="Text 58"/>
          <p:cNvSpPr/>
          <p:nvPr/>
        </p:nvSpPr>
        <p:spPr>
          <a:xfrm>
            <a:off x="8581668" y="2737726"/>
            <a:ext cx="122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Amazon DynamoDB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338781" y="2966326"/>
            <a:ext cx="3295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NoSQL, users, chat history, applications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262581" y="3440195"/>
            <a:ext cx="3390900" cy="533400"/>
          </a:xfrm>
          <a:custGeom>
            <a:avLst/>
            <a:gdLst/>
            <a:ahLst/>
            <a:cxnLst/>
            <a:rect l="l" t="t" r="r" b="b"/>
            <a:pathLst>
              <a:path w="3390900" h="533400">
                <a:moveTo>
                  <a:pt x="76202" y="0"/>
                </a:moveTo>
                <a:lnTo>
                  <a:pt x="3314698" y="0"/>
                </a:lnTo>
                <a:cubicBezTo>
                  <a:pt x="3356783" y="0"/>
                  <a:pt x="3390900" y="34117"/>
                  <a:pt x="3390900" y="76202"/>
                </a:cubicBezTo>
                <a:lnTo>
                  <a:pt x="3390900" y="457198"/>
                </a:lnTo>
                <a:cubicBezTo>
                  <a:pt x="3390900" y="499283"/>
                  <a:pt x="3356783" y="533400"/>
                  <a:pt x="33146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32F3E">
              <a:alpha val="60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366165" y="354497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6681" y="53600"/>
                </a:moveTo>
                <a:cubicBezTo>
                  <a:pt x="112827" y="56153"/>
                  <a:pt x="108399" y="58210"/>
                  <a:pt x="103789" y="59851"/>
                </a:cubicBezTo>
                <a:cubicBezTo>
                  <a:pt x="91548" y="64227"/>
                  <a:pt x="75478" y="66675"/>
                  <a:pt x="58341" y="66675"/>
                </a:cubicBezTo>
                <a:cubicBezTo>
                  <a:pt x="41203" y="66675"/>
                  <a:pt x="25107" y="64201"/>
                  <a:pt x="12892" y="59851"/>
                </a:cubicBezTo>
                <a:cubicBezTo>
                  <a:pt x="8308" y="58210"/>
                  <a:pt x="3855" y="56153"/>
                  <a:pt x="0" y="53600"/>
                </a:cubicBezTo>
                <a:lnTo>
                  <a:pt x="0" y="75009"/>
                </a:lnTo>
                <a:cubicBezTo>
                  <a:pt x="0" y="86521"/>
                  <a:pt x="26123" y="95845"/>
                  <a:pt x="58341" y="95845"/>
                </a:cubicBezTo>
                <a:cubicBezTo>
                  <a:pt x="90558" y="95845"/>
                  <a:pt x="116681" y="86521"/>
                  <a:pt x="116681" y="75009"/>
                </a:cubicBezTo>
                <a:lnTo>
                  <a:pt x="116681" y="53600"/>
                </a:lnTo>
                <a:close/>
                <a:moveTo>
                  <a:pt x="116681" y="33337"/>
                </a:moveTo>
                <a:lnTo>
                  <a:pt x="116681" y="20836"/>
                </a:lnTo>
                <a:cubicBezTo>
                  <a:pt x="116681" y="9324"/>
                  <a:pt x="90558" y="0"/>
                  <a:pt x="58341" y="0"/>
                </a:cubicBezTo>
                <a:cubicBezTo>
                  <a:pt x="26123" y="0"/>
                  <a:pt x="0" y="9324"/>
                  <a:pt x="0" y="20836"/>
                </a:cubicBezTo>
                <a:lnTo>
                  <a:pt x="0" y="33337"/>
                </a:lnTo>
                <a:cubicBezTo>
                  <a:pt x="0" y="44849"/>
                  <a:pt x="26123" y="54173"/>
                  <a:pt x="58341" y="54173"/>
                </a:cubicBezTo>
                <a:cubicBezTo>
                  <a:pt x="90558" y="54173"/>
                  <a:pt x="116681" y="44849"/>
                  <a:pt x="116681" y="33337"/>
                </a:cubicBezTo>
                <a:close/>
                <a:moveTo>
                  <a:pt x="103789" y="101523"/>
                </a:moveTo>
                <a:cubicBezTo>
                  <a:pt x="91574" y="105873"/>
                  <a:pt x="75504" y="108347"/>
                  <a:pt x="58341" y="108347"/>
                </a:cubicBezTo>
                <a:cubicBezTo>
                  <a:pt x="41177" y="108347"/>
                  <a:pt x="25107" y="105873"/>
                  <a:pt x="12892" y="101523"/>
                </a:cubicBezTo>
                <a:cubicBezTo>
                  <a:pt x="8308" y="99882"/>
                  <a:pt x="3855" y="97825"/>
                  <a:pt x="0" y="95272"/>
                </a:cubicBezTo>
                <a:lnTo>
                  <a:pt x="0" y="112514"/>
                </a:lnTo>
                <a:cubicBezTo>
                  <a:pt x="0" y="124026"/>
                  <a:pt x="26123" y="133350"/>
                  <a:pt x="58341" y="133350"/>
                </a:cubicBezTo>
                <a:cubicBezTo>
                  <a:pt x="90558" y="133350"/>
                  <a:pt x="116681" y="124026"/>
                  <a:pt x="116681" y="112514"/>
                </a:cubicBezTo>
                <a:lnTo>
                  <a:pt x="116681" y="95272"/>
                </a:lnTo>
                <a:cubicBezTo>
                  <a:pt x="112827" y="97825"/>
                  <a:pt x="108399" y="99882"/>
                  <a:pt x="103789" y="101523"/>
                </a:cubicBez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64" name="Text 62"/>
          <p:cNvSpPr/>
          <p:nvPr/>
        </p:nvSpPr>
        <p:spPr>
          <a:xfrm>
            <a:off x="8581668" y="3516395"/>
            <a:ext cx="819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Amazon RDS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338781" y="3744995"/>
            <a:ext cx="3295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PostgreSQL, scheme metadata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262581" y="4218863"/>
            <a:ext cx="3390900" cy="533400"/>
          </a:xfrm>
          <a:custGeom>
            <a:avLst/>
            <a:gdLst/>
            <a:ahLst/>
            <a:cxnLst/>
            <a:rect l="l" t="t" r="r" b="b"/>
            <a:pathLst>
              <a:path w="3390900" h="533400">
                <a:moveTo>
                  <a:pt x="76202" y="0"/>
                </a:moveTo>
                <a:lnTo>
                  <a:pt x="3314698" y="0"/>
                </a:lnTo>
                <a:cubicBezTo>
                  <a:pt x="3356783" y="0"/>
                  <a:pt x="3390900" y="34117"/>
                  <a:pt x="3390900" y="76202"/>
                </a:cubicBezTo>
                <a:lnTo>
                  <a:pt x="3390900" y="457198"/>
                </a:lnTo>
                <a:cubicBezTo>
                  <a:pt x="3390900" y="499283"/>
                  <a:pt x="3356783" y="533400"/>
                  <a:pt x="33146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32F3E">
              <a:alpha val="60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366165" y="432363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6669" y="8334"/>
                </a:moveTo>
                <a:cubicBezTo>
                  <a:pt x="7475" y="8334"/>
                  <a:pt x="0" y="15809"/>
                  <a:pt x="0" y="25003"/>
                </a:cubicBezTo>
                <a:lnTo>
                  <a:pt x="0" y="67743"/>
                </a:lnTo>
                <a:cubicBezTo>
                  <a:pt x="4714" y="64435"/>
                  <a:pt x="10470" y="62508"/>
                  <a:pt x="16669" y="62508"/>
                </a:cubicBezTo>
                <a:lnTo>
                  <a:pt x="100013" y="62508"/>
                </a:lnTo>
                <a:cubicBezTo>
                  <a:pt x="106211" y="62508"/>
                  <a:pt x="111967" y="64435"/>
                  <a:pt x="116681" y="67743"/>
                </a:cubicBezTo>
                <a:lnTo>
                  <a:pt x="116681" y="25003"/>
                </a:lnTo>
                <a:cubicBezTo>
                  <a:pt x="116681" y="15809"/>
                  <a:pt x="109206" y="8334"/>
                  <a:pt x="100013" y="8334"/>
                </a:cubicBezTo>
                <a:lnTo>
                  <a:pt x="16669" y="8334"/>
                </a:lnTo>
                <a:close/>
                <a:moveTo>
                  <a:pt x="116681" y="91678"/>
                </a:moveTo>
                <a:cubicBezTo>
                  <a:pt x="116681" y="82484"/>
                  <a:pt x="109206" y="75009"/>
                  <a:pt x="100013" y="75009"/>
                </a:cubicBezTo>
                <a:lnTo>
                  <a:pt x="16669" y="75009"/>
                </a:lnTo>
                <a:cubicBezTo>
                  <a:pt x="7475" y="75009"/>
                  <a:pt x="0" y="82484"/>
                  <a:pt x="0" y="91678"/>
                </a:cubicBezTo>
                <a:lnTo>
                  <a:pt x="0" y="108347"/>
                </a:lnTo>
                <a:cubicBezTo>
                  <a:pt x="0" y="117541"/>
                  <a:pt x="7475" y="125016"/>
                  <a:pt x="16669" y="125016"/>
                </a:cubicBezTo>
                <a:lnTo>
                  <a:pt x="100013" y="125016"/>
                </a:lnTo>
                <a:cubicBezTo>
                  <a:pt x="109206" y="125016"/>
                  <a:pt x="116681" y="117541"/>
                  <a:pt x="116681" y="108347"/>
                </a:cubicBezTo>
                <a:lnTo>
                  <a:pt x="116681" y="91678"/>
                </a:lnTo>
                <a:close/>
                <a:moveTo>
                  <a:pt x="58341" y="100013"/>
                </a:moveTo>
                <a:cubicBezTo>
                  <a:pt x="58341" y="95413"/>
                  <a:pt x="62075" y="91678"/>
                  <a:pt x="66675" y="91678"/>
                </a:cubicBezTo>
                <a:cubicBezTo>
                  <a:pt x="71275" y="91678"/>
                  <a:pt x="75009" y="95413"/>
                  <a:pt x="75009" y="100013"/>
                </a:cubicBezTo>
                <a:cubicBezTo>
                  <a:pt x="75009" y="104612"/>
                  <a:pt x="71275" y="108347"/>
                  <a:pt x="66675" y="108347"/>
                </a:cubicBezTo>
                <a:cubicBezTo>
                  <a:pt x="62075" y="108347"/>
                  <a:pt x="58341" y="104612"/>
                  <a:pt x="58341" y="100013"/>
                </a:cubicBezTo>
                <a:close/>
                <a:moveTo>
                  <a:pt x="91678" y="91678"/>
                </a:moveTo>
                <a:cubicBezTo>
                  <a:pt x="96278" y="91678"/>
                  <a:pt x="100013" y="95413"/>
                  <a:pt x="100013" y="100013"/>
                </a:cubicBezTo>
                <a:cubicBezTo>
                  <a:pt x="100013" y="104612"/>
                  <a:pt x="96278" y="108347"/>
                  <a:pt x="91678" y="108347"/>
                </a:cubicBezTo>
                <a:cubicBezTo>
                  <a:pt x="87078" y="108347"/>
                  <a:pt x="83344" y="104612"/>
                  <a:pt x="83344" y="100013"/>
                </a:cubicBezTo>
                <a:cubicBezTo>
                  <a:pt x="83344" y="95413"/>
                  <a:pt x="87078" y="91678"/>
                  <a:pt x="91678" y="91678"/>
                </a:cubicBez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68" name="Text 66"/>
          <p:cNvSpPr/>
          <p:nvPr/>
        </p:nvSpPr>
        <p:spPr>
          <a:xfrm>
            <a:off x="8581668" y="4295063"/>
            <a:ext cx="714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Amazon S3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8338781" y="4523663"/>
            <a:ext cx="3295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 storage, static assets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8262581" y="4997532"/>
            <a:ext cx="3390900" cy="533400"/>
          </a:xfrm>
          <a:custGeom>
            <a:avLst/>
            <a:gdLst/>
            <a:ahLst/>
            <a:cxnLst/>
            <a:rect l="l" t="t" r="r" b="b"/>
            <a:pathLst>
              <a:path w="3390900" h="533400">
                <a:moveTo>
                  <a:pt x="76202" y="0"/>
                </a:moveTo>
                <a:lnTo>
                  <a:pt x="3314698" y="0"/>
                </a:lnTo>
                <a:cubicBezTo>
                  <a:pt x="3356783" y="0"/>
                  <a:pt x="3390900" y="34117"/>
                  <a:pt x="3390900" y="76202"/>
                </a:cubicBezTo>
                <a:lnTo>
                  <a:pt x="3390900" y="457198"/>
                </a:lnTo>
                <a:cubicBezTo>
                  <a:pt x="3390900" y="499283"/>
                  <a:pt x="3356783" y="533400"/>
                  <a:pt x="33146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32F3E">
              <a:alpha val="60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8366165" y="5102307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88240" y="-2578"/>
                </a:moveTo>
                <a:cubicBezTo>
                  <a:pt x="91340" y="-339"/>
                  <a:pt x="92486" y="3724"/>
                  <a:pt x="91079" y="7267"/>
                </a:cubicBezTo>
                <a:lnTo>
                  <a:pt x="70660" y="58341"/>
                </a:lnTo>
                <a:lnTo>
                  <a:pt x="108347" y="58341"/>
                </a:lnTo>
                <a:cubicBezTo>
                  <a:pt x="111863" y="58341"/>
                  <a:pt x="114988" y="60528"/>
                  <a:pt x="116186" y="63836"/>
                </a:cubicBezTo>
                <a:cubicBezTo>
                  <a:pt x="117384" y="67144"/>
                  <a:pt x="116369" y="70842"/>
                  <a:pt x="113686" y="73082"/>
                </a:cubicBezTo>
                <a:lnTo>
                  <a:pt x="38677" y="135590"/>
                </a:lnTo>
                <a:cubicBezTo>
                  <a:pt x="35734" y="138038"/>
                  <a:pt x="31540" y="138168"/>
                  <a:pt x="28441" y="135928"/>
                </a:cubicBezTo>
                <a:cubicBezTo>
                  <a:pt x="25342" y="133689"/>
                  <a:pt x="24196" y="129626"/>
                  <a:pt x="25602" y="126083"/>
                </a:cubicBezTo>
                <a:lnTo>
                  <a:pt x="46021" y="75009"/>
                </a:lnTo>
                <a:lnTo>
                  <a:pt x="8334" y="75009"/>
                </a:lnTo>
                <a:cubicBezTo>
                  <a:pt x="4818" y="75009"/>
                  <a:pt x="1693" y="72822"/>
                  <a:pt x="495" y="69514"/>
                </a:cubicBezTo>
                <a:cubicBezTo>
                  <a:pt x="-703" y="66206"/>
                  <a:pt x="313" y="62508"/>
                  <a:pt x="2995" y="60268"/>
                </a:cubicBezTo>
                <a:lnTo>
                  <a:pt x="78005" y="-2240"/>
                </a:lnTo>
                <a:cubicBezTo>
                  <a:pt x="80948" y="-4688"/>
                  <a:pt x="85141" y="-4818"/>
                  <a:pt x="88240" y="-2578"/>
                </a:cubicBez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72" name="Text 70"/>
          <p:cNvSpPr/>
          <p:nvPr/>
        </p:nvSpPr>
        <p:spPr>
          <a:xfrm>
            <a:off x="8581668" y="5073732"/>
            <a:ext cx="723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ElastiCache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8338781" y="5302332"/>
            <a:ext cx="3295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Redis caching, session store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384810" y="5932169"/>
            <a:ext cx="11418570" cy="541020"/>
          </a:xfrm>
          <a:custGeom>
            <a:avLst/>
            <a:gdLst/>
            <a:ahLst/>
            <a:cxnLst/>
            <a:rect l="l" t="t" r="r" b="b"/>
            <a:pathLst>
              <a:path w="11418570" h="541020">
                <a:moveTo>
                  <a:pt x="114301" y="0"/>
                </a:moveTo>
                <a:lnTo>
                  <a:pt x="11304269" y="0"/>
                </a:lnTo>
                <a:cubicBezTo>
                  <a:pt x="11367396" y="0"/>
                  <a:pt x="11418570" y="51174"/>
                  <a:pt x="11418570" y="114301"/>
                </a:cubicBezTo>
                <a:lnTo>
                  <a:pt x="11418570" y="426719"/>
                </a:lnTo>
                <a:cubicBezTo>
                  <a:pt x="11418570" y="489846"/>
                  <a:pt x="11367396" y="541020"/>
                  <a:pt x="11304269" y="541020"/>
                </a:cubicBezTo>
                <a:lnTo>
                  <a:pt x="114301" y="541020"/>
                </a:lnTo>
                <a:cubicBezTo>
                  <a:pt x="51174" y="541020"/>
                  <a:pt x="0" y="489846"/>
                  <a:pt x="0" y="42671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gradFill flip="none" rotWithShape="1">
            <a:gsLst>
              <a:gs pos="0">
                <a:srgbClr val="FF9900">
                  <a:alpha val="20000"/>
                </a:srgbClr>
              </a:gs>
              <a:gs pos="50000">
                <a:srgbClr val="00A8E1">
                  <a:alpha val="20000"/>
                </a:srgbClr>
              </a:gs>
              <a:gs pos="100000">
                <a:srgbClr val="FF9900">
                  <a:alpha val="20000"/>
                </a:srgbClr>
              </a:gs>
            </a:gsLst>
            <a:lin ang="0" scaled="1"/>
          </a:gradFill>
          <a:ln w="10160">
            <a:solidFill>
              <a:srgbClr val="FF9900">
                <a:alpha val="4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324219" y="610743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76" name="Text 74"/>
          <p:cNvSpPr/>
          <p:nvPr/>
        </p:nvSpPr>
        <p:spPr>
          <a:xfrm>
            <a:off x="2614732" y="608838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CloudWatch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3528774" y="6107432"/>
            <a:ext cx="1390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 Monitoring &amp; Logging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5160288" y="6088382"/>
            <a:ext cx="9525" cy="228600"/>
          </a:xfrm>
          <a:custGeom>
            <a:avLst/>
            <a:gdLst/>
            <a:ahLst/>
            <a:cxnLst/>
            <a:rect l="l" t="t" r="r" b="b"/>
            <a:pathLst>
              <a:path w="9525" h="228600">
                <a:moveTo>
                  <a:pt x="0" y="0"/>
                </a:moveTo>
                <a:lnTo>
                  <a:pt x="9525" y="0"/>
                </a:lnTo>
                <a:lnTo>
                  <a:pt x="952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F0F2F5">
              <a:alpha val="30196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5498425" y="610743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25016" y="130969"/>
                </a:moveTo>
                <a:cubicBezTo>
                  <a:pt x="161181" y="130969"/>
                  <a:pt x="190500" y="101650"/>
                  <a:pt x="190500" y="65484"/>
                </a:cubicBezTo>
                <a:cubicBezTo>
                  <a:pt x="190500" y="29319"/>
                  <a:pt x="161181" y="0"/>
                  <a:pt x="125016" y="0"/>
                </a:cubicBezTo>
                <a:cubicBezTo>
                  <a:pt x="88850" y="0"/>
                  <a:pt x="59531" y="29319"/>
                  <a:pt x="59531" y="65484"/>
                </a:cubicBezTo>
                <a:cubicBezTo>
                  <a:pt x="59531" y="72442"/>
                  <a:pt x="60610" y="79177"/>
                  <a:pt x="62619" y="85465"/>
                </a:cubicBezTo>
                <a:lnTo>
                  <a:pt x="2604" y="145479"/>
                </a:lnTo>
                <a:cubicBezTo>
                  <a:pt x="930" y="147154"/>
                  <a:pt x="0" y="149423"/>
                  <a:pt x="0" y="151805"/>
                </a:cubicBezTo>
                <a:lnTo>
                  <a:pt x="0" y="181570"/>
                </a:lnTo>
                <a:cubicBezTo>
                  <a:pt x="0" y="186519"/>
                  <a:pt x="3981" y="190500"/>
                  <a:pt x="8930" y="190500"/>
                </a:cubicBezTo>
                <a:lnTo>
                  <a:pt x="38695" y="190500"/>
                </a:lnTo>
                <a:cubicBezTo>
                  <a:pt x="43644" y="190500"/>
                  <a:pt x="47625" y="186519"/>
                  <a:pt x="47625" y="181570"/>
                </a:cubicBezTo>
                <a:lnTo>
                  <a:pt x="47625" y="166688"/>
                </a:lnTo>
                <a:lnTo>
                  <a:pt x="62508" y="166688"/>
                </a:lnTo>
                <a:cubicBezTo>
                  <a:pt x="67456" y="166688"/>
                  <a:pt x="71438" y="162706"/>
                  <a:pt x="71438" y="157758"/>
                </a:cubicBezTo>
                <a:lnTo>
                  <a:pt x="71438" y="142875"/>
                </a:lnTo>
                <a:lnTo>
                  <a:pt x="86320" y="142875"/>
                </a:lnTo>
                <a:cubicBezTo>
                  <a:pt x="88702" y="142875"/>
                  <a:pt x="90971" y="141945"/>
                  <a:pt x="92646" y="140271"/>
                </a:cubicBezTo>
                <a:lnTo>
                  <a:pt x="105035" y="127881"/>
                </a:lnTo>
                <a:cubicBezTo>
                  <a:pt x="111323" y="129890"/>
                  <a:pt x="118058" y="130969"/>
                  <a:pt x="125016" y="130969"/>
                </a:cubicBezTo>
                <a:close/>
                <a:moveTo>
                  <a:pt x="139898" y="35719"/>
                </a:moveTo>
                <a:cubicBezTo>
                  <a:pt x="148112" y="35719"/>
                  <a:pt x="154781" y="42388"/>
                  <a:pt x="154781" y="50602"/>
                </a:cubicBezTo>
                <a:cubicBezTo>
                  <a:pt x="154781" y="58816"/>
                  <a:pt x="148112" y="65484"/>
                  <a:pt x="139898" y="65484"/>
                </a:cubicBezTo>
                <a:cubicBezTo>
                  <a:pt x="131684" y="65484"/>
                  <a:pt x="125016" y="58816"/>
                  <a:pt x="125016" y="50602"/>
                </a:cubicBezTo>
                <a:cubicBezTo>
                  <a:pt x="125016" y="42388"/>
                  <a:pt x="131684" y="35719"/>
                  <a:pt x="139898" y="35719"/>
                </a:cubicBezTo>
                <a:close/>
              </a:path>
            </a:pathLst>
          </a:custGeom>
          <a:solidFill>
            <a:srgbClr val="00A8E1"/>
          </a:solidFill>
          <a:ln/>
        </p:spPr>
      </p:sp>
      <p:sp>
        <p:nvSpPr>
          <p:cNvPr id="80" name="Text 78"/>
          <p:cNvSpPr/>
          <p:nvPr/>
        </p:nvSpPr>
        <p:spPr>
          <a:xfrm>
            <a:off x="5788938" y="6088382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AWS KMS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6552724" y="6107432"/>
            <a:ext cx="790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 Encryption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7576900" y="6088382"/>
            <a:ext cx="9525" cy="228600"/>
          </a:xfrm>
          <a:custGeom>
            <a:avLst/>
            <a:gdLst/>
            <a:ahLst/>
            <a:cxnLst/>
            <a:rect l="l" t="t" r="r" b="b"/>
            <a:pathLst>
              <a:path w="9525" h="228600">
                <a:moveTo>
                  <a:pt x="0" y="0"/>
                </a:moveTo>
                <a:lnTo>
                  <a:pt x="9525" y="0"/>
                </a:lnTo>
                <a:lnTo>
                  <a:pt x="952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F0F2F5">
              <a:alpha val="30196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7915037" y="610743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84" name="Text 82"/>
          <p:cNvSpPr/>
          <p:nvPr/>
        </p:nvSpPr>
        <p:spPr>
          <a:xfrm>
            <a:off x="8205550" y="6088382"/>
            <a:ext cx="495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X-Ray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8700016" y="6107432"/>
            <a:ext cx="1257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 Distributed Tracing</a:t>
            </a:r>
            <a:endParaRPr lang="en-US" sz="1600" dirty="0"/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87D613C2-75ED-CDD9-F2A9-310C5FAB96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" y="-26741"/>
            <a:ext cx="12192000" cy="66300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zapnito.com/d451b3ab9c3324cb3101c0f400ec78e38be78c68.png"/>
          <p:cNvPicPr>
            <a:picLocks noChangeAspect="1"/>
          </p:cNvPicPr>
          <p:nvPr/>
        </p:nvPicPr>
        <p:blipFill>
          <a:blip r:embed="rId3">
            <a:alphaModFix amt="20000"/>
          </a:blip>
          <a:srcRect t="493" b="49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-58947"/>
            <a:ext cx="122682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F1419">
                  <a:alpha val="95000"/>
                </a:srgbClr>
              </a:gs>
              <a:gs pos="50000">
                <a:srgbClr val="232F3E">
                  <a:alpha val="90000"/>
                </a:srgbClr>
              </a:gs>
              <a:gs pos="100000">
                <a:srgbClr val="0F1419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533400" y="902970"/>
            <a:ext cx="277177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 &amp; Metrics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33400" y="1360170"/>
            <a:ext cx="11363325" cy="33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Projected performance and societal impact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4810" y="1758314"/>
            <a:ext cx="3303270" cy="2025015"/>
          </a:xfrm>
          <a:custGeom>
            <a:avLst/>
            <a:gdLst/>
            <a:ahLst/>
            <a:cxnLst/>
            <a:rect l="l" t="t" r="r" b="b"/>
            <a:pathLst>
              <a:path w="3303270" h="2522220">
                <a:moveTo>
                  <a:pt x="152393" y="0"/>
                </a:moveTo>
                <a:lnTo>
                  <a:pt x="3150877" y="0"/>
                </a:lnTo>
                <a:cubicBezTo>
                  <a:pt x="3235042" y="0"/>
                  <a:pt x="3303270" y="68228"/>
                  <a:pt x="3303270" y="152393"/>
                </a:cubicBezTo>
                <a:lnTo>
                  <a:pt x="3303270" y="2369827"/>
                </a:lnTo>
                <a:cubicBezTo>
                  <a:pt x="3303270" y="2453992"/>
                  <a:pt x="3235042" y="2522220"/>
                  <a:pt x="3150877" y="2522220"/>
                </a:cubicBezTo>
                <a:lnTo>
                  <a:pt x="152393" y="2522220"/>
                </a:lnTo>
                <a:cubicBezTo>
                  <a:pt x="68228" y="2522220"/>
                  <a:pt x="0" y="2453992"/>
                  <a:pt x="0" y="2369827"/>
                </a:cubicBezTo>
                <a:lnTo>
                  <a:pt x="0" y="152393"/>
                </a:lnTo>
                <a:cubicBezTo>
                  <a:pt x="0" y="68228"/>
                  <a:pt x="68228" y="0"/>
                  <a:pt x="152393" y="0"/>
                </a:cubicBezTo>
                <a:close/>
              </a:path>
            </a:pathLst>
          </a:custGeom>
          <a:gradFill flip="none" rotWithShape="1">
            <a:gsLst>
              <a:gs pos="0">
                <a:srgbClr val="FF9900">
                  <a:alpha val="20000"/>
                </a:srgbClr>
              </a:gs>
              <a:gs pos="100000">
                <a:srgbClr val="FF9900">
                  <a:alpha val="5000"/>
                </a:srgbClr>
              </a:gs>
            </a:gsLst>
            <a:lin ang="2700000" scaled="1"/>
          </a:gradFill>
          <a:ln w="10160">
            <a:solidFill>
              <a:srgbClr val="FF9900">
                <a:alpha val="4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9120" y="18192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9900">
              <a:alpha val="30196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88658" y="195262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10" name="Text 7"/>
          <p:cNvSpPr/>
          <p:nvPr/>
        </p:nvSpPr>
        <p:spPr>
          <a:xfrm>
            <a:off x="1150620" y="1914525"/>
            <a:ext cx="140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Concurrent Users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79120" y="2390775"/>
            <a:ext cx="3086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99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10,000+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79120" y="2847975"/>
            <a:ext cx="29813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Serverless auto-scaling handles traffic spikes seamlessly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844290" y="1758314"/>
            <a:ext cx="3303270" cy="2025015"/>
          </a:xfrm>
          <a:custGeom>
            <a:avLst/>
            <a:gdLst/>
            <a:ahLst/>
            <a:cxnLst/>
            <a:rect l="l" t="t" r="r" b="b"/>
            <a:pathLst>
              <a:path w="3303270" h="2522220">
                <a:moveTo>
                  <a:pt x="152393" y="0"/>
                </a:moveTo>
                <a:lnTo>
                  <a:pt x="3150877" y="0"/>
                </a:lnTo>
                <a:cubicBezTo>
                  <a:pt x="3235042" y="0"/>
                  <a:pt x="3303270" y="68228"/>
                  <a:pt x="3303270" y="152393"/>
                </a:cubicBezTo>
                <a:lnTo>
                  <a:pt x="3303270" y="2369827"/>
                </a:lnTo>
                <a:cubicBezTo>
                  <a:pt x="3303270" y="2453992"/>
                  <a:pt x="3235042" y="2522220"/>
                  <a:pt x="3150877" y="2522220"/>
                </a:cubicBezTo>
                <a:lnTo>
                  <a:pt x="152393" y="2522220"/>
                </a:lnTo>
                <a:cubicBezTo>
                  <a:pt x="68228" y="2522220"/>
                  <a:pt x="0" y="2453992"/>
                  <a:pt x="0" y="2369827"/>
                </a:cubicBezTo>
                <a:lnTo>
                  <a:pt x="0" y="152393"/>
                </a:lnTo>
                <a:cubicBezTo>
                  <a:pt x="0" y="68228"/>
                  <a:pt x="68228" y="0"/>
                  <a:pt x="152393" y="0"/>
                </a:cubicBezTo>
                <a:close/>
              </a:path>
            </a:pathLst>
          </a:custGeom>
          <a:gradFill flip="none" rotWithShape="1">
            <a:gsLst>
              <a:gs pos="0">
                <a:srgbClr val="00A8E1">
                  <a:alpha val="20000"/>
                </a:srgbClr>
              </a:gs>
              <a:gs pos="100000">
                <a:srgbClr val="00A8E1">
                  <a:alpha val="5000"/>
                </a:srgbClr>
              </a:gs>
            </a:gsLst>
            <a:lin ang="2700000" scaled="1"/>
          </a:gradFill>
          <a:ln w="10160">
            <a:solidFill>
              <a:srgbClr val="00A8E1">
                <a:alpha val="4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038600" y="18192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A8E1">
              <a:alpha val="30196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4183856" y="19526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00A8E1"/>
          </a:solidFill>
          <a:ln/>
        </p:spPr>
      </p:sp>
      <p:sp>
        <p:nvSpPr>
          <p:cNvPr id="16" name="Text 13"/>
          <p:cNvSpPr/>
          <p:nvPr/>
        </p:nvSpPr>
        <p:spPr>
          <a:xfrm>
            <a:off x="4610100" y="1914525"/>
            <a:ext cx="124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Response Time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038600" y="2390775"/>
            <a:ext cx="3086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0A8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&lt;3 sec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038600" y="2847975"/>
            <a:ext cx="29813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95% of chatbot queries answered within 3 seconds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84810" y="3947160"/>
            <a:ext cx="3303270" cy="2522220"/>
          </a:xfrm>
          <a:custGeom>
            <a:avLst/>
            <a:gdLst/>
            <a:ahLst/>
            <a:cxnLst/>
            <a:rect l="l" t="t" r="r" b="b"/>
            <a:pathLst>
              <a:path w="3303270" h="2522220">
                <a:moveTo>
                  <a:pt x="152393" y="0"/>
                </a:moveTo>
                <a:lnTo>
                  <a:pt x="3150877" y="0"/>
                </a:lnTo>
                <a:cubicBezTo>
                  <a:pt x="3235042" y="0"/>
                  <a:pt x="3303270" y="68228"/>
                  <a:pt x="3303270" y="152393"/>
                </a:cubicBezTo>
                <a:lnTo>
                  <a:pt x="3303270" y="2369827"/>
                </a:lnTo>
                <a:cubicBezTo>
                  <a:pt x="3303270" y="2453992"/>
                  <a:pt x="3235042" y="2522220"/>
                  <a:pt x="3150877" y="2522220"/>
                </a:cubicBezTo>
                <a:lnTo>
                  <a:pt x="152393" y="2522220"/>
                </a:lnTo>
                <a:cubicBezTo>
                  <a:pt x="68228" y="2522220"/>
                  <a:pt x="0" y="2453992"/>
                  <a:pt x="0" y="2369827"/>
                </a:cubicBezTo>
                <a:lnTo>
                  <a:pt x="0" y="152393"/>
                </a:lnTo>
                <a:cubicBezTo>
                  <a:pt x="0" y="68228"/>
                  <a:pt x="68228" y="0"/>
                  <a:pt x="152393" y="0"/>
                </a:cubicBezTo>
                <a:close/>
              </a:path>
            </a:pathLst>
          </a:custGeom>
          <a:gradFill flip="none" rotWithShape="1">
            <a:gsLst>
              <a:gs pos="0">
                <a:srgbClr val="FF9900">
                  <a:alpha val="20000"/>
                </a:srgbClr>
              </a:gs>
              <a:gs pos="100000">
                <a:srgbClr val="FF9900">
                  <a:alpha val="5000"/>
                </a:srgbClr>
              </a:gs>
            </a:gsLst>
            <a:lin ang="2700000" scaled="1"/>
          </a:gradFill>
          <a:ln w="10160">
            <a:solidFill>
              <a:srgbClr val="FF9900">
                <a:alpha val="40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79120" y="45053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9900">
              <a:alpha val="30196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712470" y="46386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22" name="Text 19"/>
          <p:cNvSpPr/>
          <p:nvPr/>
        </p:nvSpPr>
        <p:spPr>
          <a:xfrm>
            <a:off x="1150620" y="4600575"/>
            <a:ext cx="155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Matching Accuracy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79120" y="5076825"/>
            <a:ext cx="3086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99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95%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79120" y="5534025"/>
            <a:ext cx="29813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Eligibility scoring accuracy with AI-driven criteria evaluation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3844290" y="3947160"/>
            <a:ext cx="3303270" cy="2522220"/>
          </a:xfrm>
          <a:custGeom>
            <a:avLst/>
            <a:gdLst/>
            <a:ahLst/>
            <a:cxnLst/>
            <a:rect l="l" t="t" r="r" b="b"/>
            <a:pathLst>
              <a:path w="3303270" h="2522220">
                <a:moveTo>
                  <a:pt x="152393" y="0"/>
                </a:moveTo>
                <a:lnTo>
                  <a:pt x="3150877" y="0"/>
                </a:lnTo>
                <a:cubicBezTo>
                  <a:pt x="3235042" y="0"/>
                  <a:pt x="3303270" y="68228"/>
                  <a:pt x="3303270" y="152393"/>
                </a:cubicBezTo>
                <a:lnTo>
                  <a:pt x="3303270" y="2369827"/>
                </a:lnTo>
                <a:cubicBezTo>
                  <a:pt x="3303270" y="2453992"/>
                  <a:pt x="3235042" y="2522220"/>
                  <a:pt x="3150877" y="2522220"/>
                </a:cubicBezTo>
                <a:lnTo>
                  <a:pt x="152393" y="2522220"/>
                </a:lnTo>
                <a:cubicBezTo>
                  <a:pt x="68228" y="2522220"/>
                  <a:pt x="0" y="2453992"/>
                  <a:pt x="0" y="2369827"/>
                </a:cubicBezTo>
                <a:lnTo>
                  <a:pt x="0" y="152393"/>
                </a:lnTo>
                <a:cubicBezTo>
                  <a:pt x="0" y="68228"/>
                  <a:pt x="68228" y="0"/>
                  <a:pt x="152393" y="0"/>
                </a:cubicBezTo>
                <a:close/>
              </a:path>
            </a:pathLst>
          </a:custGeom>
          <a:gradFill flip="none" rotWithShape="1">
            <a:gsLst>
              <a:gs pos="0">
                <a:srgbClr val="00A8E1">
                  <a:alpha val="20000"/>
                </a:srgbClr>
              </a:gs>
              <a:gs pos="100000">
                <a:srgbClr val="00A8E1">
                  <a:alpha val="5000"/>
                </a:srgbClr>
              </a:gs>
            </a:gsLst>
            <a:lin ang="2700000" scaled="1"/>
          </a:gradFill>
          <a:ln w="10160">
            <a:solidFill>
              <a:srgbClr val="00A8E1">
                <a:alpha val="40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038600" y="45053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A8E1">
              <a:alpha val="30196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4160044" y="46386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59531" y="0"/>
                </a:moveTo>
                <a:cubicBezTo>
                  <a:pt x="66117" y="0"/>
                  <a:pt x="71438" y="5321"/>
                  <a:pt x="71438" y="11906"/>
                </a:cubicBezTo>
                <a:lnTo>
                  <a:pt x="71438" y="23812"/>
                </a:lnTo>
                <a:lnTo>
                  <a:pt x="119063" y="23812"/>
                </a:lnTo>
                <a:cubicBezTo>
                  <a:pt x="125648" y="23812"/>
                  <a:pt x="130969" y="29133"/>
                  <a:pt x="130969" y="35719"/>
                </a:cubicBezTo>
                <a:cubicBezTo>
                  <a:pt x="130969" y="42304"/>
                  <a:pt x="125648" y="47625"/>
                  <a:pt x="119063" y="47625"/>
                </a:cubicBezTo>
                <a:lnTo>
                  <a:pt x="115491" y="47625"/>
                </a:lnTo>
                <a:lnTo>
                  <a:pt x="112365" y="56220"/>
                </a:lnTo>
                <a:cubicBezTo>
                  <a:pt x="106263" y="73037"/>
                  <a:pt x="97073" y="88404"/>
                  <a:pt x="85502" y="101612"/>
                </a:cubicBezTo>
                <a:cubicBezTo>
                  <a:pt x="90785" y="104887"/>
                  <a:pt x="96292" y="107789"/>
                  <a:pt x="102022" y="110356"/>
                </a:cubicBezTo>
                <a:lnTo>
                  <a:pt x="120774" y="118690"/>
                </a:lnTo>
                <a:lnTo>
                  <a:pt x="143917" y="66601"/>
                </a:lnTo>
                <a:cubicBezTo>
                  <a:pt x="145814" y="62285"/>
                  <a:pt x="150093" y="59531"/>
                  <a:pt x="154781" y="59531"/>
                </a:cubicBezTo>
                <a:cubicBezTo>
                  <a:pt x="159469" y="59531"/>
                  <a:pt x="163748" y="62285"/>
                  <a:pt x="165646" y="66601"/>
                </a:cubicBezTo>
                <a:lnTo>
                  <a:pt x="213271" y="173757"/>
                </a:lnTo>
                <a:cubicBezTo>
                  <a:pt x="215950" y="179784"/>
                  <a:pt x="213233" y="186817"/>
                  <a:pt x="207243" y="189458"/>
                </a:cubicBezTo>
                <a:cubicBezTo>
                  <a:pt x="201253" y="192100"/>
                  <a:pt x="194183" y="189421"/>
                  <a:pt x="191542" y="183431"/>
                </a:cubicBezTo>
                <a:lnTo>
                  <a:pt x="184100" y="166688"/>
                </a:lnTo>
                <a:lnTo>
                  <a:pt x="125499" y="166688"/>
                </a:lnTo>
                <a:lnTo>
                  <a:pt x="118058" y="183431"/>
                </a:lnTo>
                <a:cubicBezTo>
                  <a:pt x="115379" y="189458"/>
                  <a:pt x="108347" y="192137"/>
                  <a:pt x="102357" y="189458"/>
                </a:cubicBezTo>
                <a:cubicBezTo>
                  <a:pt x="96366" y="186779"/>
                  <a:pt x="93650" y="179747"/>
                  <a:pt x="96329" y="173757"/>
                </a:cubicBezTo>
                <a:lnTo>
                  <a:pt x="111137" y="140457"/>
                </a:lnTo>
                <a:lnTo>
                  <a:pt x="92385" y="132122"/>
                </a:lnTo>
                <a:cubicBezTo>
                  <a:pt x="83827" y="128327"/>
                  <a:pt x="75642" y="123788"/>
                  <a:pt x="67903" y="118579"/>
                </a:cubicBezTo>
                <a:cubicBezTo>
                  <a:pt x="59978" y="124978"/>
                  <a:pt x="51308" y="130559"/>
                  <a:pt x="42044" y="135210"/>
                </a:cubicBezTo>
                <a:lnTo>
                  <a:pt x="29133" y="141610"/>
                </a:lnTo>
                <a:cubicBezTo>
                  <a:pt x="23254" y="144549"/>
                  <a:pt x="16111" y="142168"/>
                  <a:pt x="13171" y="136289"/>
                </a:cubicBezTo>
                <a:cubicBezTo>
                  <a:pt x="10232" y="130411"/>
                  <a:pt x="12613" y="123267"/>
                  <a:pt x="18492" y="120328"/>
                </a:cubicBezTo>
                <a:lnTo>
                  <a:pt x="31328" y="113891"/>
                </a:lnTo>
                <a:cubicBezTo>
                  <a:pt x="37393" y="110840"/>
                  <a:pt x="43160" y="107305"/>
                  <a:pt x="48592" y="103361"/>
                </a:cubicBezTo>
                <a:cubicBezTo>
                  <a:pt x="43458" y="98636"/>
                  <a:pt x="38621" y="93538"/>
                  <a:pt x="34119" y="88143"/>
                </a:cubicBezTo>
                <a:lnTo>
                  <a:pt x="30361" y="83604"/>
                </a:lnTo>
                <a:cubicBezTo>
                  <a:pt x="26157" y="78544"/>
                  <a:pt x="26826" y="71028"/>
                  <a:pt x="31886" y="66824"/>
                </a:cubicBezTo>
                <a:cubicBezTo>
                  <a:pt x="36947" y="62619"/>
                  <a:pt x="44462" y="63289"/>
                  <a:pt x="48667" y="68349"/>
                </a:cubicBezTo>
                <a:lnTo>
                  <a:pt x="52462" y="72889"/>
                </a:lnTo>
                <a:cubicBezTo>
                  <a:pt x="56741" y="78060"/>
                  <a:pt x="61429" y="82860"/>
                  <a:pt x="66377" y="87288"/>
                </a:cubicBezTo>
                <a:cubicBezTo>
                  <a:pt x="76609" y="75977"/>
                  <a:pt x="84683" y="62694"/>
                  <a:pt x="90004" y="48071"/>
                </a:cubicBezTo>
                <a:lnTo>
                  <a:pt x="90190" y="47625"/>
                </a:lnTo>
                <a:lnTo>
                  <a:pt x="11943" y="47625"/>
                </a:lnTo>
                <a:cubicBezTo>
                  <a:pt x="5321" y="47625"/>
                  <a:pt x="0" y="42304"/>
                  <a:pt x="0" y="35719"/>
                </a:cubicBezTo>
                <a:cubicBezTo>
                  <a:pt x="0" y="29133"/>
                  <a:pt x="5321" y="23812"/>
                  <a:pt x="11906" y="23812"/>
                </a:cubicBezTo>
                <a:lnTo>
                  <a:pt x="47625" y="23812"/>
                </a:lnTo>
                <a:lnTo>
                  <a:pt x="47625" y="11906"/>
                </a:lnTo>
                <a:cubicBezTo>
                  <a:pt x="47625" y="5321"/>
                  <a:pt x="52946" y="0"/>
                  <a:pt x="59531" y="0"/>
                </a:cubicBezTo>
                <a:close/>
                <a:moveTo>
                  <a:pt x="154781" y="100757"/>
                </a:moveTo>
                <a:lnTo>
                  <a:pt x="136066" y="142875"/>
                </a:lnTo>
                <a:lnTo>
                  <a:pt x="173496" y="142875"/>
                </a:lnTo>
                <a:lnTo>
                  <a:pt x="154781" y="100757"/>
                </a:lnTo>
                <a:close/>
              </a:path>
            </a:pathLst>
          </a:custGeom>
          <a:solidFill>
            <a:srgbClr val="00A8E1"/>
          </a:solidFill>
          <a:ln/>
        </p:spPr>
      </p:sp>
      <p:sp>
        <p:nvSpPr>
          <p:cNvPr id="28" name="Text 25"/>
          <p:cNvSpPr/>
          <p:nvPr/>
        </p:nvSpPr>
        <p:spPr>
          <a:xfrm>
            <a:off x="4610100" y="4600575"/>
            <a:ext cx="1562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Translation Savings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4038600" y="5076825"/>
            <a:ext cx="3086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0A8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70%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4038600" y="5534025"/>
            <a:ext cx="29813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 reduction through DynamoDB translation caching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7303770" y="1758314"/>
            <a:ext cx="4503420" cy="3025141"/>
          </a:xfrm>
          <a:custGeom>
            <a:avLst/>
            <a:gdLst/>
            <a:ahLst/>
            <a:cxnLst/>
            <a:rect l="l" t="t" r="r" b="b"/>
            <a:pathLst>
              <a:path w="4503420" h="3522345">
                <a:moveTo>
                  <a:pt x="152412" y="0"/>
                </a:moveTo>
                <a:lnTo>
                  <a:pt x="4351008" y="0"/>
                </a:lnTo>
                <a:cubicBezTo>
                  <a:pt x="4435183" y="0"/>
                  <a:pt x="4503420" y="68237"/>
                  <a:pt x="4503420" y="152412"/>
                </a:cubicBezTo>
                <a:lnTo>
                  <a:pt x="4503420" y="3369933"/>
                </a:lnTo>
                <a:cubicBezTo>
                  <a:pt x="4503420" y="3454108"/>
                  <a:pt x="4435183" y="3522345"/>
                  <a:pt x="4351008" y="3522345"/>
                </a:cubicBezTo>
                <a:lnTo>
                  <a:pt x="152412" y="3522345"/>
                </a:lnTo>
                <a:cubicBezTo>
                  <a:pt x="68237" y="3522345"/>
                  <a:pt x="0" y="3454108"/>
                  <a:pt x="0" y="3369933"/>
                </a:cubicBezTo>
                <a:lnTo>
                  <a:pt x="0" y="152412"/>
                </a:lnTo>
                <a:cubicBezTo>
                  <a:pt x="0" y="68237"/>
                  <a:pt x="68237" y="0"/>
                  <a:pt x="152412" y="0"/>
                </a:cubicBezTo>
                <a:close/>
              </a:path>
            </a:pathLst>
          </a:custGeom>
          <a:gradFill flip="none" rotWithShape="1">
            <a:gsLst>
              <a:gs pos="0">
                <a:srgbClr val="FF9900">
                  <a:alpha val="30000"/>
                </a:srgbClr>
              </a:gs>
              <a:gs pos="100000">
                <a:srgbClr val="00A8E1">
                  <a:alpha val="30000"/>
                </a:srgbClr>
              </a:gs>
            </a:gsLst>
            <a:lin ang="2700000" scaled="1"/>
          </a:gradFill>
          <a:ln w="10160">
            <a:solidFill>
              <a:srgbClr val="FF9900">
                <a:alpha val="50196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450455" y="2030732"/>
            <a:ext cx="4210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Societal Impact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7498080" y="246888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9900">
              <a:alpha val="30196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7615952" y="2573657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0" y="21431"/>
                </a:moveTo>
                <a:cubicBezTo>
                  <a:pt x="0" y="15504"/>
                  <a:pt x="4789" y="10716"/>
                  <a:pt x="10716" y="10716"/>
                </a:cubicBezTo>
                <a:lnTo>
                  <a:pt x="37505" y="10716"/>
                </a:lnTo>
                <a:cubicBezTo>
                  <a:pt x="64126" y="10716"/>
                  <a:pt x="85725" y="32314"/>
                  <a:pt x="85725" y="58936"/>
                </a:cubicBezTo>
                <a:cubicBezTo>
                  <a:pt x="85725" y="77119"/>
                  <a:pt x="75679" y="92925"/>
                  <a:pt x="60811" y="101162"/>
                </a:cubicBezTo>
                <a:lnTo>
                  <a:pt x="74541" y="146938"/>
                </a:lnTo>
                <a:cubicBezTo>
                  <a:pt x="76248" y="152597"/>
                  <a:pt x="73034" y="158591"/>
                  <a:pt x="67341" y="160266"/>
                </a:cubicBezTo>
                <a:cubicBezTo>
                  <a:pt x="61648" y="161940"/>
                  <a:pt x="55688" y="158759"/>
                  <a:pt x="54013" y="153066"/>
                </a:cubicBezTo>
                <a:lnTo>
                  <a:pt x="40217" y="107089"/>
                </a:lnTo>
                <a:cubicBezTo>
                  <a:pt x="39313" y="107123"/>
                  <a:pt x="38409" y="107156"/>
                  <a:pt x="37505" y="107156"/>
                </a:cubicBezTo>
                <a:lnTo>
                  <a:pt x="21431" y="107156"/>
                </a:lnTo>
                <a:lnTo>
                  <a:pt x="21431" y="150019"/>
                </a:lnTo>
                <a:cubicBezTo>
                  <a:pt x="21431" y="155946"/>
                  <a:pt x="16643" y="160734"/>
                  <a:pt x="10716" y="160734"/>
                </a:cubicBezTo>
                <a:cubicBezTo>
                  <a:pt x="4789" y="160734"/>
                  <a:pt x="0" y="155946"/>
                  <a:pt x="0" y="150019"/>
                </a:cubicBezTo>
                <a:lnTo>
                  <a:pt x="0" y="21431"/>
                </a:lnTo>
                <a:close/>
                <a:moveTo>
                  <a:pt x="21431" y="85725"/>
                </a:moveTo>
                <a:lnTo>
                  <a:pt x="37505" y="85725"/>
                </a:lnTo>
                <a:cubicBezTo>
                  <a:pt x="52306" y="85725"/>
                  <a:pt x="64294" y="73737"/>
                  <a:pt x="64294" y="58936"/>
                </a:cubicBezTo>
                <a:cubicBezTo>
                  <a:pt x="64294" y="44135"/>
                  <a:pt x="52306" y="32147"/>
                  <a:pt x="37505" y="32147"/>
                </a:cubicBezTo>
                <a:lnTo>
                  <a:pt x="21431" y="32147"/>
                </a:lnTo>
                <a:lnTo>
                  <a:pt x="21431" y="85725"/>
                </a:lnTo>
                <a:close/>
                <a:moveTo>
                  <a:pt x="116901" y="75009"/>
                </a:moveTo>
                <a:lnTo>
                  <a:pt x="128588" y="75009"/>
                </a:lnTo>
                <a:cubicBezTo>
                  <a:pt x="134515" y="75009"/>
                  <a:pt x="139303" y="79798"/>
                  <a:pt x="139303" y="85725"/>
                </a:cubicBezTo>
                <a:cubicBezTo>
                  <a:pt x="139303" y="91652"/>
                  <a:pt x="134515" y="96441"/>
                  <a:pt x="128588" y="96441"/>
                </a:cubicBezTo>
                <a:lnTo>
                  <a:pt x="116901" y="96441"/>
                </a:lnTo>
                <a:cubicBezTo>
                  <a:pt x="114490" y="96441"/>
                  <a:pt x="112514" y="98416"/>
                  <a:pt x="112514" y="100827"/>
                </a:cubicBezTo>
                <a:cubicBezTo>
                  <a:pt x="112514" y="102736"/>
                  <a:pt x="113753" y="104410"/>
                  <a:pt x="115561" y="105013"/>
                </a:cubicBezTo>
                <a:lnTo>
                  <a:pt x="132104" y="110337"/>
                </a:lnTo>
                <a:cubicBezTo>
                  <a:pt x="142786" y="113787"/>
                  <a:pt x="150019" y="123698"/>
                  <a:pt x="150019" y="134916"/>
                </a:cubicBezTo>
                <a:cubicBezTo>
                  <a:pt x="150019" y="149182"/>
                  <a:pt x="138466" y="160734"/>
                  <a:pt x="124201" y="160734"/>
                </a:cubicBezTo>
                <a:lnTo>
                  <a:pt x="107156" y="160734"/>
                </a:lnTo>
                <a:cubicBezTo>
                  <a:pt x="101229" y="160734"/>
                  <a:pt x="96441" y="155946"/>
                  <a:pt x="96441" y="150019"/>
                </a:cubicBezTo>
                <a:cubicBezTo>
                  <a:pt x="96441" y="144092"/>
                  <a:pt x="101229" y="139303"/>
                  <a:pt x="107156" y="139303"/>
                </a:cubicBezTo>
                <a:lnTo>
                  <a:pt x="124201" y="139303"/>
                </a:lnTo>
                <a:cubicBezTo>
                  <a:pt x="126612" y="139303"/>
                  <a:pt x="128588" y="137327"/>
                  <a:pt x="128588" y="134916"/>
                </a:cubicBezTo>
                <a:cubicBezTo>
                  <a:pt x="128588" y="133008"/>
                  <a:pt x="127349" y="131333"/>
                  <a:pt x="125540" y="130731"/>
                </a:cubicBezTo>
                <a:lnTo>
                  <a:pt x="108998" y="125406"/>
                </a:lnTo>
                <a:cubicBezTo>
                  <a:pt x="98316" y="121957"/>
                  <a:pt x="91083" y="112045"/>
                  <a:pt x="91083" y="100827"/>
                </a:cubicBezTo>
                <a:cubicBezTo>
                  <a:pt x="91083" y="86562"/>
                  <a:pt x="102636" y="75009"/>
                  <a:pt x="116901" y="75009"/>
                </a:cubicBez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35" name="Text 32"/>
          <p:cNvSpPr/>
          <p:nvPr/>
        </p:nvSpPr>
        <p:spPr>
          <a:xfrm>
            <a:off x="7993380" y="2449832"/>
            <a:ext cx="2266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₹50,000+ Crores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7993380" y="2678432"/>
            <a:ext cx="2257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Unclaimed benefits accessed annually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7498080" y="304038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A8E1">
              <a:alpha val="30196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7594521" y="3145157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21431" y="42863"/>
                </a:moveTo>
                <a:cubicBezTo>
                  <a:pt x="21431" y="22163"/>
                  <a:pt x="38237" y="5358"/>
                  <a:pt x="58936" y="5358"/>
                </a:cubicBezTo>
                <a:cubicBezTo>
                  <a:pt x="79635" y="5358"/>
                  <a:pt x="96441" y="22163"/>
                  <a:pt x="96441" y="42862"/>
                </a:cubicBezTo>
                <a:cubicBezTo>
                  <a:pt x="96441" y="63562"/>
                  <a:pt x="79635" y="80367"/>
                  <a:pt x="58936" y="80367"/>
                </a:cubicBezTo>
                <a:cubicBezTo>
                  <a:pt x="38237" y="80367"/>
                  <a:pt x="21431" y="63562"/>
                  <a:pt x="21431" y="42863"/>
                </a:cubicBezTo>
                <a:close/>
                <a:moveTo>
                  <a:pt x="0" y="155377"/>
                </a:moveTo>
                <a:cubicBezTo>
                  <a:pt x="0" y="122828"/>
                  <a:pt x="26387" y="96441"/>
                  <a:pt x="58936" y="96441"/>
                </a:cubicBezTo>
                <a:cubicBezTo>
                  <a:pt x="91485" y="96441"/>
                  <a:pt x="117872" y="122828"/>
                  <a:pt x="117872" y="155377"/>
                </a:cubicBezTo>
                <a:lnTo>
                  <a:pt x="117872" y="157386"/>
                </a:lnTo>
                <a:cubicBezTo>
                  <a:pt x="117872" y="165155"/>
                  <a:pt x="111576" y="171450"/>
                  <a:pt x="103808" y="171450"/>
                </a:cubicBezTo>
                <a:lnTo>
                  <a:pt x="14064" y="171450"/>
                </a:lnTo>
                <a:cubicBezTo>
                  <a:pt x="6295" y="171450"/>
                  <a:pt x="0" y="165155"/>
                  <a:pt x="0" y="157386"/>
                </a:cubicBezTo>
                <a:lnTo>
                  <a:pt x="0" y="155377"/>
                </a:lnTo>
                <a:close/>
                <a:moveTo>
                  <a:pt x="144661" y="21431"/>
                </a:moveTo>
                <a:cubicBezTo>
                  <a:pt x="162403" y="21431"/>
                  <a:pt x="176808" y="35836"/>
                  <a:pt x="176808" y="53578"/>
                </a:cubicBezTo>
                <a:cubicBezTo>
                  <a:pt x="176808" y="71320"/>
                  <a:pt x="162403" y="85725"/>
                  <a:pt x="144661" y="85725"/>
                </a:cubicBezTo>
                <a:cubicBezTo>
                  <a:pt x="126919" y="85725"/>
                  <a:pt x="112514" y="71320"/>
                  <a:pt x="112514" y="53578"/>
                </a:cubicBezTo>
                <a:cubicBezTo>
                  <a:pt x="112514" y="35836"/>
                  <a:pt x="126919" y="21431"/>
                  <a:pt x="144661" y="21431"/>
                </a:cubicBezTo>
                <a:close/>
                <a:moveTo>
                  <a:pt x="144661" y="101798"/>
                </a:moveTo>
                <a:cubicBezTo>
                  <a:pt x="171283" y="101798"/>
                  <a:pt x="192881" y="123397"/>
                  <a:pt x="192881" y="150019"/>
                </a:cubicBezTo>
                <a:lnTo>
                  <a:pt x="192881" y="157520"/>
                </a:lnTo>
                <a:cubicBezTo>
                  <a:pt x="192881" y="165222"/>
                  <a:pt x="186653" y="171450"/>
                  <a:pt x="178951" y="171450"/>
                </a:cubicBezTo>
                <a:lnTo>
                  <a:pt x="130463" y="171450"/>
                </a:lnTo>
                <a:cubicBezTo>
                  <a:pt x="132673" y="167264"/>
                  <a:pt x="133945" y="162476"/>
                  <a:pt x="133945" y="157386"/>
                </a:cubicBezTo>
                <a:lnTo>
                  <a:pt x="133945" y="155377"/>
                </a:lnTo>
                <a:cubicBezTo>
                  <a:pt x="133945" y="138131"/>
                  <a:pt x="128119" y="122259"/>
                  <a:pt x="118374" y="109601"/>
                </a:cubicBezTo>
                <a:cubicBezTo>
                  <a:pt x="125942" y="104678"/>
                  <a:pt x="134983" y="101798"/>
                  <a:pt x="144661" y="101798"/>
                </a:cubicBezTo>
                <a:close/>
              </a:path>
            </a:pathLst>
          </a:custGeom>
          <a:solidFill>
            <a:srgbClr val="00A8E1"/>
          </a:solidFill>
          <a:ln/>
        </p:spPr>
      </p:sp>
      <p:sp>
        <p:nvSpPr>
          <p:cNvPr id="39" name="Text 36"/>
          <p:cNvSpPr/>
          <p:nvPr/>
        </p:nvSpPr>
        <p:spPr>
          <a:xfrm>
            <a:off x="7993380" y="3021332"/>
            <a:ext cx="2200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Millions of Citizens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7993380" y="3249932"/>
            <a:ext cx="2190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Empowered with scheme awareness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7498080" y="361188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9900">
              <a:alpha val="30196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7605236" y="3716657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43" name="Text 40"/>
          <p:cNvSpPr/>
          <p:nvPr/>
        </p:nvSpPr>
        <p:spPr>
          <a:xfrm>
            <a:off x="7993380" y="3592832"/>
            <a:ext cx="1857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3x Improvement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7993380" y="3821432"/>
            <a:ext cx="1847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application completion rates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7303770" y="4941569"/>
            <a:ext cx="4503420" cy="1531620"/>
          </a:xfrm>
          <a:custGeom>
            <a:avLst/>
            <a:gdLst/>
            <a:ahLst/>
            <a:cxnLst/>
            <a:rect l="l" t="t" r="r" b="b"/>
            <a:pathLst>
              <a:path w="4503420" h="1531620">
                <a:moveTo>
                  <a:pt x="152396" y="0"/>
                </a:moveTo>
                <a:lnTo>
                  <a:pt x="4351024" y="0"/>
                </a:lnTo>
                <a:cubicBezTo>
                  <a:pt x="4435190" y="0"/>
                  <a:pt x="4503420" y="68230"/>
                  <a:pt x="4503420" y="152396"/>
                </a:cubicBezTo>
                <a:lnTo>
                  <a:pt x="4503420" y="1379224"/>
                </a:lnTo>
                <a:cubicBezTo>
                  <a:pt x="4503420" y="1463390"/>
                  <a:pt x="4435190" y="1531620"/>
                  <a:pt x="4351024" y="1531620"/>
                </a:cubicBezTo>
                <a:lnTo>
                  <a:pt x="152396" y="1531620"/>
                </a:lnTo>
                <a:cubicBezTo>
                  <a:pt x="68230" y="1531620"/>
                  <a:pt x="0" y="1463390"/>
                  <a:pt x="0" y="1379224"/>
                </a:cubicBezTo>
                <a:lnTo>
                  <a:pt x="0" y="152396"/>
                </a:lnTo>
                <a:cubicBezTo>
                  <a:pt x="0" y="68230"/>
                  <a:pt x="68230" y="0"/>
                  <a:pt x="152396" y="0"/>
                </a:cubicBezTo>
                <a:close/>
              </a:path>
            </a:pathLst>
          </a:custGeom>
          <a:solidFill>
            <a:srgbClr val="232F3E">
              <a:alpha val="70196"/>
            </a:srgbClr>
          </a:solidFill>
          <a:ln w="10160">
            <a:solidFill>
              <a:srgbClr val="00A8E1">
                <a:alpha val="30196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494508" y="5145407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21431" y="10716"/>
                </a:moveTo>
                <a:cubicBezTo>
                  <a:pt x="9611" y="10716"/>
                  <a:pt x="0" y="20326"/>
                  <a:pt x="0" y="32147"/>
                </a:cubicBezTo>
                <a:lnTo>
                  <a:pt x="0" y="53578"/>
                </a:lnTo>
                <a:cubicBezTo>
                  <a:pt x="0" y="65399"/>
                  <a:pt x="9611" y="75009"/>
                  <a:pt x="21431" y="75009"/>
                </a:cubicBezTo>
                <a:lnTo>
                  <a:pt x="128588" y="75009"/>
                </a:lnTo>
                <a:cubicBezTo>
                  <a:pt x="140408" y="75009"/>
                  <a:pt x="150019" y="65399"/>
                  <a:pt x="150019" y="53578"/>
                </a:cubicBezTo>
                <a:lnTo>
                  <a:pt x="150019" y="32147"/>
                </a:lnTo>
                <a:cubicBezTo>
                  <a:pt x="150019" y="20326"/>
                  <a:pt x="140408" y="10716"/>
                  <a:pt x="128588" y="10716"/>
                </a:cubicBezTo>
                <a:lnTo>
                  <a:pt x="21431" y="10716"/>
                </a:lnTo>
                <a:close/>
                <a:moveTo>
                  <a:pt x="93762" y="34826"/>
                </a:moveTo>
                <a:cubicBezTo>
                  <a:pt x="98197" y="34826"/>
                  <a:pt x="101798" y="38427"/>
                  <a:pt x="101798" y="42863"/>
                </a:cubicBezTo>
                <a:cubicBezTo>
                  <a:pt x="101798" y="47298"/>
                  <a:pt x="98197" y="50899"/>
                  <a:pt x="93762" y="50899"/>
                </a:cubicBezTo>
                <a:cubicBezTo>
                  <a:pt x="89326" y="50899"/>
                  <a:pt x="85725" y="47298"/>
                  <a:pt x="85725" y="42863"/>
                </a:cubicBezTo>
                <a:cubicBezTo>
                  <a:pt x="85725" y="38427"/>
                  <a:pt x="89326" y="34826"/>
                  <a:pt x="93762" y="34826"/>
                </a:cubicBezTo>
                <a:close/>
                <a:moveTo>
                  <a:pt x="112514" y="42863"/>
                </a:moveTo>
                <a:cubicBezTo>
                  <a:pt x="112514" y="38427"/>
                  <a:pt x="116115" y="34826"/>
                  <a:pt x="120551" y="34826"/>
                </a:cubicBezTo>
                <a:cubicBezTo>
                  <a:pt x="124986" y="34826"/>
                  <a:pt x="128588" y="38427"/>
                  <a:pt x="128588" y="42863"/>
                </a:cubicBezTo>
                <a:cubicBezTo>
                  <a:pt x="128588" y="47298"/>
                  <a:pt x="124986" y="50899"/>
                  <a:pt x="120551" y="50899"/>
                </a:cubicBezTo>
                <a:cubicBezTo>
                  <a:pt x="116115" y="50899"/>
                  <a:pt x="112514" y="47298"/>
                  <a:pt x="112514" y="42863"/>
                </a:cubicBezTo>
                <a:close/>
                <a:moveTo>
                  <a:pt x="21431" y="96441"/>
                </a:moveTo>
                <a:cubicBezTo>
                  <a:pt x="9611" y="96441"/>
                  <a:pt x="0" y="106051"/>
                  <a:pt x="0" y="117872"/>
                </a:cubicBezTo>
                <a:lnTo>
                  <a:pt x="0" y="139303"/>
                </a:lnTo>
                <a:cubicBezTo>
                  <a:pt x="0" y="151124"/>
                  <a:pt x="9611" y="160734"/>
                  <a:pt x="21431" y="160734"/>
                </a:cubicBezTo>
                <a:lnTo>
                  <a:pt x="128588" y="160734"/>
                </a:lnTo>
                <a:cubicBezTo>
                  <a:pt x="140408" y="160734"/>
                  <a:pt x="150019" y="151124"/>
                  <a:pt x="150019" y="139303"/>
                </a:cubicBezTo>
                <a:lnTo>
                  <a:pt x="150019" y="117872"/>
                </a:lnTo>
                <a:cubicBezTo>
                  <a:pt x="150019" y="106051"/>
                  <a:pt x="140408" y="96441"/>
                  <a:pt x="128588" y="96441"/>
                </a:cubicBezTo>
                <a:lnTo>
                  <a:pt x="21431" y="96441"/>
                </a:lnTo>
                <a:close/>
                <a:moveTo>
                  <a:pt x="93762" y="120551"/>
                </a:moveTo>
                <a:cubicBezTo>
                  <a:pt x="98197" y="120551"/>
                  <a:pt x="101798" y="124152"/>
                  <a:pt x="101798" y="128588"/>
                </a:cubicBezTo>
                <a:cubicBezTo>
                  <a:pt x="101798" y="133023"/>
                  <a:pt x="98197" y="136624"/>
                  <a:pt x="93762" y="136624"/>
                </a:cubicBezTo>
                <a:cubicBezTo>
                  <a:pt x="89326" y="136624"/>
                  <a:pt x="85725" y="133023"/>
                  <a:pt x="85725" y="128588"/>
                </a:cubicBezTo>
                <a:cubicBezTo>
                  <a:pt x="85725" y="124152"/>
                  <a:pt x="89326" y="120551"/>
                  <a:pt x="93762" y="120551"/>
                </a:cubicBezTo>
                <a:close/>
                <a:moveTo>
                  <a:pt x="112514" y="128588"/>
                </a:moveTo>
                <a:cubicBezTo>
                  <a:pt x="112514" y="124152"/>
                  <a:pt x="116115" y="120551"/>
                  <a:pt x="120551" y="120551"/>
                </a:cubicBezTo>
                <a:cubicBezTo>
                  <a:pt x="124986" y="120551"/>
                  <a:pt x="128588" y="124152"/>
                  <a:pt x="128588" y="128588"/>
                </a:cubicBezTo>
                <a:cubicBezTo>
                  <a:pt x="128588" y="133023"/>
                  <a:pt x="124986" y="136624"/>
                  <a:pt x="120551" y="136624"/>
                </a:cubicBezTo>
                <a:cubicBezTo>
                  <a:pt x="116115" y="136624"/>
                  <a:pt x="112514" y="133023"/>
                  <a:pt x="112514" y="128588"/>
                </a:cubicBezTo>
                <a:close/>
              </a:path>
            </a:pathLst>
          </a:custGeom>
          <a:solidFill>
            <a:srgbClr val="00A8E1"/>
          </a:solidFill>
          <a:ln/>
        </p:spPr>
      </p:sp>
      <p:sp>
        <p:nvSpPr>
          <p:cNvPr id="47" name="Text 44"/>
          <p:cNvSpPr/>
          <p:nvPr/>
        </p:nvSpPr>
        <p:spPr>
          <a:xfrm>
            <a:off x="7679055" y="5097782"/>
            <a:ext cx="4057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Reliability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7459980" y="5497832"/>
            <a:ext cx="742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Uptime SLA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11238071" y="5478782"/>
            <a:ext cx="48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A8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99.9%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7459980" y="5802632"/>
            <a:ext cx="914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Cache Hit Rate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11287720" y="5783582"/>
            <a:ext cx="438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A8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&gt;40%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7459980" y="6107432"/>
            <a:ext cx="800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Auto-scaling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11204734" y="6088382"/>
            <a:ext cx="523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A8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Instant</a:t>
            </a:r>
            <a:endParaRPr lang="en-US" sz="1600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7F6B0057-1118-0E77-8A5F-7F045388E8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10"/>
            <a:ext cx="12192000" cy="66300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33400" y="723900"/>
            <a:ext cx="405765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 Roadmap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261110"/>
            <a:ext cx="3674745" cy="5208270"/>
          </a:xfrm>
          <a:custGeom>
            <a:avLst/>
            <a:gdLst/>
            <a:ahLst/>
            <a:cxnLst/>
            <a:rect l="l" t="t" r="r" b="b"/>
            <a:pathLst>
              <a:path w="3674745" h="5208270">
                <a:moveTo>
                  <a:pt x="152392" y="0"/>
                </a:moveTo>
                <a:lnTo>
                  <a:pt x="3522353" y="0"/>
                </a:lnTo>
                <a:cubicBezTo>
                  <a:pt x="3606517" y="0"/>
                  <a:pt x="3674745" y="68228"/>
                  <a:pt x="3674745" y="152392"/>
                </a:cubicBezTo>
                <a:lnTo>
                  <a:pt x="3674745" y="5055878"/>
                </a:lnTo>
                <a:cubicBezTo>
                  <a:pt x="3674745" y="5140042"/>
                  <a:pt x="3606517" y="5208270"/>
                  <a:pt x="3522353" y="5208270"/>
                </a:cubicBezTo>
                <a:lnTo>
                  <a:pt x="152392" y="5208270"/>
                </a:lnTo>
                <a:cubicBezTo>
                  <a:pt x="68228" y="5208270"/>
                  <a:pt x="0" y="5140042"/>
                  <a:pt x="0" y="5055878"/>
                </a:cubicBezTo>
                <a:lnTo>
                  <a:pt x="0" y="152392"/>
                </a:lnTo>
                <a:cubicBezTo>
                  <a:pt x="0" y="68284"/>
                  <a:pt x="68284" y="0"/>
                  <a:pt x="152392" y="0"/>
                </a:cubicBezTo>
                <a:close/>
              </a:path>
            </a:pathLst>
          </a:custGeom>
          <a:gradFill flip="none" rotWithShape="1">
            <a:gsLst>
              <a:gs pos="0">
                <a:srgbClr val="FF9900">
                  <a:alpha val="20000"/>
                </a:srgbClr>
              </a:gs>
              <a:gs pos="100000">
                <a:srgbClr val="FF9900">
                  <a:alpha val="5000"/>
                </a:srgbClr>
              </a:gs>
            </a:gsLst>
            <a:lin ang="2700000" scaled="1"/>
          </a:gradFill>
          <a:ln w="10160">
            <a:solidFill>
              <a:srgbClr val="FF990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9120" y="145542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FF9900"/>
              </a:gs>
              <a:gs pos="100000">
                <a:srgbClr val="FF9900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7" name="Text 5"/>
          <p:cNvSpPr/>
          <p:nvPr/>
        </p:nvSpPr>
        <p:spPr>
          <a:xfrm>
            <a:off x="800100" y="1569723"/>
            <a:ext cx="209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26820" y="1474473"/>
            <a:ext cx="14573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1: MVP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26820" y="1779152"/>
            <a:ext cx="1409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Months 1-3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8170" y="244316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11" name="Text 9"/>
          <p:cNvSpPr/>
          <p:nvPr/>
        </p:nvSpPr>
        <p:spPr>
          <a:xfrm>
            <a:off x="845820" y="2405063"/>
            <a:ext cx="2047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Chatbot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5820" y="2595563"/>
            <a:ext cx="2038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RAG pipeline with Claude 3, 5 languages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8170" y="338994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14" name="Text 12"/>
          <p:cNvSpPr/>
          <p:nvPr/>
        </p:nvSpPr>
        <p:spPr>
          <a:xfrm>
            <a:off x="845820" y="3351847"/>
            <a:ext cx="2352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Basic Profile Builder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5820" y="3542347"/>
            <a:ext cx="2343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Progressive questionnaire, DynamoDB storage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8170" y="433673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17" name="Text 15"/>
          <p:cNvSpPr/>
          <p:nvPr/>
        </p:nvSpPr>
        <p:spPr>
          <a:xfrm>
            <a:off x="845820" y="4298635"/>
            <a:ext cx="1838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Eligibility Engine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5820" y="4489135"/>
            <a:ext cx="1828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Scoring algorithm, 100 top schemes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98170" y="528351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20" name="Text 18"/>
          <p:cNvSpPr/>
          <p:nvPr/>
        </p:nvSpPr>
        <p:spPr>
          <a:xfrm>
            <a:off x="845820" y="5245419"/>
            <a:ext cx="2066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5820" y="5435919"/>
            <a:ext cx="2057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Personalized recommendations, basic UI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9120" y="5970274"/>
            <a:ext cx="3286125" cy="7620"/>
          </a:xfrm>
          <a:custGeom>
            <a:avLst/>
            <a:gdLst/>
            <a:ahLst/>
            <a:cxnLst/>
            <a:rect l="l" t="t" r="r" b="b"/>
            <a:pathLst>
              <a:path w="3286125" h="7620">
                <a:moveTo>
                  <a:pt x="0" y="0"/>
                </a:moveTo>
                <a:lnTo>
                  <a:pt x="3286125" y="0"/>
                </a:lnTo>
                <a:lnTo>
                  <a:pt x="328612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FF9900">
              <a:alpha val="30196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79120" y="6088382"/>
            <a:ext cx="819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Users: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245048" y="6088382"/>
            <a:ext cx="68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1,000 beta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258270" y="1261110"/>
            <a:ext cx="3674745" cy="5208270"/>
          </a:xfrm>
          <a:custGeom>
            <a:avLst/>
            <a:gdLst/>
            <a:ahLst/>
            <a:cxnLst/>
            <a:rect l="l" t="t" r="r" b="b"/>
            <a:pathLst>
              <a:path w="3674745" h="5208270">
                <a:moveTo>
                  <a:pt x="152392" y="0"/>
                </a:moveTo>
                <a:lnTo>
                  <a:pt x="3522353" y="0"/>
                </a:lnTo>
                <a:cubicBezTo>
                  <a:pt x="3606517" y="0"/>
                  <a:pt x="3674745" y="68228"/>
                  <a:pt x="3674745" y="152392"/>
                </a:cubicBezTo>
                <a:lnTo>
                  <a:pt x="3674745" y="5055878"/>
                </a:lnTo>
                <a:cubicBezTo>
                  <a:pt x="3674745" y="5140042"/>
                  <a:pt x="3606517" y="5208270"/>
                  <a:pt x="3522353" y="5208270"/>
                </a:cubicBezTo>
                <a:lnTo>
                  <a:pt x="152392" y="5208270"/>
                </a:lnTo>
                <a:cubicBezTo>
                  <a:pt x="68228" y="5208270"/>
                  <a:pt x="0" y="5140042"/>
                  <a:pt x="0" y="5055878"/>
                </a:cubicBezTo>
                <a:lnTo>
                  <a:pt x="0" y="152392"/>
                </a:lnTo>
                <a:cubicBezTo>
                  <a:pt x="0" y="68284"/>
                  <a:pt x="68284" y="0"/>
                  <a:pt x="152392" y="0"/>
                </a:cubicBezTo>
                <a:close/>
              </a:path>
            </a:pathLst>
          </a:custGeom>
          <a:gradFill flip="none" rotWithShape="1">
            <a:gsLst>
              <a:gs pos="0">
                <a:srgbClr val="00A8E1">
                  <a:alpha val="20000"/>
                </a:srgbClr>
              </a:gs>
              <a:gs pos="100000">
                <a:srgbClr val="00A8E1">
                  <a:alpha val="5000"/>
                </a:srgbClr>
              </a:gs>
            </a:gsLst>
            <a:lin ang="2700000" scaled="1"/>
          </a:gradFill>
          <a:ln w="10160">
            <a:solidFill>
              <a:srgbClr val="00A8E1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52580" y="145542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00A8E1"/>
              </a:gs>
              <a:gs pos="100000">
                <a:srgbClr val="00A8E1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27" name="Text 25"/>
          <p:cNvSpPr/>
          <p:nvPr/>
        </p:nvSpPr>
        <p:spPr>
          <a:xfrm>
            <a:off x="4652844" y="1569723"/>
            <a:ext cx="247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100281" y="1474473"/>
            <a:ext cx="1562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2: Scale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100281" y="1779152"/>
            <a:ext cx="1514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A8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Months 4-6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71630" y="244316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A8E1"/>
          </a:solidFill>
          <a:ln/>
        </p:spPr>
      </p:sp>
      <p:sp>
        <p:nvSpPr>
          <p:cNvPr id="31" name="Text 29"/>
          <p:cNvSpPr/>
          <p:nvPr/>
        </p:nvSpPr>
        <p:spPr>
          <a:xfrm>
            <a:off x="4719280" y="2405063"/>
            <a:ext cx="170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 Intelligence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719280" y="2595563"/>
            <a:ext cx="1695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Textract OCR, auto-fill, validation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471630" y="338994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A8E1"/>
          </a:solidFill>
          <a:ln/>
        </p:spPr>
      </p:sp>
      <p:sp>
        <p:nvSpPr>
          <p:cNvPr id="34" name="Text 32"/>
          <p:cNvSpPr/>
          <p:nvPr/>
        </p:nvSpPr>
        <p:spPr>
          <a:xfrm>
            <a:off x="4719280" y="3351847"/>
            <a:ext cx="161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Voice Interface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719280" y="3542347"/>
            <a:ext cx="1609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Transcribe + Polly, 10 languages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471630" y="433673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A8E1"/>
          </a:solidFill>
          <a:ln/>
        </p:spPr>
      </p:sp>
      <p:sp>
        <p:nvSpPr>
          <p:cNvPr id="37" name="Text 35"/>
          <p:cNvSpPr/>
          <p:nvPr/>
        </p:nvSpPr>
        <p:spPr>
          <a:xfrm>
            <a:off x="4719280" y="4298635"/>
            <a:ext cx="175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Search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719280" y="4489135"/>
            <a:ext cx="1743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Semantic + keyword hybrid, filters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471630" y="528351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A8E1"/>
          </a:solidFill>
          <a:ln/>
        </p:spPr>
      </p:sp>
      <p:sp>
        <p:nvSpPr>
          <p:cNvPr id="40" name="Text 38"/>
          <p:cNvSpPr/>
          <p:nvPr/>
        </p:nvSpPr>
        <p:spPr>
          <a:xfrm>
            <a:off x="4719280" y="5245419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 App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719280" y="5435919"/>
            <a:ext cx="136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 Native, offline mode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452580" y="5970274"/>
            <a:ext cx="3286125" cy="7620"/>
          </a:xfrm>
          <a:custGeom>
            <a:avLst/>
            <a:gdLst/>
            <a:ahLst/>
            <a:cxnLst/>
            <a:rect l="l" t="t" r="r" b="b"/>
            <a:pathLst>
              <a:path w="3286125" h="7620">
                <a:moveTo>
                  <a:pt x="0" y="0"/>
                </a:moveTo>
                <a:lnTo>
                  <a:pt x="3286125" y="0"/>
                </a:lnTo>
                <a:lnTo>
                  <a:pt x="328612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00A8E1">
              <a:alpha val="3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4452580" y="6088382"/>
            <a:ext cx="819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Users: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318415" y="6088382"/>
            <a:ext cx="485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A8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10,000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131731" y="1261110"/>
            <a:ext cx="3674745" cy="5208270"/>
          </a:xfrm>
          <a:custGeom>
            <a:avLst/>
            <a:gdLst/>
            <a:ahLst/>
            <a:cxnLst/>
            <a:rect l="l" t="t" r="r" b="b"/>
            <a:pathLst>
              <a:path w="3674745" h="5208270">
                <a:moveTo>
                  <a:pt x="152392" y="0"/>
                </a:moveTo>
                <a:lnTo>
                  <a:pt x="3522353" y="0"/>
                </a:lnTo>
                <a:cubicBezTo>
                  <a:pt x="3606517" y="0"/>
                  <a:pt x="3674745" y="68228"/>
                  <a:pt x="3674745" y="152392"/>
                </a:cubicBezTo>
                <a:lnTo>
                  <a:pt x="3674745" y="5055878"/>
                </a:lnTo>
                <a:cubicBezTo>
                  <a:pt x="3674745" y="5140042"/>
                  <a:pt x="3606517" y="5208270"/>
                  <a:pt x="3522353" y="5208270"/>
                </a:cubicBezTo>
                <a:lnTo>
                  <a:pt x="152392" y="5208270"/>
                </a:lnTo>
                <a:cubicBezTo>
                  <a:pt x="68228" y="5208270"/>
                  <a:pt x="0" y="5140042"/>
                  <a:pt x="0" y="5055878"/>
                </a:cubicBezTo>
                <a:lnTo>
                  <a:pt x="0" y="152392"/>
                </a:lnTo>
                <a:cubicBezTo>
                  <a:pt x="0" y="68284"/>
                  <a:pt x="68284" y="0"/>
                  <a:pt x="152392" y="0"/>
                </a:cubicBezTo>
                <a:close/>
              </a:path>
            </a:pathLst>
          </a:custGeom>
          <a:gradFill flip="none" rotWithShape="1">
            <a:gsLst>
              <a:gs pos="0">
                <a:srgbClr val="FF9900">
                  <a:alpha val="20000"/>
                </a:srgbClr>
              </a:gs>
              <a:gs pos="100000">
                <a:srgbClr val="00A8E1">
                  <a:alpha val="10000"/>
                </a:srgbClr>
              </a:gs>
            </a:gsLst>
            <a:lin ang="2700000" scaled="1"/>
          </a:gradFill>
          <a:ln w="10160">
            <a:solidFill>
              <a:srgbClr val="FF9900">
                <a:alpha val="4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26041" y="145542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FF9900"/>
              </a:gs>
              <a:gs pos="100000">
                <a:srgbClr val="00A8E1"/>
              </a:gs>
            </a:gsLst>
            <a:lin ang="2700000" scaled="1"/>
          </a:gradFill>
          <a:ln/>
        </p:spPr>
      </p:sp>
      <p:sp>
        <p:nvSpPr>
          <p:cNvPr id="47" name="Text 45"/>
          <p:cNvSpPr/>
          <p:nvPr/>
        </p:nvSpPr>
        <p:spPr>
          <a:xfrm>
            <a:off x="8525233" y="1569723"/>
            <a:ext cx="247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973741" y="1474473"/>
            <a:ext cx="1914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3: Optimize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973741" y="1779152"/>
            <a:ext cx="1866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Months 7-12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345091" y="244316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51" name="Text 49"/>
          <p:cNvSpPr/>
          <p:nvPr/>
        </p:nvSpPr>
        <p:spPr>
          <a:xfrm>
            <a:off x="8592741" y="2405063"/>
            <a:ext cx="1447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Portal Integrations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592741" y="2595563"/>
            <a:ext cx="1438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50+ government portal APIs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345091" y="338994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54" name="Text 52"/>
          <p:cNvSpPr/>
          <p:nvPr/>
        </p:nvSpPr>
        <p:spPr>
          <a:xfrm>
            <a:off x="8592741" y="3351847"/>
            <a:ext cx="1866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Analytics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592741" y="3542347"/>
            <a:ext cx="1857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behavior, scheme performance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345091" y="433673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57" name="Text 55"/>
          <p:cNvSpPr/>
          <p:nvPr/>
        </p:nvSpPr>
        <p:spPr>
          <a:xfrm>
            <a:off x="8592741" y="4298635"/>
            <a:ext cx="1762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Improvements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592741" y="4489135"/>
            <a:ext cx="1752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Fine-tuned models, feedback loop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345091" y="528351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60" name="Text 58"/>
          <p:cNvSpPr/>
          <p:nvPr/>
        </p:nvSpPr>
        <p:spPr>
          <a:xfrm>
            <a:off x="8592741" y="5245419"/>
            <a:ext cx="1781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Multi-State Launch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592741" y="5435919"/>
            <a:ext cx="1771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Pan-India rollout, regional partners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326041" y="5970274"/>
            <a:ext cx="3286125" cy="7620"/>
          </a:xfrm>
          <a:custGeom>
            <a:avLst/>
            <a:gdLst/>
            <a:ahLst/>
            <a:cxnLst/>
            <a:rect l="l" t="t" r="r" b="b"/>
            <a:pathLst>
              <a:path w="3286125" h="7620">
                <a:moveTo>
                  <a:pt x="0" y="0"/>
                </a:moveTo>
                <a:lnTo>
                  <a:pt x="3286125" y="0"/>
                </a:lnTo>
                <a:lnTo>
                  <a:pt x="328612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FF9900">
              <a:alpha val="30196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8326041" y="6088382"/>
            <a:ext cx="819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Users: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11038999" y="6088382"/>
            <a:ext cx="638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100,000+</a:t>
            </a:r>
            <a:endParaRPr lang="en-US" sz="1600" dirty="0"/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C80428B7-248E-8CDE-CD04-E318C0147D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666"/>
            <a:ext cx="12192000" cy="66300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7da3694e97e8a062fe5c40b3150adb2a773d2c80.jpg"/>
          <p:cNvPicPr>
            <a:picLocks noChangeAspect="1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F1419">
                  <a:alpha val="95000"/>
                </a:srgbClr>
              </a:gs>
              <a:gs pos="50000">
                <a:srgbClr val="232F3E">
                  <a:alpha val="90000"/>
                </a:srgbClr>
              </a:gs>
              <a:gs pos="100000">
                <a:srgbClr val="0F1419">
                  <a:alpha val="9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 2"/>
          <p:cNvSpPr/>
          <p:nvPr/>
        </p:nvSpPr>
        <p:spPr>
          <a:xfrm>
            <a:off x="533400" y="723900"/>
            <a:ext cx="190500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AWS?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4810" y="1261110"/>
            <a:ext cx="5627370" cy="1703070"/>
          </a:xfrm>
          <a:custGeom>
            <a:avLst/>
            <a:gdLst/>
            <a:ahLst/>
            <a:cxnLst/>
            <a:rect l="l" t="t" r="r" b="b"/>
            <a:pathLst>
              <a:path w="5627370" h="1703070">
                <a:moveTo>
                  <a:pt x="152408" y="0"/>
                </a:moveTo>
                <a:lnTo>
                  <a:pt x="5474962" y="0"/>
                </a:lnTo>
                <a:cubicBezTo>
                  <a:pt x="5559135" y="0"/>
                  <a:pt x="5627370" y="68235"/>
                  <a:pt x="5627370" y="152408"/>
                </a:cubicBezTo>
                <a:lnTo>
                  <a:pt x="5627370" y="1550662"/>
                </a:lnTo>
                <a:cubicBezTo>
                  <a:pt x="5627370" y="1634835"/>
                  <a:pt x="5559135" y="1703070"/>
                  <a:pt x="5474962" y="1703070"/>
                </a:cubicBezTo>
                <a:lnTo>
                  <a:pt x="152408" y="1703070"/>
                </a:lnTo>
                <a:cubicBezTo>
                  <a:pt x="68235" y="1703070"/>
                  <a:pt x="0" y="1634835"/>
                  <a:pt x="0" y="1550662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232F3E">
              <a:alpha val="70196"/>
            </a:srgbClr>
          </a:solidFill>
          <a:ln w="10160">
            <a:solidFill>
              <a:srgbClr val="FF9900">
                <a:alpha val="30196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9120" y="14554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9900"/>
              </a:gs>
              <a:gs pos="100000">
                <a:srgbClr val="FF9900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9" name="Shape 6"/>
          <p:cNvSpPr/>
          <p:nvPr/>
        </p:nvSpPr>
        <p:spPr>
          <a:xfrm>
            <a:off x="712470" y="158876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150620" y="1550668"/>
            <a:ext cx="2495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Comprehensive AI/ML Stack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79120" y="2026918"/>
            <a:ext cx="53149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Amazon Bedrock provides unified access to Claude 3 Sonnet and Titan Embeddings, eliminating the need for multiple AI providers. Textract, Comprehend, Transcribe, Polly, and Translate complete the AI ecosystem.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176010" y="1261110"/>
            <a:ext cx="5627370" cy="1703070"/>
          </a:xfrm>
          <a:custGeom>
            <a:avLst/>
            <a:gdLst/>
            <a:ahLst/>
            <a:cxnLst/>
            <a:rect l="l" t="t" r="r" b="b"/>
            <a:pathLst>
              <a:path w="5627370" h="1703070">
                <a:moveTo>
                  <a:pt x="152408" y="0"/>
                </a:moveTo>
                <a:lnTo>
                  <a:pt x="5474962" y="0"/>
                </a:lnTo>
                <a:cubicBezTo>
                  <a:pt x="5559135" y="0"/>
                  <a:pt x="5627370" y="68235"/>
                  <a:pt x="5627370" y="152408"/>
                </a:cubicBezTo>
                <a:lnTo>
                  <a:pt x="5627370" y="1550662"/>
                </a:lnTo>
                <a:cubicBezTo>
                  <a:pt x="5627370" y="1634835"/>
                  <a:pt x="5559135" y="1703070"/>
                  <a:pt x="5474962" y="1703070"/>
                </a:cubicBezTo>
                <a:lnTo>
                  <a:pt x="152408" y="1703070"/>
                </a:lnTo>
                <a:cubicBezTo>
                  <a:pt x="68235" y="1703070"/>
                  <a:pt x="0" y="1634835"/>
                  <a:pt x="0" y="1550662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232F3E">
              <a:alpha val="70196"/>
            </a:srgbClr>
          </a:solidFill>
          <a:ln w="10160">
            <a:solidFill>
              <a:srgbClr val="00A8E1">
                <a:alpha val="30196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70320" y="14554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A8E1"/>
              </a:gs>
              <a:gs pos="100000">
                <a:srgbClr val="00A8E1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14" name="Shape 11"/>
          <p:cNvSpPr/>
          <p:nvPr/>
        </p:nvSpPr>
        <p:spPr>
          <a:xfrm>
            <a:off x="6515576" y="1588768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62508" y="11906"/>
                </a:moveTo>
                <a:lnTo>
                  <a:pt x="8930" y="11906"/>
                </a:lnTo>
                <a:cubicBezTo>
                  <a:pt x="3981" y="11906"/>
                  <a:pt x="0" y="15887"/>
                  <a:pt x="0" y="20836"/>
                </a:cubicBezTo>
                <a:lnTo>
                  <a:pt x="0" y="74414"/>
                </a:lnTo>
                <a:cubicBezTo>
                  <a:pt x="0" y="78023"/>
                  <a:pt x="2158" y="81297"/>
                  <a:pt x="5507" y="82674"/>
                </a:cubicBezTo>
                <a:cubicBezTo>
                  <a:pt x="8855" y="84051"/>
                  <a:pt x="12688" y="83269"/>
                  <a:pt x="15255" y="80739"/>
                </a:cubicBezTo>
                <a:lnTo>
                  <a:pt x="30138" y="65856"/>
                </a:lnTo>
                <a:lnTo>
                  <a:pt x="59531" y="95250"/>
                </a:lnTo>
                <a:lnTo>
                  <a:pt x="30138" y="124644"/>
                </a:lnTo>
                <a:lnTo>
                  <a:pt x="15255" y="109761"/>
                </a:lnTo>
                <a:cubicBezTo>
                  <a:pt x="12688" y="107193"/>
                  <a:pt x="8855" y="106449"/>
                  <a:pt x="5507" y="107826"/>
                </a:cubicBezTo>
                <a:cubicBezTo>
                  <a:pt x="2158" y="109203"/>
                  <a:pt x="0" y="112477"/>
                  <a:pt x="0" y="116086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lnTo>
                  <a:pt x="62508" y="178594"/>
                </a:lnTo>
                <a:cubicBezTo>
                  <a:pt x="66117" y="178594"/>
                  <a:pt x="69391" y="176436"/>
                  <a:pt x="70768" y="173087"/>
                </a:cubicBezTo>
                <a:cubicBezTo>
                  <a:pt x="72144" y="169738"/>
                  <a:pt x="71400" y="165906"/>
                  <a:pt x="68833" y="163339"/>
                </a:cubicBezTo>
                <a:lnTo>
                  <a:pt x="53950" y="148456"/>
                </a:lnTo>
                <a:lnTo>
                  <a:pt x="83344" y="119063"/>
                </a:lnTo>
                <a:lnTo>
                  <a:pt x="112737" y="148456"/>
                </a:lnTo>
                <a:lnTo>
                  <a:pt x="97854" y="163339"/>
                </a:lnTo>
                <a:cubicBezTo>
                  <a:pt x="95287" y="165906"/>
                  <a:pt x="94543" y="169738"/>
                  <a:pt x="95920" y="173087"/>
                </a:cubicBezTo>
                <a:cubicBezTo>
                  <a:pt x="97296" y="176436"/>
                  <a:pt x="100571" y="178594"/>
                  <a:pt x="104180" y="178594"/>
                </a:cubicBezTo>
                <a:lnTo>
                  <a:pt x="157758" y="178594"/>
                </a:lnTo>
                <a:cubicBezTo>
                  <a:pt x="162706" y="178594"/>
                  <a:pt x="166688" y="174613"/>
                  <a:pt x="166688" y="169664"/>
                </a:cubicBezTo>
                <a:lnTo>
                  <a:pt x="166688" y="116086"/>
                </a:lnTo>
                <a:cubicBezTo>
                  <a:pt x="166688" y="112477"/>
                  <a:pt x="164529" y="109203"/>
                  <a:pt x="161181" y="107826"/>
                </a:cubicBezTo>
                <a:cubicBezTo>
                  <a:pt x="157832" y="106449"/>
                  <a:pt x="154000" y="107193"/>
                  <a:pt x="151433" y="109761"/>
                </a:cubicBezTo>
                <a:lnTo>
                  <a:pt x="136550" y="124644"/>
                </a:lnTo>
                <a:lnTo>
                  <a:pt x="107156" y="95250"/>
                </a:lnTo>
                <a:lnTo>
                  <a:pt x="136550" y="65856"/>
                </a:lnTo>
                <a:lnTo>
                  <a:pt x="151433" y="80739"/>
                </a:lnTo>
                <a:cubicBezTo>
                  <a:pt x="154000" y="83307"/>
                  <a:pt x="157832" y="84051"/>
                  <a:pt x="161181" y="82674"/>
                </a:cubicBezTo>
                <a:cubicBezTo>
                  <a:pt x="164529" y="81297"/>
                  <a:pt x="166688" y="78023"/>
                  <a:pt x="166688" y="74414"/>
                </a:cubicBezTo>
                <a:lnTo>
                  <a:pt x="166688" y="20836"/>
                </a:lnTo>
                <a:cubicBezTo>
                  <a:pt x="166688" y="15887"/>
                  <a:pt x="162706" y="11906"/>
                  <a:pt x="157758" y="11906"/>
                </a:cubicBezTo>
                <a:lnTo>
                  <a:pt x="104180" y="11906"/>
                </a:lnTo>
                <a:cubicBezTo>
                  <a:pt x="100571" y="11906"/>
                  <a:pt x="97296" y="14064"/>
                  <a:pt x="95920" y="17413"/>
                </a:cubicBezTo>
                <a:cubicBezTo>
                  <a:pt x="94543" y="20762"/>
                  <a:pt x="95324" y="24594"/>
                  <a:pt x="97854" y="27161"/>
                </a:cubicBezTo>
                <a:lnTo>
                  <a:pt x="112737" y="42044"/>
                </a:lnTo>
                <a:lnTo>
                  <a:pt x="83344" y="71438"/>
                </a:lnTo>
                <a:lnTo>
                  <a:pt x="53950" y="42044"/>
                </a:lnTo>
                <a:lnTo>
                  <a:pt x="68833" y="27161"/>
                </a:lnTo>
                <a:cubicBezTo>
                  <a:pt x="71400" y="24594"/>
                  <a:pt x="72144" y="20762"/>
                  <a:pt x="70768" y="17413"/>
                </a:cubicBezTo>
                <a:cubicBezTo>
                  <a:pt x="69391" y="14064"/>
                  <a:pt x="66117" y="11906"/>
                  <a:pt x="62508" y="1190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6941820" y="1550668"/>
            <a:ext cx="1885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Serverless Scalability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370320" y="2026918"/>
            <a:ext cx="53149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AWS Lambda auto-scales from 0 to 10,000+ concurrent users instantly. API Gateway handles millions of requests with built-in throttling and caching. Pay only for what you use.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84810" y="3124206"/>
            <a:ext cx="5627370" cy="1703070"/>
          </a:xfrm>
          <a:custGeom>
            <a:avLst/>
            <a:gdLst/>
            <a:ahLst/>
            <a:cxnLst/>
            <a:rect l="l" t="t" r="r" b="b"/>
            <a:pathLst>
              <a:path w="5627370" h="1703070">
                <a:moveTo>
                  <a:pt x="152408" y="0"/>
                </a:moveTo>
                <a:lnTo>
                  <a:pt x="5474962" y="0"/>
                </a:lnTo>
                <a:cubicBezTo>
                  <a:pt x="5559135" y="0"/>
                  <a:pt x="5627370" y="68235"/>
                  <a:pt x="5627370" y="152408"/>
                </a:cubicBezTo>
                <a:lnTo>
                  <a:pt x="5627370" y="1550662"/>
                </a:lnTo>
                <a:cubicBezTo>
                  <a:pt x="5627370" y="1634835"/>
                  <a:pt x="5559135" y="1703070"/>
                  <a:pt x="5474962" y="1703070"/>
                </a:cubicBezTo>
                <a:lnTo>
                  <a:pt x="152408" y="1703070"/>
                </a:lnTo>
                <a:cubicBezTo>
                  <a:pt x="68235" y="1703070"/>
                  <a:pt x="0" y="1634835"/>
                  <a:pt x="0" y="1550662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232F3E">
              <a:alpha val="70196"/>
            </a:srgbClr>
          </a:solidFill>
          <a:ln w="10160">
            <a:solidFill>
              <a:srgbClr val="FF9900">
                <a:alpha val="30196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79120" y="331851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9900"/>
              </a:gs>
              <a:gs pos="100000">
                <a:srgbClr val="FF9900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19" name="Shape 16"/>
          <p:cNvSpPr/>
          <p:nvPr/>
        </p:nvSpPr>
        <p:spPr>
          <a:xfrm>
            <a:off x="712470" y="345186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1150620" y="3413764"/>
            <a:ext cx="1695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Enterprise Security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79120" y="3890014"/>
            <a:ext cx="53149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AWS KMS provides encryption at rest, Cognito handles authentication with MFA support, WAF protects against attacks, and comprehensive audit logging ensures DPDPA 2023 compliance.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176010" y="3124206"/>
            <a:ext cx="5627370" cy="1703070"/>
          </a:xfrm>
          <a:custGeom>
            <a:avLst/>
            <a:gdLst/>
            <a:ahLst/>
            <a:cxnLst/>
            <a:rect l="l" t="t" r="r" b="b"/>
            <a:pathLst>
              <a:path w="5627370" h="1703070">
                <a:moveTo>
                  <a:pt x="152408" y="0"/>
                </a:moveTo>
                <a:lnTo>
                  <a:pt x="5474962" y="0"/>
                </a:lnTo>
                <a:cubicBezTo>
                  <a:pt x="5559135" y="0"/>
                  <a:pt x="5627370" y="68235"/>
                  <a:pt x="5627370" y="152408"/>
                </a:cubicBezTo>
                <a:lnTo>
                  <a:pt x="5627370" y="1550662"/>
                </a:lnTo>
                <a:cubicBezTo>
                  <a:pt x="5627370" y="1634835"/>
                  <a:pt x="5559135" y="1703070"/>
                  <a:pt x="5474962" y="1703070"/>
                </a:cubicBezTo>
                <a:lnTo>
                  <a:pt x="152408" y="1703070"/>
                </a:lnTo>
                <a:cubicBezTo>
                  <a:pt x="68235" y="1703070"/>
                  <a:pt x="0" y="1634835"/>
                  <a:pt x="0" y="1550662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232F3E">
              <a:alpha val="70196"/>
            </a:srgbClr>
          </a:solidFill>
          <a:ln w="10160">
            <a:solidFill>
              <a:srgbClr val="00A8E1">
                <a:alpha val="30196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70320" y="331851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A8E1"/>
              </a:gs>
              <a:gs pos="100000">
                <a:srgbClr val="00A8E1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24" name="Shape 21"/>
          <p:cNvSpPr/>
          <p:nvPr/>
        </p:nvSpPr>
        <p:spPr>
          <a:xfrm>
            <a:off x="6503670" y="345186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604" y="105966"/>
                </a:moveTo>
                <a:cubicBezTo>
                  <a:pt x="20166" y="106747"/>
                  <a:pt x="21952" y="107156"/>
                  <a:pt x="23812" y="107156"/>
                </a:cubicBezTo>
                <a:lnTo>
                  <a:pt x="42676" y="107156"/>
                </a:lnTo>
                <a:cubicBezTo>
                  <a:pt x="45839" y="107156"/>
                  <a:pt x="48853" y="108421"/>
                  <a:pt x="51085" y="110654"/>
                </a:cubicBezTo>
                <a:lnTo>
                  <a:pt x="56034" y="115602"/>
                </a:lnTo>
                <a:cubicBezTo>
                  <a:pt x="58266" y="117835"/>
                  <a:pt x="61280" y="119100"/>
                  <a:pt x="64443" y="119100"/>
                </a:cubicBezTo>
                <a:lnTo>
                  <a:pt x="71400" y="119100"/>
                </a:lnTo>
                <a:cubicBezTo>
                  <a:pt x="77986" y="119100"/>
                  <a:pt x="83307" y="113779"/>
                  <a:pt x="83307" y="107193"/>
                </a:cubicBezTo>
                <a:lnTo>
                  <a:pt x="83307" y="92311"/>
                </a:lnTo>
                <a:cubicBezTo>
                  <a:pt x="83307" y="87362"/>
                  <a:pt x="87288" y="83381"/>
                  <a:pt x="92236" y="83381"/>
                </a:cubicBezTo>
                <a:cubicBezTo>
                  <a:pt x="97185" y="83381"/>
                  <a:pt x="101166" y="79400"/>
                  <a:pt x="101166" y="74451"/>
                </a:cubicBezTo>
                <a:lnTo>
                  <a:pt x="101166" y="58564"/>
                </a:lnTo>
                <a:cubicBezTo>
                  <a:pt x="101166" y="55401"/>
                  <a:pt x="102431" y="52387"/>
                  <a:pt x="104663" y="50155"/>
                </a:cubicBezTo>
                <a:lnTo>
                  <a:pt x="109612" y="45207"/>
                </a:lnTo>
                <a:cubicBezTo>
                  <a:pt x="111844" y="42974"/>
                  <a:pt x="113109" y="39960"/>
                  <a:pt x="113109" y="36798"/>
                </a:cubicBezTo>
                <a:lnTo>
                  <a:pt x="113109" y="21208"/>
                </a:lnTo>
                <a:cubicBezTo>
                  <a:pt x="113109" y="20762"/>
                  <a:pt x="113072" y="20352"/>
                  <a:pt x="113035" y="19906"/>
                </a:cubicBezTo>
                <a:cubicBezTo>
                  <a:pt x="107305" y="18566"/>
                  <a:pt x="101352" y="17859"/>
                  <a:pt x="95250" y="17859"/>
                </a:cubicBezTo>
                <a:cubicBezTo>
                  <a:pt x="52499" y="17859"/>
                  <a:pt x="17859" y="52499"/>
                  <a:pt x="17859" y="95250"/>
                </a:cubicBezTo>
                <a:cubicBezTo>
                  <a:pt x="17859" y="98896"/>
                  <a:pt x="18120" y="102468"/>
                  <a:pt x="18604" y="105966"/>
                </a:cubicBezTo>
                <a:close/>
                <a:moveTo>
                  <a:pt x="168659" y="119844"/>
                </a:moveTo>
                <a:cubicBezTo>
                  <a:pt x="167469" y="119323"/>
                  <a:pt x="166167" y="119063"/>
                  <a:pt x="164753" y="119063"/>
                </a:cubicBezTo>
                <a:lnTo>
                  <a:pt x="160734" y="119063"/>
                </a:lnTo>
                <a:cubicBezTo>
                  <a:pt x="157460" y="119063"/>
                  <a:pt x="154781" y="116384"/>
                  <a:pt x="154781" y="113109"/>
                </a:cubicBezTo>
                <a:cubicBezTo>
                  <a:pt x="154781" y="109835"/>
                  <a:pt x="152102" y="107156"/>
                  <a:pt x="148828" y="107156"/>
                </a:cubicBezTo>
                <a:lnTo>
                  <a:pt x="135917" y="107156"/>
                </a:lnTo>
                <a:cubicBezTo>
                  <a:pt x="132755" y="107156"/>
                  <a:pt x="129741" y="108421"/>
                  <a:pt x="127508" y="110654"/>
                </a:cubicBezTo>
                <a:lnTo>
                  <a:pt x="110654" y="127508"/>
                </a:lnTo>
                <a:cubicBezTo>
                  <a:pt x="108421" y="129741"/>
                  <a:pt x="107156" y="132755"/>
                  <a:pt x="107156" y="135917"/>
                </a:cubicBezTo>
                <a:lnTo>
                  <a:pt x="107156" y="142875"/>
                </a:lnTo>
                <a:cubicBezTo>
                  <a:pt x="107156" y="149461"/>
                  <a:pt x="112477" y="154781"/>
                  <a:pt x="119063" y="154781"/>
                </a:cubicBezTo>
                <a:lnTo>
                  <a:pt x="126020" y="154781"/>
                </a:lnTo>
                <a:cubicBezTo>
                  <a:pt x="129183" y="154781"/>
                  <a:pt x="132197" y="156046"/>
                  <a:pt x="134429" y="158279"/>
                </a:cubicBezTo>
                <a:cubicBezTo>
                  <a:pt x="135248" y="159097"/>
                  <a:pt x="136178" y="159804"/>
                  <a:pt x="137145" y="160325"/>
                </a:cubicBezTo>
                <a:cubicBezTo>
                  <a:pt x="151767" y="150875"/>
                  <a:pt x="163004" y="136661"/>
                  <a:pt x="168622" y="119844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47625" y="136922"/>
                </a:moveTo>
                <a:cubicBezTo>
                  <a:pt x="47625" y="140196"/>
                  <a:pt x="50304" y="142875"/>
                  <a:pt x="53578" y="142875"/>
                </a:cubicBezTo>
                <a:lnTo>
                  <a:pt x="65484" y="142875"/>
                </a:lnTo>
                <a:cubicBezTo>
                  <a:pt x="68759" y="142875"/>
                  <a:pt x="71438" y="140196"/>
                  <a:pt x="71438" y="136922"/>
                </a:cubicBezTo>
                <a:cubicBezTo>
                  <a:pt x="71438" y="133648"/>
                  <a:pt x="68759" y="130969"/>
                  <a:pt x="65484" y="130969"/>
                </a:cubicBezTo>
                <a:lnTo>
                  <a:pt x="53578" y="130969"/>
                </a:lnTo>
                <a:cubicBezTo>
                  <a:pt x="50304" y="130969"/>
                  <a:pt x="47625" y="133648"/>
                  <a:pt x="47625" y="136922"/>
                </a:cubicBezTo>
                <a:close/>
                <a:moveTo>
                  <a:pt x="101203" y="95250"/>
                </a:moveTo>
                <a:cubicBezTo>
                  <a:pt x="97929" y="95250"/>
                  <a:pt x="95250" y="97929"/>
                  <a:pt x="95250" y="101203"/>
                </a:cubicBezTo>
                <a:lnTo>
                  <a:pt x="95250" y="113109"/>
                </a:lnTo>
                <a:cubicBezTo>
                  <a:pt x="95250" y="116384"/>
                  <a:pt x="97929" y="119063"/>
                  <a:pt x="101203" y="119063"/>
                </a:cubicBezTo>
                <a:cubicBezTo>
                  <a:pt x="104477" y="119063"/>
                  <a:pt x="107156" y="116384"/>
                  <a:pt x="107156" y="113109"/>
                </a:cubicBezTo>
                <a:lnTo>
                  <a:pt x="107156" y="101203"/>
                </a:lnTo>
                <a:cubicBezTo>
                  <a:pt x="107156" y="97929"/>
                  <a:pt x="104477" y="95250"/>
                  <a:pt x="101203" y="95250"/>
                </a:cubicBezTo>
                <a:close/>
                <a:moveTo>
                  <a:pt x="119063" y="53578"/>
                </a:moveTo>
                <a:lnTo>
                  <a:pt x="119063" y="65484"/>
                </a:lnTo>
                <a:cubicBezTo>
                  <a:pt x="119063" y="68759"/>
                  <a:pt x="121741" y="71438"/>
                  <a:pt x="125016" y="71438"/>
                </a:cubicBezTo>
                <a:cubicBezTo>
                  <a:pt x="128290" y="71438"/>
                  <a:pt x="130969" y="68759"/>
                  <a:pt x="130969" y="65484"/>
                </a:cubicBezTo>
                <a:lnTo>
                  <a:pt x="130969" y="53578"/>
                </a:lnTo>
                <a:cubicBezTo>
                  <a:pt x="130969" y="50304"/>
                  <a:pt x="128290" y="47625"/>
                  <a:pt x="125016" y="47625"/>
                </a:cubicBezTo>
                <a:cubicBezTo>
                  <a:pt x="121741" y="47625"/>
                  <a:pt x="119063" y="50304"/>
                  <a:pt x="119063" y="5357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2"/>
          <p:cNvSpPr/>
          <p:nvPr/>
        </p:nvSpPr>
        <p:spPr>
          <a:xfrm>
            <a:off x="6941820" y="3413764"/>
            <a:ext cx="2143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Multi-Region Availability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370320" y="3890014"/>
            <a:ext cx="53149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 across Mumbai, Hyderabad, and other regions for low-latency access. CloudFront CDN delivers content from 450+ edge locations. 99.9% uptime SLA with multi-AZ redundancy.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384810" y="4987292"/>
            <a:ext cx="5627370" cy="1703070"/>
          </a:xfrm>
          <a:custGeom>
            <a:avLst/>
            <a:gdLst/>
            <a:ahLst/>
            <a:cxnLst/>
            <a:rect l="l" t="t" r="r" b="b"/>
            <a:pathLst>
              <a:path w="5627370" h="1703070">
                <a:moveTo>
                  <a:pt x="152408" y="0"/>
                </a:moveTo>
                <a:lnTo>
                  <a:pt x="5474962" y="0"/>
                </a:lnTo>
                <a:cubicBezTo>
                  <a:pt x="5559135" y="0"/>
                  <a:pt x="5627370" y="68235"/>
                  <a:pt x="5627370" y="152408"/>
                </a:cubicBezTo>
                <a:lnTo>
                  <a:pt x="5627370" y="1550662"/>
                </a:lnTo>
                <a:cubicBezTo>
                  <a:pt x="5627370" y="1634835"/>
                  <a:pt x="5559135" y="1703070"/>
                  <a:pt x="5474962" y="1703070"/>
                </a:cubicBezTo>
                <a:lnTo>
                  <a:pt x="152408" y="1703070"/>
                </a:lnTo>
                <a:cubicBezTo>
                  <a:pt x="68235" y="1703070"/>
                  <a:pt x="0" y="1634835"/>
                  <a:pt x="0" y="1550662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232F3E">
              <a:alpha val="70196"/>
            </a:srgbClr>
          </a:solidFill>
          <a:ln w="10160">
            <a:solidFill>
              <a:srgbClr val="FF9900">
                <a:alpha val="30196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79120" y="5181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9900"/>
              </a:gs>
              <a:gs pos="100000">
                <a:srgbClr val="FF9900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29" name="Shape 26"/>
          <p:cNvSpPr/>
          <p:nvPr/>
        </p:nvSpPr>
        <p:spPr>
          <a:xfrm>
            <a:off x="724376" y="53149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0" y="23812"/>
                </a:moveTo>
                <a:cubicBezTo>
                  <a:pt x="0" y="17227"/>
                  <a:pt x="5321" y="11906"/>
                  <a:pt x="11906" y="11906"/>
                </a:cubicBezTo>
                <a:lnTo>
                  <a:pt x="41672" y="11906"/>
                </a:lnTo>
                <a:cubicBezTo>
                  <a:pt x="71251" y="11906"/>
                  <a:pt x="95250" y="35905"/>
                  <a:pt x="95250" y="65484"/>
                </a:cubicBezTo>
                <a:cubicBezTo>
                  <a:pt x="95250" y="85688"/>
                  <a:pt x="84088" y="103250"/>
                  <a:pt x="67568" y="112402"/>
                </a:cubicBezTo>
                <a:lnTo>
                  <a:pt x="82823" y="163264"/>
                </a:lnTo>
                <a:cubicBezTo>
                  <a:pt x="84720" y="169552"/>
                  <a:pt x="81149" y="176213"/>
                  <a:pt x="74823" y="178073"/>
                </a:cubicBezTo>
                <a:cubicBezTo>
                  <a:pt x="68498" y="179933"/>
                  <a:pt x="61875" y="176399"/>
                  <a:pt x="60015" y="170073"/>
                </a:cubicBezTo>
                <a:lnTo>
                  <a:pt x="44686" y="118988"/>
                </a:lnTo>
                <a:cubicBezTo>
                  <a:pt x="43681" y="119025"/>
                  <a:pt x="42676" y="119063"/>
                  <a:pt x="41672" y="119063"/>
                </a:cubicBezTo>
                <a:lnTo>
                  <a:pt x="23812" y="119063"/>
                </a:lnTo>
                <a:lnTo>
                  <a:pt x="23812" y="166688"/>
                </a:lnTo>
                <a:cubicBezTo>
                  <a:pt x="23812" y="173273"/>
                  <a:pt x="18492" y="178594"/>
                  <a:pt x="11906" y="178594"/>
                </a:cubicBezTo>
                <a:cubicBezTo>
                  <a:pt x="5321" y="178594"/>
                  <a:pt x="0" y="173273"/>
                  <a:pt x="0" y="166688"/>
                </a:cubicBezTo>
                <a:lnTo>
                  <a:pt x="0" y="23812"/>
                </a:lnTo>
                <a:close/>
                <a:moveTo>
                  <a:pt x="23812" y="95250"/>
                </a:moveTo>
                <a:lnTo>
                  <a:pt x="41672" y="95250"/>
                </a:lnTo>
                <a:cubicBezTo>
                  <a:pt x="58117" y="95250"/>
                  <a:pt x="71438" y="81930"/>
                  <a:pt x="71438" y="65484"/>
                </a:cubicBezTo>
                <a:cubicBezTo>
                  <a:pt x="71438" y="49039"/>
                  <a:pt x="58117" y="35719"/>
                  <a:pt x="41672" y="35719"/>
                </a:cubicBezTo>
                <a:lnTo>
                  <a:pt x="23812" y="35719"/>
                </a:lnTo>
                <a:lnTo>
                  <a:pt x="23812" y="95250"/>
                </a:lnTo>
                <a:close/>
                <a:moveTo>
                  <a:pt x="129890" y="83344"/>
                </a:moveTo>
                <a:lnTo>
                  <a:pt x="142875" y="83344"/>
                </a:lnTo>
                <a:cubicBezTo>
                  <a:pt x="149461" y="83344"/>
                  <a:pt x="154781" y="88664"/>
                  <a:pt x="154781" y="95250"/>
                </a:cubicBezTo>
                <a:cubicBezTo>
                  <a:pt x="154781" y="101836"/>
                  <a:pt x="149461" y="107156"/>
                  <a:pt x="142875" y="107156"/>
                </a:cubicBezTo>
                <a:lnTo>
                  <a:pt x="129890" y="107156"/>
                </a:lnTo>
                <a:cubicBezTo>
                  <a:pt x="127211" y="107156"/>
                  <a:pt x="125016" y="109351"/>
                  <a:pt x="125016" y="112030"/>
                </a:cubicBezTo>
                <a:cubicBezTo>
                  <a:pt x="125016" y="114151"/>
                  <a:pt x="126392" y="116012"/>
                  <a:pt x="128401" y="116681"/>
                </a:cubicBezTo>
                <a:lnTo>
                  <a:pt x="146782" y="122597"/>
                </a:lnTo>
                <a:cubicBezTo>
                  <a:pt x="158651" y="126429"/>
                  <a:pt x="166688" y="137443"/>
                  <a:pt x="166688" y="149907"/>
                </a:cubicBezTo>
                <a:cubicBezTo>
                  <a:pt x="166688" y="165757"/>
                  <a:pt x="153851" y="178594"/>
                  <a:pt x="138001" y="178594"/>
                </a:cubicBezTo>
                <a:lnTo>
                  <a:pt x="119063" y="178594"/>
                </a:lnTo>
                <a:cubicBezTo>
                  <a:pt x="112477" y="178594"/>
                  <a:pt x="107156" y="173273"/>
                  <a:pt x="107156" y="166688"/>
                </a:cubicBezTo>
                <a:cubicBezTo>
                  <a:pt x="107156" y="160102"/>
                  <a:pt x="112477" y="154781"/>
                  <a:pt x="119063" y="154781"/>
                </a:cubicBezTo>
                <a:lnTo>
                  <a:pt x="138001" y="154781"/>
                </a:lnTo>
                <a:cubicBezTo>
                  <a:pt x="140680" y="154781"/>
                  <a:pt x="142875" y="152586"/>
                  <a:pt x="142875" y="149907"/>
                </a:cubicBezTo>
                <a:cubicBezTo>
                  <a:pt x="142875" y="147786"/>
                  <a:pt x="141498" y="145926"/>
                  <a:pt x="139489" y="145256"/>
                </a:cubicBezTo>
                <a:lnTo>
                  <a:pt x="121109" y="139340"/>
                </a:lnTo>
                <a:cubicBezTo>
                  <a:pt x="109240" y="135508"/>
                  <a:pt x="101203" y="124495"/>
                  <a:pt x="101203" y="112030"/>
                </a:cubicBezTo>
                <a:cubicBezTo>
                  <a:pt x="101203" y="96180"/>
                  <a:pt x="114040" y="83344"/>
                  <a:pt x="129890" y="8334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Text 27"/>
          <p:cNvSpPr/>
          <p:nvPr/>
        </p:nvSpPr>
        <p:spPr>
          <a:xfrm>
            <a:off x="1150620" y="5276850"/>
            <a:ext cx="1895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Cost-Effective Model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79120" y="5753100"/>
            <a:ext cx="53149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Pay-per-use pricing aligns costs with actual usage. Reserved capacity for predictable workloads. Free tier for development and testing. Estimated monthly cost: ₹2-3 lakhs for 10K users.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176010" y="4987292"/>
            <a:ext cx="5627370" cy="1703070"/>
          </a:xfrm>
          <a:custGeom>
            <a:avLst/>
            <a:gdLst/>
            <a:ahLst/>
            <a:cxnLst/>
            <a:rect l="l" t="t" r="r" b="b"/>
            <a:pathLst>
              <a:path w="5627370" h="1703070">
                <a:moveTo>
                  <a:pt x="152408" y="0"/>
                </a:moveTo>
                <a:lnTo>
                  <a:pt x="5474962" y="0"/>
                </a:lnTo>
                <a:cubicBezTo>
                  <a:pt x="5559135" y="0"/>
                  <a:pt x="5627370" y="68235"/>
                  <a:pt x="5627370" y="152408"/>
                </a:cubicBezTo>
                <a:lnTo>
                  <a:pt x="5627370" y="1550662"/>
                </a:lnTo>
                <a:cubicBezTo>
                  <a:pt x="5627370" y="1634835"/>
                  <a:pt x="5559135" y="1703070"/>
                  <a:pt x="5474962" y="1703070"/>
                </a:cubicBezTo>
                <a:lnTo>
                  <a:pt x="152408" y="1703070"/>
                </a:lnTo>
                <a:cubicBezTo>
                  <a:pt x="68235" y="1703070"/>
                  <a:pt x="0" y="1634835"/>
                  <a:pt x="0" y="1550662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232F3E">
              <a:alpha val="70196"/>
            </a:srgbClr>
          </a:solidFill>
          <a:ln w="10160">
            <a:solidFill>
              <a:srgbClr val="00A8E1">
                <a:alpha val="30196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370320" y="5181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A8E1"/>
              </a:gs>
              <a:gs pos="100000">
                <a:srgbClr val="00A8E1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34" name="Shape 31"/>
          <p:cNvSpPr/>
          <p:nvPr/>
        </p:nvSpPr>
        <p:spPr>
          <a:xfrm>
            <a:off x="6503670" y="53149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3344" y="0"/>
                </a:moveTo>
                <a:cubicBezTo>
                  <a:pt x="96478" y="0"/>
                  <a:pt x="107156" y="8000"/>
                  <a:pt x="107156" y="17859"/>
                </a:cubicBezTo>
                <a:cubicBezTo>
                  <a:pt x="107156" y="21729"/>
                  <a:pt x="105519" y="25301"/>
                  <a:pt x="102691" y="28240"/>
                </a:cubicBezTo>
                <a:cubicBezTo>
                  <a:pt x="100236" y="30807"/>
                  <a:pt x="98227" y="33933"/>
                  <a:pt x="98227" y="37505"/>
                </a:cubicBezTo>
                <a:cubicBezTo>
                  <a:pt x="98227" y="43086"/>
                  <a:pt x="102766" y="47625"/>
                  <a:pt x="108347" y="47625"/>
                </a:cubicBezTo>
                <a:lnTo>
                  <a:pt x="125016" y="47625"/>
                </a:lnTo>
                <a:cubicBezTo>
                  <a:pt x="134875" y="47625"/>
                  <a:pt x="142875" y="55625"/>
                  <a:pt x="142875" y="65484"/>
                </a:cubicBezTo>
                <a:lnTo>
                  <a:pt x="142875" y="82153"/>
                </a:lnTo>
                <a:cubicBezTo>
                  <a:pt x="142875" y="87734"/>
                  <a:pt x="147414" y="92273"/>
                  <a:pt x="152995" y="92273"/>
                </a:cubicBezTo>
                <a:cubicBezTo>
                  <a:pt x="156530" y="92273"/>
                  <a:pt x="159693" y="90264"/>
                  <a:pt x="162260" y="87809"/>
                </a:cubicBezTo>
                <a:cubicBezTo>
                  <a:pt x="165199" y="85018"/>
                  <a:pt x="168771" y="83344"/>
                  <a:pt x="172641" y="83344"/>
                </a:cubicBezTo>
                <a:cubicBezTo>
                  <a:pt x="182500" y="83344"/>
                  <a:pt x="190500" y="94022"/>
                  <a:pt x="190500" y="107156"/>
                </a:cubicBezTo>
                <a:cubicBezTo>
                  <a:pt x="190500" y="120290"/>
                  <a:pt x="182500" y="130969"/>
                  <a:pt x="172641" y="130969"/>
                </a:cubicBezTo>
                <a:cubicBezTo>
                  <a:pt x="168771" y="130969"/>
                  <a:pt x="165162" y="129332"/>
                  <a:pt x="162260" y="126504"/>
                </a:cubicBezTo>
                <a:cubicBezTo>
                  <a:pt x="159693" y="124048"/>
                  <a:pt x="156567" y="122039"/>
                  <a:pt x="152995" y="122039"/>
                </a:cubicBezTo>
                <a:cubicBezTo>
                  <a:pt x="147414" y="122039"/>
                  <a:pt x="142875" y="126578"/>
                  <a:pt x="142875" y="132159"/>
                </a:cubicBezTo>
                <a:lnTo>
                  <a:pt x="142875" y="172641"/>
                </a:lnTo>
                <a:cubicBezTo>
                  <a:pt x="142875" y="182500"/>
                  <a:pt x="134875" y="190500"/>
                  <a:pt x="125016" y="190500"/>
                </a:cubicBezTo>
                <a:lnTo>
                  <a:pt x="103882" y="190500"/>
                </a:lnTo>
                <a:cubicBezTo>
                  <a:pt x="99120" y="190500"/>
                  <a:pt x="95250" y="186630"/>
                  <a:pt x="95250" y="181868"/>
                </a:cubicBezTo>
                <a:cubicBezTo>
                  <a:pt x="95250" y="178445"/>
                  <a:pt x="97408" y="175431"/>
                  <a:pt x="100161" y="173385"/>
                </a:cubicBezTo>
                <a:cubicBezTo>
                  <a:pt x="104477" y="170148"/>
                  <a:pt x="107156" y="165683"/>
                  <a:pt x="107156" y="160734"/>
                </a:cubicBezTo>
                <a:cubicBezTo>
                  <a:pt x="107156" y="150875"/>
                  <a:pt x="96478" y="142875"/>
                  <a:pt x="83344" y="142875"/>
                </a:cubicBezTo>
                <a:cubicBezTo>
                  <a:pt x="70210" y="142875"/>
                  <a:pt x="59531" y="150875"/>
                  <a:pt x="59531" y="160734"/>
                </a:cubicBezTo>
                <a:cubicBezTo>
                  <a:pt x="59531" y="165683"/>
                  <a:pt x="62210" y="170148"/>
                  <a:pt x="66526" y="173385"/>
                </a:cubicBezTo>
                <a:cubicBezTo>
                  <a:pt x="69279" y="175431"/>
                  <a:pt x="71438" y="178408"/>
                  <a:pt x="71438" y="181868"/>
                </a:cubicBezTo>
                <a:cubicBezTo>
                  <a:pt x="71438" y="186630"/>
                  <a:pt x="67568" y="190500"/>
                  <a:pt x="62805" y="190500"/>
                </a:cubicBezTo>
                <a:lnTo>
                  <a:pt x="17859" y="190500"/>
                </a:lnTo>
                <a:cubicBezTo>
                  <a:pt x="8000" y="190500"/>
                  <a:pt x="0" y="182500"/>
                  <a:pt x="0" y="172641"/>
                </a:cubicBezTo>
                <a:lnTo>
                  <a:pt x="0" y="127695"/>
                </a:lnTo>
                <a:cubicBezTo>
                  <a:pt x="0" y="122932"/>
                  <a:pt x="3870" y="119063"/>
                  <a:pt x="8632" y="119063"/>
                </a:cubicBezTo>
                <a:cubicBezTo>
                  <a:pt x="12055" y="119063"/>
                  <a:pt x="15069" y="121221"/>
                  <a:pt x="17115" y="123974"/>
                </a:cubicBezTo>
                <a:cubicBezTo>
                  <a:pt x="20352" y="128290"/>
                  <a:pt x="24817" y="130969"/>
                  <a:pt x="29766" y="130969"/>
                </a:cubicBezTo>
                <a:cubicBezTo>
                  <a:pt x="39625" y="130969"/>
                  <a:pt x="47625" y="120290"/>
                  <a:pt x="47625" y="107156"/>
                </a:cubicBezTo>
                <a:cubicBezTo>
                  <a:pt x="47625" y="94022"/>
                  <a:pt x="39625" y="83344"/>
                  <a:pt x="29766" y="83344"/>
                </a:cubicBezTo>
                <a:cubicBezTo>
                  <a:pt x="24817" y="83344"/>
                  <a:pt x="20352" y="86023"/>
                  <a:pt x="17115" y="90339"/>
                </a:cubicBezTo>
                <a:cubicBezTo>
                  <a:pt x="15069" y="93092"/>
                  <a:pt x="12092" y="95250"/>
                  <a:pt x="8632" y="95250"/>
                </a:cubicBezTo>
                <a:cubicBezTo>
                  <a:pt x="3870" y="95250"/>
                  <a:pt x="0" y="91380"/>
                  <a:pt x="0" y="86618"/>
                </a:cubicBezTo>
                <a:lnTo>
                  <a:pt x="0" y="65484"/>
                </a:lnTo>
                <a:cubicBezTo>
                  <a:pt x="0" y="55625"/>
                  <a:pt x="8000" y="47625"/>
                  <a:pt x="17859" y="47625"/>
                </a:cubicBezTo>
                <a:lnTo>
                  <a:pt x="58341" y="47625"/>
                </a:lnTo>
                <a:cubicBezTo>
                  <a:pt x="63922" y="47625"/>
                  <a:pt x="68461" y="43086"/>
                  <a:pt x="68461" y="37505"/>
                </a:cubicBezTo>
                <a:cubicBezTo>
                  <a:pt x="68461" y="33970"/>
                  <a:pt x="66452" y="30807"/>
                  <a:pt x="63996" y="28240"/>
                </a:cubicBezTo>
                <a:cubicBezTo>
                  <a:pt x="61206" y="25301"/>
                  <a:pt x="59531" y="21729"/>
                  <a:pt x="59531" y="17859"/>
                </a:cubicBezTo>
                <a:cubicBezTo>
                  <a:pt x="59531" y="8000"/>
                  <a:pt x="70210" y="0"/>
                  <a:pt x="83344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5" name="Text 32"/>
          <p:cNvSpPr/>
          <p:nvPr/>
        </p:nvSpPr>
        <p:spPr>
          <a:xfrm>
            <a:off x="6941820" y="5276850"/>
            <a:ext cx="2286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200+ Services Ecosystem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370320" y="5753100"/>
            <a:ext cx="53149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Seamless integration between services. OpenSearch for vector search, DynamoDB for NoSQL, RDS for relational data, S3 for storage, and 195+ more services for future expansion.</a:t>
            </a:r>
            <a:endParaRPr lang="en-US" sz="16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EEDC983B-D777-5752-2721-484A0B131F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5784"/>
            <a:ext cx="12192000" cy="66300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etimg.etb2bimg.com/0f3f68ce4098590d902119f5aa1ff8f2b8c2b539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12500" b="1250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8626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F1419">
                  <a:alpha val="95000"/>
                </a:srgbClr>
              </a:gs>
              <a:gs pos="50000">
                <a:srgbClr val="232F3E">
                  <a:alpha val="90000"/>
                </a:srgbClr>
              </a:gs>
              <a:gs pos="100000">
                <a:srgbClr val="0F1419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6" name="Text 3"/>
          <p:cNvSpPr/>
          <p:nvPr/>
        </p:nvSpPr>
        <p:spPr>
          <a:xfrm>
            <a:off x="4942523" y="818201"/>
            <a:ext cx="2657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003119" y="1511619"/>
            <a:ext cx="41814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Empowering Bharat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Through AI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334000" y="2807019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19050" y="0"/>
                </a:moveTo>
                <a:lnTo>
                  <a:pt x="1504950" y="0"/>
                </a:lnTo>
                <a:cubicBezTo>
                  <a:pt x="1515464" y="0"/>
                  <a:pt x="1524000" y="8536"/>
                  <a:pt x="1524000" y="19050"/>
                </a:cubicBezTo>
                <a:lnTo>
                  <a:pt x="1524000" y="19050"/>
                </a:lnTo>
                <a:cubicBezTo>
                  <a:pt x="1524000" y="29564"/>
                  <a:pt x="1515464" y="38100"/>
                  <a:pt x="15049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9900"/>
              </a:gs>
              <a:gs pos="50000">
                <a:srgbClr val="00A8E1"/>
              </a:gs>
              <a:gs pos="100000">
                <a:srgbClr val="FF9900"/>
              </a:gs>
            </a:gsLst>
            <a:lin ang="0" scaled="1"/>
          </a:gradFill>
          <a:ln/>
        </p:spPr>
      </p:sp>
      <p:sp>
        <p:nvSpPr>
          <p:cNvPr id="9" name="Text 6"/>
          <p:cNvSpPr/>
          <p:nvPr/>
        </p:nvSpPr>
        <p:spPr>
          <a:xfrm>
            <a:off x="2381250" y="3073719"/>
            <a:ext cx="742950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0F2F5">
                    <a:alpha val="90000"/>
                  </a:srgbClr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Bharat Access Hub bridges the gap between citizens and government services,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0F2F5">
                    <a:alpha val="90000"/>
                  </a:srgbClr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one conversation at a time.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603189" y="4496754"/>
            <a:ext cx="1503045" cy="922020"/>
          </a:xfrm>
          <a:custGeom>
            <a:avLst/>
            <a:gdLst/>
            <a:ahLst/>
            <a:cxnLst/>
            <a:rect l="l" t="t" r="r" b="b"/>
            <a:pathLst>
              <a:path w="1503045" h="922020">
                <a:moveTo>
                  <a:pt x="114303" y="0"/>
                </a:moveTo>
                <a:lnTo>
                  <a:pt x="1388742" y="0"/>
                </a:lnTo>
                <a:cubicBezTo>
                  <a:pt x="1451870" y="0"/>
                  <a:pt x="1503045" y="51175"/>
                  <a:pt x="1503045" y="114303"/>
                </a:cubicBezTo>
                <a:lnTo>
                  <a:pt x="1503045" y="807717"/>
                </a:lnTo>
                <a:cubicBezTo>
                  <a:pt x="1503045" y="870845"/>
                  <a:pt x="1451870" y="922020"/>
                  <a:pt x="1388742" y="922020"/>
                </a:cubicBezTo>
                <a:lnTo>
                  <a:pt x="114303" y="922020"/>
                </a:lnTo>
                <a:cubicBezTo>
                  <a:pt x="51217" y="922020"/>
                  <a:pt x="0" y="870803"/>
                  <a:pt x="0" y="8077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232F3E">
              <a:alpha val="60000"/>
            </a:srgbClr>
          </a:solidFill>
          <a:ln w="10160">
            <a:solidFill>
              <a:srgbClr val="FF9900">
                <a:alpha val="30196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87961" y="4652963"/>
            <a:ext cx="1333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99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726061" y="5072063"/>
            <a:ext cx="1257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Indian Languages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343763" y="4496754"/>
            <a:ext cx="1503045" cy="922020"/>
          </a:xfrm>
          <a:custGeom>
            <a:avLst/>
            <a:gdLst/>
            <a:ahLst/>
            <a:cxnLst/>
            <a:rect l="l" t="t" r="r" b="b"/>
            <a:pathLst>
              <a:path w="1503045" h="922020">
                <a:moveTo>
                  <a:pt x="114303" y="0"/>
                </a:moveTo>
                <a:lnTo>
                  <a:pt x="1388742" y="0"/>
                </a:lnTo>
                <a:cubicBezTo>
                  <a:pt x="1451870" y="0"/>
                  <a:pt x="1503045" y="51175"/>
                  <a:pt x="1503045" y="114303"/>
                </a:cubicBezTo>
                <a:lnTo>
                  <a:pt x="1503045" y="807717"/>
                </a:lnTo>
                <a:cubicBezTo>
                  <a:pt x="1503045" y="870845"/>
                  <a:pt x="1451870" y="922020"/>
                  <a:pt x="1388742" y="922020"/>
                </a:cubicBezTo>
                <a:lnTo>
                  <a:pt x="114303" y="922020"/>
                </a:lnTo>
                <a:cubicBezTo>
                  <a:pt x="51217" y="922020"/>
                  <a:pt x="0" y="870803"/>
                  <a:pt x="0" y="8077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232F3E">
              <a:alpha val="60000"/>
            </a:srgbClr>
          </a:solidFill>
          <a:ln w="10160">
            <a:solidFill>
              <a:srgbClr val="00A8E1">
                <a:alpha val="30196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28536" y="4652963"/>
            <a:ext cx="1333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00A8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100+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466636" y="5072063"/>
            <a:ext cx="1257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Portal Integrations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084338" y="4496754"/>
            <a:ext cx="1503045" cy="922020"/>
          </a:xfrm>
          <a:custGeom>
            <a:avLst/>
            <a:gdLst/>
            <a:ahLst/>
            <a:cxnLst/>
            <a:rect l="l" t="t" r="r" b="b"/>
            <a:pathLst>
              <a:path w="1503045" h="922020">
                <a:moveTo>
                  <a:pt x="114303" y="0"/>
                </a:moveTo>
                <a:lnTo>
                  <a:pt x="1388742" y="0"/>
                </a:lnTo>
                <a:cubicBezTo>
                  <a:pt x="1451870" y="0"/>
                  <a:pt x="1503045" y="51175"/>
                  <a:pt x="1503045" y="114303"/>
                </a:cubicBezTo>
                <a:lnTo>
                  <a:pt x="1503045" y="807717"/>
                </a:lnTo>
                <a:cubicBezTo>
                  <a:pt x="1503045" y="870845"/>
                  <a:pt x="1451870" y="922020"/>
                  <a:pt x="1388742" y="922020"/>
                </a:cubicBezTo>
                <a:lnTo>
                  <a:pt x="114303" y="922020"/>
                </a:lnTo>
                <a:cubicBezTo>
                  <a:pt x="51217" y="922020"/>
                  <a:pt x="0" y="870803"/>
                  <a:pt x="0" y="8077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232F3E">
              <a:alpha val="60000"/>
            </a:srgbClr>
          </a:solidFill>
          <a:ln w="10160">
            <a:solidFill>
              <a:srgbClr val="FF9900">
                <a:alpha val="30196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69111" y="4652963"/>
            <a:ext cx="1333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99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₹50K Cr+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207211" y="5072063"/>
            <a:ext cx="1257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Benefits Unlocked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315301" y="5731191"/>
            <a:ext cx="1807845" cy="388620"/>
          </a:xfrm>
          <a:custGeom>
            <a:avLst/>
            <a:gdLst/>
            <a:ahLst/>
            <a:cxnLst/>
            <a:rect l="l" t="t" r="r" b="b"/>
            <a:pathLst>
              <a:path w="1807845" h="388620">
                <a:moveTo>
                  <a:pt x="76201" y="0"/>
                </a:moveTo>
                <a:lnTo>
                  <a:pt x="1731644" y="0"/>
                </a:lnTo>
                <a:cubicBezTo>
                  <a:pt x="1773729" y="0"/>
                  <a:pt x="1807845" y="34116"/>
                  <a:pt x="1807845" y="76201"/>
                </a:cubicBezTo>
                <a:lnTo>
                  <a:pt x="1807845" y="312419"/>
                </a:lnTo>
                <a:cubicBezTo>
                  <a:pt x="1807845" y="354504"/>
                  <a:pt x="1773729" y="388620"/>
                  <a:pt x="1731644" y="388620"/>
                </a:cubicBezTo>
                <a:lnTo>
                  <a:pt x="76201" y="388620"/>
                </a:lnTo>
                <a:cubicBezTo>
                  <a:pt x="34116" y="388620"/>
                  <a:pt x="0" y="354504"/>
                  <a:pt x="0" y="3124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 w="10160">
            <a:solidFill>
              <a:srgbClr val="FF9900">
                <a:alpha val="40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471511" y="5830258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67121" y="75530"/>
                </a:moveTo>
                <a:cubicBezTo>
                  <a:pt x="66861" y="83939"/>
                  <a:pt x="71065" y="87697"/>
                  <a:pt x="71177" y="90041"/>
                </a:cubicBezTo>
                <a:cubicBezTo>
                  <a:pt x="71140" y="90525"/>
                  <a:pt x="70954" y="90971"/>
                  <a:pt x="70693" y="91380"/>
                </a:cubicBezTo>
                <a:cubicBezTo>
                  <a:pt x="70433" y="91790"/>
                  <a:pt x="70061" y="92125"/>
                  <a:pt x="69652" y="92348"/>
                </a:cubicBezTo>
                <a:lnTo>
                  <a:pt x="64889" y="95696"/>
                </a:lnTo>
                <a:cubicBezTo>
                  <a:pt x="64257" y="96143"/>
                  <a:pt x="63550" y="96366"/>
                  <a:pt x="62805" y="96403"/>
                </a:cubicBezTo>
                <a:cubicBezTo>
                  <a:pt x="62657" y="96403"/>
                  <a:pt x="59754" y="97073"/>
                  <a:pt x="55178" y="86878"/>
                </a:cubicBezTo>
                <a:cubicBezTo>
                  <a:pt x="52387" y="90376"/>
                  <a:pt x="48853" y="93166"/>
                  <a:pt x="44797" y="95064"/>
                </a:cubicBezTo>
                <a:cubicBezTo>
                  <a:pt x="40742" y="96962"/>
                  <a:pt x="36351" y="97929"/>
                  <a:pt x="31886" y="97854"/>
                </a:cubicBezTo>
                <a:cubicBezTo>
                  <a:pt x="25822" y="98189"/>
                  <a:pt x="9413" y="94431"/>
                  <a:pt x="10269" y="76944"/>
                </a:cubicBezTo>
                <a:cubicBezTo>
                  <a:pt x="9674" y="62694"/>
                  <a:pt x="22957" y="53839"/>
                  <a:pt x="36649" y="54620"/>
                </a:cubicBezTo>
                <a:cubicBezTo>
                  <a:pt x="39291" y="54620"/>
                  <a:pt x="44686" y="54769"/>
                  <a:pt x="54136" y="56964"/>
                </a:cubicBezTo>
                <a:lnTo>
                  <a:pt x="54136" y="51160"/>
                </a:lnTo>
                <a:cubicBezTo>
                  <a:pt x="55141" y="41300"/>
                  <a:pt x="48667" y="33672"/>
                  <a:pt x="37467" y="34826"/>
                </a:cubicBezTo>
                <a:cubicBezTo>
                  <a:pt x="36575" y="34826"/>
                  <a:pt x="30249" y="34640"/>
                  <a:pt x="20427" y="38584"/>
                </a:cubicBezTo>
                <a:cubicBezTo>
                  <a:pt x="17673" y="39849"/>
                  <a:pt x="17338" y="39625"/>
                  <a:pt x="16408" y="39625"/>
                </a:cubicBezTo>
                <a:cubicBezTo>
                  <a:pt x="13655" y="39625"/>
                  <a:pt x="14771" y="31626"/>
                  <a:pt x="15329" y="30621"/>
                </a:cubicBezTo>
                <a:cubicBezTo>
                  <a:pt x="17264" y="28240"/>
                  <a:pt x="28687" y="23775"/>
                  <a:pt x="39849" y="23850"/>
                </a:cubicBezTo>
                <a:cubicBezTo>
                  <a:pt x="47327" y="23180"/>
                  <a:pt x="54769" y="25487"/>
                  <a:pt x="60573" y="30287"/>
                </a:cubicBezTo>
                <a:cubicBezTo>
                  <a:pt x="62917" y="32928"/>
                  <a:pt x="64740" y="36016"/>
                  <a:pt x="65856" y="39365"/>
                </a:cubicBezTo>
                <a:cubicBezTo>
                  <a:pt x="66973" y="42714"/>
                  <a:pt x="67419" y="46248"/>
                  <a:pt x="67159" y="49783"/>
                </a:cubicBezTo>
                <a:lnTo>
                  <a:pt x="67159" y="75567"/>
                </a:lnTo>
                <a:close/>
                <a:moveTo>
                  <a:pt x="34975" y="87585"/>
                </a:moveTo>
                <a:cubicBezTo>
                  <a:pt x="47030" y="87399"/>
                  <a:pt x="52164" y="80144"/>
                  <a:pt x="53318" y="76237"/>
                </a:cubicBezTo>
                <a:cubicBezTo>
                  <a:pt x="54248" y="72479"/>
                  <a:pt x="54099" y="70135"/>
                  <a:pt x="54099" y="66042"/>
                </a:cubicBezTo>
                <a:cubicBezTo>
                  <a:pt x="50490" y="65187"/>
                  <a:pt x="45318" y="64219"/>
                  <a:pt x="39365" y="64219"/>
                </a:cubicBezTo>
                <a:cubicBezTo>
                  <a:pt x="33710" y="63810"/>
                  <a:pt x="23440" y="66303"/>
                  <a:pt x="23850" y="76237"/>
                </a:cubicBezTo>
                <a:cubicBezTo>
                  <a:pt x="23403" y="82488"/>
                  <a:pt x="27980" y="87920"/>
                  <a:pt x="35012" y="87585"/>
                </a:cubicBezTo>
                <a:close/>
                <a:moveTo>
                  <a:pt x="98561" y="96180"/>
                </a:moveTo>
                <a:cubicBezTo>
                  <a:pt x="95622" y="96441"/>
                  <a:pt x="94283" y="94357"/>
                  <a:pt x="93836" y="92311"/>
                </a:cubicBezTo>
                <a:lnTo>
                  <a:pt x="75307" y="31031"/>
                </a:lnTo>
                <a:cubicBezTo>
                  <a:pt x="74935" y="29989"/>
                  <a:pt x="74712" y="28947"/>
                  <a:pt x="74600" y="27831"/>
                </a:cubicBezTo>
                <a:cubicBezTo>
                  <a:pt x="74526" y="27384"/>
                  <a:pt x="74637" y="26938"/>
                  <a:pt x="74898" y="26566"/>
                </a:cubicBezTo>
                <a:cubicBezTo>
                  <a:pt x="75158" y="26194"/>
                  <a:pt x="75567" y="25971"/>
                  <a:pt x="76014" y="25896"/>
                </a:cubicBezTo>
                <a:cubicBezTo>
                  <a:pt x="76088" y="25896"/>
                  <a:pt x="75233" y="25896"/>
                  <a:pt x="84274" y="25896"/>
                </a:cubicBezTo>
                <a:cubicBezTo>
                  <a:pt x="87548" y="25561"/>
                  <a:pt x="88590" y="28129"/>
                  <a:pt x="88962" y="29766"/>
                </a:cubicBezTo>
                <a:lnTo>
                  <a:pt x="102282" y="82153"/>
                </a:lnTo>
                <a:lnTo>
                  <a:pt x="114635" y="29766"/>
                </a:lnTo>
                <a:cubicBezTo>
                  <a:pt x="114821" y="28575"/>
                  <a:pt x="115714" y="25636"/>
                  <a:pt x="119397" y="25971"/>
                </a:cubicBezTo>
                <a:lnTo>
                  <a:pt x="125797" y="25971"/>
                </a:lnTo>
                <a:cubicBezTo>
                  <a:pt x="126616" y="25896"/>
                  <a:pt x="129927" y="25784"/>
                  <a:pt x="130522" y="29840"/>
                </a:cubicBezTo>
                <a:lnTo>
                  <a:pt x="142912" y="82860"/>
                </a:lnTo>
                <a:lnTo>
                  <a:pt x="156642" y="29803"/>
                </a:lnTo>
                <a:cubicBezTo>
                  <a:pt x="156828" y="28984"/>
                  <a:pt x="157646" y="25561"/>
                  <a:pt x="161367" y="25933"/>
                </a:cubicBezTo>
                <a:lnTo>
                  <a:pt x="168697" y="25933"/>
                </a:lnTo>
                <a:cubicBezTo>
                  <a:pt x="169032" y="25896"/>
                  <a:pt x="171004" y="25636"/>
                  <a:pt x="170669" y="29133"/>
                </a:cubicBezTo>
                <a:cubicBezTo>
                  <a:pt x="170520" y="29803"/>
                  <a:pt x="171934" y="25152"/>
                  <a:pt x="151023" y="92348"/>
                </a:cubicBezTo>
                <a:cubicBezTo>
                  <a:pt x="150614" y="94394"/>
                  <a:pt x="149237" y="96478"/>
                  <a:pt x="146298" y="96217"/>
                </a:cubicBezTo>
                <a:lnTo>
                  <a:pt x="139340" y="96217"/>
                </a:lnTo>
                <a:cubicBezTo>
                  <a:pt x="135285" y="96664"/>
                  <a:pt x="134689" y="92608"/>
                  <a:pt x="134615" y="92236"/>
                </a:cubicBezTo>
                <a:lnTo>
                  <a:pt x="122262" y="41225"/>
                </a:lnTo>
                <a:lnTo>
                  <a:pt x="110058" y="92199"/>
                </a:lnTo>
                <a:cubicBezTo>
                  <a:pt x="109984" y="92608"/>
                  <a:pt x="109426" y="96627"/>
                  <a:pt x="105333" y="96180"/>
                </a:cubicBezTo>
                <a:lnTo>
                  <a:pt x="98524" y="96180"/>
                </a:lnTo>
                <a:lnTo>
                  <a:pt x="98524" y="96180"/>
                </a:lnTo>
                <a:close/>
                <a:moveTo>
                  <a:pt x="200323" y="98264"/>
                </a:moveTo>
                <a:cubicBezTo>
                  <a:pt x="198127" y="98264"/>
                  <a:pt x="187709" y="98152"/>
                  <a:pt x="178966" y="93687"/>
                </a:cubicBezTo>
                <a:cubicBezTo>
                  <a:pt x="178110" y="93315"/>
                  <a:pt x="177366" y="92720"/>
                  <a:pt x="176845" y="91901"/>
                </a:cubicBezTo>
                <a:cubicBezTo>
                  <a:pt x="176324" y="91083"/>
                  <a:pt x="176064" y="90190"/>
                  <a:pt x="176064" y="89260"/>
                </a:cubicBezTo>
                <a:lnTo>
                  <a:pt x="176064" y="85279"/>
                </a:lnTo>
                <a:cubicBezTo>
                  <a:pt x="176064" y="82116"/>
                  <a:pt x="178371" y="82711"/>
                  <a:pt x="179338" y="83083"/>
                </a:cubicBezTo>
                <a:cubicBezTo>
                  <a:pt x="183059" y="84609"/>
                  <a:pt x="185477" y="85725"/>
                  <a:pt x="190054" y="86655"/>
                </a:cubicBezTo>
                <a:cubicBezTo>
                  <a:pt x="203708" y="89446"/>
                  <a:pt x="209699" y="85799"/>
                  <a:pt x="211150" y="84981"/>
                </a:cubicBezTo>
                <a:cubicBezTo>
                  <a:pt x="216061" y="82079"/>
                  <a:pt x="216433" y="75419"/>
                  <a:pt x="213122" y="71996"/>
                </a:cubicBezTo>
                <a:cubicBezTo>
                  <a:pt x="209215" y="68721"/>
                  <a:pt x="207355" y="68610"/>
                  <a:pt x="193365" y="64182"/>
                </a:cubicBezTo>
                <a:cubicBezTo>
                  <a:pt x="191653" y="63698"/>
                  <a:pt x="177105" y="59122"/>
                  <a:pt x="177068" y="44686"/>
                </a:cubicBezTo>
                <a:cubicBezTo>
                  <a:pt x="176845" y="34193"/>
                  <a:pt x="186370" y="23775"/>
                  <a:pt x="202927" y="23850"/>
                </a:cubicBezTo>
                <a:cubicBezTo>
                  <a:pt x="207652" y="23850"/>
                  <a:pt x="220191" y="25375"/>
                  <a:pt x="223614" y="29654"/>
                </a:cubicBezTo>
                <a:cubicBezTo>
                  <a:pt x="224135" y="30435"/>
                  <a:pt x="224358" y="31366"/>
                  <a:pt x="224321" y="32258"/>
                </a:cubicBezTo>
                <a:lnTo>
                  <a:pt x="224321" y="36016"/>
                </a:lnTo>
                <a:cubicBezTo>
                  <a:pt x="224321" y="37654"/>
                  <a:pt x="223726" y="38509"/>
                  <a:pt x="222498" y="38509"/>
                </a:cubicBezTo>
                <a:cubicBezTo>
                  <a:pt x="219633" y="38174"/>
                  <a:pt x="214536" y="34342"/>
                  <a:pt x="204192" y="34491"/>
                </a:cubicBezTo>
                <a:cubicBezTo>
                  <a:pt x="201625" y="34342"/>
                  <a:pt x="189347" y="34826"/>
                  <a:pt x="189905" y="43793"/>
                </a:cubicBezTo>
                <a:cubicBezTo>
                  <a:pt x="189756" y="50862"/>
                  <a:pt x="199802" y="53504"/>
                  <a:pt x="200955" y="53801"/>
                </a:cubicBezTo>
                <a:cubicBezTo>
                  <a:pt x="214536" y="57894"/>
                  <a:pt x="219038" y="58564"/>
                  <a:pt x="224433" y="64815"/>
                </a:cubicBezTo>
                <a:cubicBezTo>
                  <a:pt x="230795" y="73075"/>
                  <a:pt x="227372" y="82786"/>
                  <a:pt x="226033" y="85427"/>
                </a:cubicBezTo>
                <a:cubicBezTo>
                  <a:pt x="218926" y="99380"/>
                  <a:pt x="200583" y="98227"/>
                  <a:pt x="200248" y="98227"/>
                </a:cubicBezTo>
                <a:close/>
                <a:moveTo>
                  <a:pt x="215280" y="137294"/>
                </a:moveTo>
                <a:cubicBezTo>
                  <a:pt x="189235" y="156530"/>
                  <a:pt x="151395" y="166762"/>
                  <a:pt x="119100" y="166762"/>
                </a:cubicBezTo>
                <a:cubicBezTo>
                  <a:pt x="75530" y="167060"/>
                  <a:pt x="33412" y="151023"/>
                  <a:pt x="1042" y="121853"/>
                </a:cubicBezTo>
                <a:cubicBezTo>
                  <a:pt x="-1377" y="119658"/>
                  <a:pt x="744" y="116644"/>
                  <a:pt x="3721" y="118318"/>
                </a:cubicBezTo>
                <a:cubicBezTo>
                  <a:pt x="39625" y="138857"/>
                  <a:pt x="80256" y="149647"/>
                  <a:pt x="121630" y="149609"/>
                </a:cubicBezTo>
                <a:cubicBezTo>
                  <a:pt x="152512" y="149461"/>
                  <a:pt x="183059" y="143173"/>
                  <a:pt x="211522" y="131192"/>
                </a:cubicBezTo>
                <a:cubicBezTo>
                  <a:pt x="215912" y="129332"/>
                  <a:pt x="219633" y="134094"/>
                  <a:pt x="215280" y="137294"/>
                </a:cubicBezTo>
                <a:close/>
                <a:moveTo>
                  <a:pt x="226144" y="124904"/>
                </a:moveTo>
                <a:cubicBezTo>
                  <a:pt x="222796" y="120625"/>
                  <a:pt x="204081" y="122895"/>
                  <a:pt x="195709" y="123899"/>
                </a:cubicBezTo>
                <a:cubicBezTo>
                  <a:pt x="193179" y="124197"/>
                  <a:pt x="192770" y="122002"/>
                  <a:pt x="195039" y="120365"/>
                </a:cubicBezTo>
                <a:cubicBezTo>
                  <a:pt x="209959" y="109872"/>
                  <a:pt x="234442" y="112886"/>
                  <a:pt x="237232" y="116421"/>
                </a:cubicBezTo>
                <a:cubicBezTo>
                  <a:pt x="240023" y="119955"/>
                  <a:pt x="236451" y="144475"/>
                  <a:pt x="222498" y="156195"/>
                </a:cubicBezTo>
                <a:cubicBezTo>
                  <a:pt x="220340" y="158018"/>
                  <a:pt x="218294" y="157051"/>
                  <a:pt x="219261" y="154670"/>
                </a:cubicBezTo>
                <a:cubicBezTo>
                  <a:pt x="222386" y="146745"/>
                  <a:pt x="229456" y="129183"/>
                  <a:pt x="226107" y="124904"/>
                </a:cubicBez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21" name="Text 18"/>
          <p:cNvSpPr/>
          <p:nvPr/>
        </p:nvSpPr>
        <p:spPr>
          <a:xfrm>
            <a:off x="4747736" y="5811208"/>
            <a:ext cx="125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Powered by AWS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281143" y="5731191"/>
            <a:ext cx="1598295" cy="388620"/>
          </a:xfrm>
          <a:custGeom>
            <a:avLst/>
            <a:gdLst/>
            <a:ahLst/>
            <a:cxnLst/>
            <a:rect l="l" t="t" r="r" b="b"/>
            <a:pathLst>
              <a:path w="1598295" h="388620">
                <a:moveTo>
                  <a:pt x="76201" y="0"/>
                </a:moveTo>
                <a:lnTo>
                  <a:pt x="1522094" y="0"/>
                </a:lnTo>
                <a:cubicBezTo>
                  <a:pt x="1564179" y="0"/>
                  <a:pt x="1598295" y="34116"/>
                  <a:pt x="1598295" y="76201"/>
                </a:cubicBezTo>
                <a:lnTo>
                  <a:pt x="1598295" y="312419"/>
                </a:lnTo>
                <a:cubicBezTo>
                  <a:pt x="1598295" y="354504"/>
                  <a:pt x="1564179" y="388620"/>
                  <a:pt x="1522094" y="388620"/>
                </a:cubicBezTo>
                <a:lnTo>
                  <a:pt x="76201" y="388620"/>
                </a:lnTo>
                <a:cubicBezTo>
                  <a:pt x="34116" y="388620"/>
                  <a:pt x="0" y="354504"/>
                  <a:pt x="0" y="3124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00A8E1">
              <a:alpha val="20000"/>
            </a:srgbClr>
          </a:solidFill>
          <a:ln w="10160">
            <a:solidFill>
              <a:srgbClr val="00A8E1">
                <a:alpha val="4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61165" y="583025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9669" y="32407"/>
                </a:moveTo>
                <a:lnTo>
                  <a:pt x="95250" y="40109"/>
                </a:lnTo>
                <a:lnTo>
                  <a:pt x="100831" y="32407"/>
                </a:lnTo>
                <a:cubicBezTo>
                  <a:pt x="110133" y="19534"/>
                  <a:pt x="125090" y="11906"/>
                  <a:pt x="140977" y="11906"/>
                </a:cubicBezTo>
                <a:cubicBezTo>
                  <a:pt x="168325" y="11906"/>
                  <a:pt x="190500" y="34082"/>
                  <a:pt x="190500" y="61429"/>
                </a:cubicBezTo>
                <a:lnTo>
                  <a:pt x="190500" y="62396"/>
                </a:lnTo>
                <a:cubicBezTo>
                  <a:pt x="190500" y="104142"/>
                  <a:pt x="138447" y="152623"/>
                  <a:pt x="111286" y="173348"/>
                </a:cubicBezTo>
                <a:cubicBezTo>
                  <a:pt x="106673" y="176845"/>
                  <a:pt x="101017" y="178594"/>
                  <a:pt x="95250" y="178594"/>
                </a:cubicBezTo>
                <a:cubicBezTo>
                  <a:pt x="89483" y="178594"/>
                  <a:pt x="83790" y="176882"/>
                  <a:pt x="79214" y="173348"/>
                </a:cubicBezTo>
                <a:cubicBezTo>
                  <a:pt x="52053" y="152623"/>
                  <a:pt x="0" y="104142"/>
                  <a:pt x="0" y="62396"/>
                </a:cubicBezTo>
                <a:lnTo>
                  <a:pt x="0" y="61429"/>
                </a:lnTo>
                <a:cubicBezTo>
                  <a:pt x="0" y="34082"/>
                  <a:pt x="22175" y="11906"/>
                  <a:pt x="49523" y="11906"/>
                </a:cubicBezTo>
                <a:cubicBezTo>
                  <a:pt x="65410" y="11906"/>
                  <a:pt x="80367" y="19534"/>
                  <a:pt x="89669" y="32407"/>
                </a:cubicBezTo>
                <a:close/>
              </a:path>
            </a:pathLst>
          </a:custGeom>
          <a:solidFill>
            <a:srgbClr val="00A8E1"/>
          </a:solidFill>
          <a:ln/>
        </p:spPr>
      </p:sp>
      <p:sp>
        <p:nvSpPr>
          <p:cNvPr id="24" name="Text 21"/>
          <p:cNvSpPr/>
          <p:nvPr/>
        </p:nvSpPr>
        <p:spPr>
          <a:xfrm>
            <a:off x="6713577" y="5811208"/>
            <a:ext cx="104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 for Bharat</a:t>
            </a:r>
            <a:endParaRPr lang="en-US" sz="16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8470E18-9B2B-7C4D-C537-951886BA6C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144" y="0"/>
            <a:ext cx="12192000" cy="66300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16;p23" title="AI for Bharddat BANNER – 5.png">
            <a:extLst>
              <a:ext uri="{FF2B5EF4-FFF2-40B4-BE49-F238E27FC236}">
                <a16:creationId xmlns:a16="http://schemas.microsoft.com/office/drawing/2014/main" id="{0E07A3E3-DA4B-698B-D8BD-E3CEB8BDF49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8626"/>
            <a:ext cx="12258136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8713110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1517</Words>
  <Application>Microsoft Office PowerPoint</Application>
  <PresentationFormat>Widescreen</PresentationFormat>
  <Paragraphs>318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Manrope SemiBold</vt:lpstr>
      <vt:lpstr>Liter</vt:lpstr>
      <vt:lpstr>Arial</vt:lpstr>
      <vt:lpstr>Hedvig Letters Sans</vt:lpstr>
      <vt:lpstr>Quattrocento 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Bharat Access Hub - AWS AI for Bharat Hackathon</dc:title>
  <dc:subject>Bharat Access Hub - AWS AI for Bharat Hackathon</dc:subject>
  <dc:creator>Kimi</dc:creator>
  <cp:lastModifiedBy>Debdyuti Sarkar</cp:lastModifiedBy>
  <cp:revision>3</cp:revision>
  <dcterms:created xsi:type="dcterms:W3CDTF">2026-02-15T09:48:45Z</dcterms:created>
  <dcterms:modified xsi:type="dcterms:W3CDTF">2026-02-15T10:32:09Z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{"Label":"Bharat Access Hub - AWS AI for Bharat Hackathon","ContentProducer":"001191110108MACG2KBH8F10000","ProduceID":"19c60983-9a12-81a1-8000-000057684270","ReservedCode1":"","ContentPropagator":"001191110108MACG2KBH8F20000","PropagateID":"19c60983-9a12-81a1-8000-000057684270","ReservedCode2":""}</vt:lpwstr>
  </property>
</Properties>
</file>